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notesSlides/notesSlide1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Default Extension="xlsx" ContentType="application/vnd.openxmlformats-officedocument.spreadsheetml.sheet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-96" y="-7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ko-KR"/>
  <c:roundedCorners val="1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비율(%)</c:v>
                </c:pt>
              </c:strCache>
            </c:strRef>
          </c:tx>
          <c:spPr>
            <a:solidFill>
              <a:srgbClr val="2F5597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16243D"/>
                    </a:solidFill>
                    <a:latin typeface="맑은 고딕"/>
                  </a:defRPr>
                </a:pPr>
                <a:endParaRPr lang="ko-KR"/>
              </a:p>
            </c:txPr>
            <c:showVal val="1"/>
          </c:dLbls>
          <c:cat>
            <c:strRef>
              <c:f>Sheet1!$A$2:$A$4</c:f>
              <c:strCache>
                <c:ptCount val="3"/>
                <c:pt idx="0">
                  <c:v>문서 질의</c:v>
                </c:pt>
                <c:pt idx="1">
                  <c:v>인사 · 잡담</c:v>
                </c:pt>
                <c:pt idx="2">
                  <c:v>범위 밖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</c:v>
                </c:pt>
                <c:pt idx="1">
                  <c:v>15</c:v>
                </c:pt>
                <c:pt idx="2">
                  <c:v>10</c:v>
                </c:pt>
              </c:numCache>
            </c:numRef>
          </c:val>
        </c:ser>
        <c:dLbls>
          <c:showVal val="1"/>
        </c:dLbls>
        <c:axId val="76931072"/>
        <c:axId val="76932608"/>
      </c:barChart>
      <c:catAx>
        <c:axId val="76931072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577"/>
                </a:solidFill>
                <a:latin typeface="맑은 고딕"/>
              </a:defRPr>
            </a:pPr>
            <a:endParaRPr lang="ko-KR"/>
          </a:p>
        </c:txPr>
        <c:crossAx val="76932608"/>
        <c:crosses val="autoZero"/>
        <c:auto val="1"/>
        <c:lblAlgn val="ctr"/>
        <c:lblOffset val="100"/>
        <c:noMultiLvlLbl val="1"/>
      </c:catAx>
      <c:valAx>
        <c:axId val="76932608"/>
        <c:scaling>
          <c:orientation val="minMax"/>
          <c:max val="100"/>
          <c:min val="0"/>
        </c:scaling>
        <c:axPos val="l"/>
        <c:majorGridlines>
          <c:spPr>
            <a:ln w="12700" cap="flat">
              <a:solidFill>
                <a:srgbClr val="EDEFF3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577"/>
                </a:solidFill>
                <a:latin typeface="맑은 고딕"/>
              </a:defRPr>
            </a:pPr>
            <a:endParaRPr lang="ko-KR"/>
          </a:p>
        </c:txPr>
        <c:crossAx val="769310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29차시입니다. 28차시 원리로 실제 4갈래 라우팅을 만듭니다.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만드는 분류 노드가 32차시 통합의 첫 관문이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27차시 그래프 앞에 분류 단계를 붙이는 구조입니다.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숫자로 효과를 보여주되 목적은 적절함이라는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2단 분류가 26차시 2단 검증과 같은 발상입니다.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"안녕하세요, 환불 규정 알려주세요" 같은 경우를 길이 제한으로 걸러냅니다.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규칙을 욕심내면 오분류가 늘어납니다.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계산은 코드로 하는 것이 정확하고 무료라는 점을 짚어주세요.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LLM 호출이 실패해도 document로 보내면 시스템은 계속 동작합니다.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24차시 작업이 여기서 값어치를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표를 먼저 만들고 코드로 옮기는 습관을 유지하세요.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경로가 실제로 갈라지는 것을 눈으로 확인시키세요.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회귀 테스트로 문서 질의가 그대로인지 꼭 확인하게 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줄과 마지막 줄이 같은 원인입니다.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문서 질의 회귀 테스트도 꼭 포함시키세요.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14차시부터 이어진 숙제가 다음 차시에 풀립니다.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적절함이 먼저라는 메시지로 마칩니다.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41732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173736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05740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2514600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2898648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0" y="3282696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3666744"/>
            <a:ext cx="100584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5087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실습으로 배우는 LangGraph : 내 손으로 RAG 시스템 만들기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385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 29 차시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32304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Conditional Edge 실습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1012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질문마다 다른 길로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16052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인사에 문서를 뒤지지 않게 만듭니다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7607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40차시 학습 교재   |   강사 이창현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LEARNING GOALS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차시에서 배우는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유형 분류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 방식으로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노드를 만든다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유형별 처리 노드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단축 경로를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추가한다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4갈래 다중 분기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구현한다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세부 라우팅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784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사유별로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처방을 나눈다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360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6360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경로별 확인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stream으로 눈으로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검증한다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010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936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936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936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 측정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936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비용과 속도 개선을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숫자로 확인한다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TODAY'S SHAPE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만들 구조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10817352" cy="2240280"/>
          </a:xfrm>
          <a:prstGeom prst="roundRect">
            <a:avLst>
              <a:gd name="adj" fmla="val 16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25880" y="1810512"/>
            <a:ext cx="9692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 → classify ──────────────────────────┐</a:t>
            </a:r>
            <a:endParaRPr lang="en-US" sz="11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   ├─ greeting ──→ greeting_node ──→ END</a:t>
            </a:r>
            <a:endParaRPr lang="en-US" sz="11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   ├─ calc ──────→ calc_node ─────→ END</a:t>
            </a:r>
            <a:endParaRPr lang="en-US" sz="11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   ├─ scope ─────→ scope_node ────→ END</a:t>
            </a:r>
            <a:endParaRPr lang="en-US" sz="11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   │</a:t>
            </a:r>
            <a:endParaRPr lang="en-US" sz="11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   └─ document ──→ retrieve → generate → verify → …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4069080"/>
            <a:ext cx="10817352" cy="384048"/>
          </a:xfrm>
          <a:prstGeom prst="roundRect">
            <a:avLst>
              <a:gd name="adj" fmla="val 9524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40690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406908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호출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001000" y="4069080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시간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4507992"/>
            <a:ext cx="10817352" cy="384048"/>
          </a:xfrm>
          <a:prstGeom prst="roundRect">
            <a:avLst>
              <a:gd name="adj" fmla="val 952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45079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greeting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450799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0회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001000" y="4507992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494690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calc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343400" y="494690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0회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001000" y="4946904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5385816"/>
            <a:ext cx="10817352" cy="384048"/>
          </a:xfrm>
          <a:prstGeom prst="roundRect">
            <a:avLst>
              <a:gd name="adj" fmla="val 952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1560" y="538581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scope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343400" y="538581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0회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001000" y="5385816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58247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document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343400" y="582472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2~6회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001000" y="5824728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2~10초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IMPACT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효과 예측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챗봇에서 질문 유형 비율은 대략 이렇습니다.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85800" y="1783080"/>
          <a:ext cx="640080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406640" y="1783080"/>
            <a:ext cx="4096512" cy="2697480"/>
          </a:xfrm>
          <a:prstGeom prst="roundRect">
            <a:avLst>
              <a:gd name="adj" fmla="val 1356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90688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25%가 단축 경로로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90688" y="2487168"/>
            <a:ext cx="3474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비용이 약 25% 절감됩니다.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그 25%의 사용자는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답을 받습니다.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인사에 2초씩 기다리지 않아도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됩니다.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85800" y="480060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509778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절감은 부수 효과입니다 — 목적은 적절한 응답입니다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 TERMS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용어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6420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642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intent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6642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질문의 의도 · 유형. 분류 노드가 State에 기록합니다.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39572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39572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 분류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39572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규칙으로 1차 거르고 애매한 것만 LLM에 보내는 방식.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12724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12724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다중 분기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312724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갈래 이상으로 갈라지는 조건부 Edge.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85876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85876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세부 라우팅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385876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사유에 따라 처방을 나누는 분기.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59028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459028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 비용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459028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경로가 소비하는 LLM 호출 횟수.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532180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53218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단축 경로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53218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검색·생성을 건너뛰고 바로 응답하는 경로.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TWO STAGES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분류도 2단으로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1600200"/>
          </a:xfrm>
          <a:prstGeom prst="roundRect">
            <a:avLst>
              <a:gd name="adj" fmla="val 2286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874520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: 규칙  (비용 0)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267712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인사말 목록에 있고 짧으면 → greeting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숫자와 연산 기호로만 이루어졌으면 → calc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범위 밖 키워드(날씨 · 주가 · 뉴스 등)가 있으면 → scope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383280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   애매하면 빈 값을 반환해 2차로 넘깁니다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3749040"/>
            <a:ext cx="10817352" cy="1234440"/>
          </a:xfrm>
          <a:prstGeom prst="roundRect">
            <a:avLst>
              <a:gd name="adj" fmla="val 2963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3913632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: LLM  (비용 발생)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4297680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가지 중 하나를 고르게 합니다. "애매하면 document를 선택하라"고 명시합니다.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5120640"/>
            <a:ext cx="10817352" cy="868680"/>
          </a:xfrm>
          <a:prstGeom prst="roundRect">
            <a:avLst>
              <a:gd name="adj" fmla="val 4211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528066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확실한 것만 규칙으로 잡습니다 — 규칙이 무리하게 판단하면 오분류가 늘어납니다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RULE DESIGN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설계 요령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257800" cy="2606040"/>
          </a:xfrm>
          <a:prstGeom prst="roundRect">
            <a:avLst>
              <a:gd name="adj" fmla="val 1404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11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확실한 것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88136" y="2542032"/>
            <a:ext cx="4453128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25880" y="254203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"안녕하세요"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3182112"/>
            <a:ext cx="4453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길이가 짧고 인사말만 있습니다.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확실히 인사입니다.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규칙으로 즉시 판정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5352" y="1783080"/>
            <a:ext cx="5257800" cy="2606040"/>
          </a:xfrm>
          <a:prstGeom prst="roundRect">
            <a:avLst>
              <a:gd name="adj" fmla="val 1404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47688" y="2011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애매한 것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47688" y="2542032"/>
            <a:ext cx="4453128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85432" y="254203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"안녕하세요, 환불 규정 알려주세요"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3182112"/>
            <a:ext cx="4453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인사말이 들어 있지만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실제로는 문서 질문입니다.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길이 제한으로 걸러내고 2차로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466344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9606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규칙은 확실한 것만 — 나머지는 LLM에게 맡깁니다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FOUR TYPES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유형별 처리 노드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828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greeting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971800" y="18288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 · 감사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82880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고정된 인사말로 응답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231136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검색도 LLM도 없음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2788920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2880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calc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971800" y="28803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계산식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88036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코드로 계산해 결과 반환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282696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정확하고 무료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3840480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39319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scope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971800" y="39319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 밖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393192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정중히 안내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4334256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"제가 다루는 자료 범위가 아닙니다"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4892040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4983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document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2971800" y="49834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질의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498348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RAG 파이프라인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5385816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27차시에서 만든 흐름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85800" y="5943600"/>
            <a:ext cx="10817352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594360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세 노드는 LLM을 부르지 않습니다 — 그래서 즉시 응답합니다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SAFE DEFAULT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분류에 실패하면 어디로?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17352" cy="1188720"/>
          </a:xfrm>
          <a:prstGeom prst="roundRect">
            <a:avLst>
              <a:gd name="adj" fmla="val 3077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108173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시 항상 document로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3246120"/>
            <a:ext cx="5257800" cy="1691640"/>
          </a:xfrm>
          <a:prstGeom prst="roundRect">
            <a:avLst>
              <a:gd name="adj" fmla="val 2162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88136" y="3474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질문을 인사로 보내면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3950208"/>
            <a:ext cx="4453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원한 답을 못 받습니다.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최악입니다.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3246120"/>
            <a:ext cx="5257800" cy="1691640"/>
          </a:xfrm>
          <a:prstGeom prst="roundRect">
            <a:avLst>
              <a:gd name="adj" fmla="val 2162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47688" y="3474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인사를 문서 질문으로 보내면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647688" y="3950208"/>
            <a:ext cx="4453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검색해보고 없으면 안내합니다.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비용을 조금 쓸 뿐, 견딜 만합니다.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5166360"/>
            <a:ext cx="10817352" cy="822960"/>
          </a:xfrm>
          <a:prstGeom prst="roundRect">
            <a:avLst>
              <a:gd name="adj" fmla="val 4444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53035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28차시 원칙 — 실수했을 때 덜 나쁜 쪽을 기본값으로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DETAIL ROUTING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실패 사유별 세부 라우팅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24차시에서 남긴 fail_reason을 여기서 씁니다.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55648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75564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fail_reason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611880" y="175564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989320" y="1755648"/>
            <a:ext cx="4736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처방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2249424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224942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(빈 값) — 정상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24942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ok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2249424"/>
            <a:ext cx="4736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generate로 진행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7432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low_score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274320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research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2743200"/>
            <a:ext cx="4736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질의 재작성 후 재검색 (30차시)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3236976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3236976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no_result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611880" y="3236976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giveup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989320" y="3236976"/>
            <a:ext cx="4736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 문제 — fallback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73075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search_error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611880" y="373075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giveup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989320" y="3730752"/>
            <a:ext cx="4736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오류 — fallback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85800" y="4224528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51560" y="42245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empty_query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3611880" y="42245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giveup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4224528"/>
            <a:ext cx="4736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재입력 요청 — fallback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4800600"/>
            <a:ext cx="10817352" cy="1188720"/>
          </a:xfrm>
          <a:prstGeom prst="roundRect">
            <a:avLst>
              <a:gd name="adj" fmla="val 3077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43000" y="4956048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"검색 실패"인데 처방이 다릅니다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" y="5349240"/>
            <a:ext cx="9902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low_score만 재검색 대상입니다. 인덱스가 비었는데 질문만 바꾸면 헛수고니까요.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24차시에서 사유를 구분해둔 덕분에 이런 라우팅이 가능해집니다.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ROUTING TABLE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조건표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258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classify 이후 — 4갈래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10817352" cy="420624"/>
          </a:xfrm>
          <a:prstGeom prst="roundRect">
            <a:avLst>
              <a:gd name="adj" fmla="val 8696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64592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164592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806440" y="164592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366760" y="1645920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2121408"/>
            <a:ext cx="10817352" cy="420624"/>
          </a:xfrm>
          <a:prstGeom prst="roundRect">
            <a:avLst>
              <a:gd name="adj" fmla="val 869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21214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148840" y="2121408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intent == greeting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806440" y="212140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greeting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121408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greeting_node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5968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148840" y="2596896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intent == calc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806440" y="2596896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calc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596896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calc_node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3072384"/>
            <a:ext cx="10817352" cy="420624"/>
          </a:xfrm>
          <a:prstGeom prst="roundRect">
            <a:avLst>
              <a:gd name="adj" fmla="val 869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307238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2148840" y="3072384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intent == scope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806440" y="3072384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scope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366760" y="3072384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scope_node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3547872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2148840" y="3547872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외 전부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806440" y="3547872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document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366760" y="3547872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41605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 이후 — 3갈래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85800" y="4480560"/>
            <a:ext cx="10817352" cy="420624"/>
          </a:xfrm>
          <a:prstGeom prst="roundRect">
            <a:avLst>
              <a:gd name="adj" fmla="val 8696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51560" y="448056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2148840" y="448056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806440" y="448056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4480560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85800" y="4956048"/>
            <a:ext cx="10817352" cy="420624"/>
          </a:xfrm>
          <a:prstGeom prst="roundRect">
            <a:avLst>
              <a:gd name="adj" fmla="val 869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51560" y="495604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2148840" y="4956048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성공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5806440" y="495604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ok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8366760" y="4956048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1051560" y="54315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2148840" y="5431536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fail_reason == low_score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5806440" y="5431536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research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8366760" y="5431536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rewrite (30차시)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85800" y="5907024"/>
            <a:ext cx="10817352" cy="420624"/>
          </a:xfrm>
          <a:prstGeom prst="roundRect">
            <a:avLst>
              <a:gd name="adj" fmla="val 869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51560" y="590702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2148840" y="5907024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외 전부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5806440" y="5907024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giveup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8366760" y="5907024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fallback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VERIFY PATHS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경로별 동작 확인하기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257800" cy="2606040"/>
          </a:xfrm>
          <a:prstGeom prst="roundRect">
            <a:avLst>
              <a:gd name="adj" fmla="val 1404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3852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단축 경로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88136" y="2395728"/>
            <a:ext cx="4453128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25880" y="2487168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Q: "안녕하세요"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[classify] greeting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[greeting] 즉시 응답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호출 0회 · 0.01초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3913632"/>
            <a:ext cx="4453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검색도 생성도 하지 않았습니다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45352" y="1737360"/>
            <a:ext cx="5257800" cy="2606040"/>
          </a:xfrm>
          <a:prstGeom prst="roundRect">
            <a:avLst>
              <a:gd name="adj" fmla="val 140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47688" y="193852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경로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47688" y="2395728"/>
            <a:ext cx="4453128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85432" y="2523744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Q: "환불은 며칠 이내인가요?"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[classify] document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[retrieve] 3/5건 통과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[generate] 생성  [verify] 통과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3913632"/>
            <a:ext cx="4453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흐름 그대로입니다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461772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9149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stream으로 보면 어느 경로를 갔는지 한눈에 보입니다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MEASURE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비용과 응답 속도 측정하기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20개를 유형 비율에 맞게 구성해 돌려봅니다.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10817352" cy="548640"/>
          </a:xfrm>
          <a:prstGeom prst="roundRect">
            <a:avLst>
              <a:gd name="adj" fmla="val 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783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611880" y="17830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27차시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783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29차시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915400" y="178308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변화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2386584"/>
            <a:ext cx="10817352" cy="548640"/>
          </a:xfrm>
          <a:prstGeom prst="roundRect">
            <a:avLst>
              <a:gd name="adj" fmla="val 666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23865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호출 총횟수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38658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× 2~4회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38658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단축 경로는 0회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915400" y="2386584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25% 감소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99008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응답 시간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299008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질문 2~10초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99008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단축 경로 즉시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915400" y="2990088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체감 크게 개선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3593592"/>
            <a:ext cx="10817352" cy="548640"/>
          </a:xfrm>
          <a:prstGeom prst="roundRect">
            <a:avLst>
              <a:gd name="adj" fmla="val 666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359359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 응답 품질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611880" y="359359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"자료 없음"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359359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적절한 인사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915400" y="3593592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질적 개선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419709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질의 품질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3611880" y="419709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355080" y="419709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915400" y="4197096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변화 없음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85800" y="4800600"/>
            <a:ext cx="10817352" cy="1188720"/>
          </a:xfrm>
          <a:prstGeom prst="roundRect">
            <a:avLst>
              <a:gd name="adj" fmla="val 3077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143000" y="4956048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질의 성능은 그대로여야 정상입니다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" y="5349240"/>
            <a:ext cx="9902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한 일은 다른 질문을 옆으로 빼낸 것뿐입니다.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질의 정답률이 달라졌다면 분류가 잘못 보내고 있는 것입니다.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TROUBLESHOOTING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겪는 문제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91640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질문이 인사로 분류된다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303520" y="169164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806440" y="169164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규칙이 과합니다. 길이 제한을 줄이고 키워드를 좁히세요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404872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404872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질문이 document로만 간다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303520" y="2404872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806440" y="2404872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규칙이 전혀 안 걸립니다. 키워드 목록을 확인하세요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118104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3118104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 LLM이 이상한 값을 반환한다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3118104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3118104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허용 목록에 없으면 document로 바꾸는 처리를 넣으세요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831336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3831336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 비용이 생각보다 크다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3831336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806440" y="3831336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규칙을 강화하거나 33차시 모델 티어링을 적용하세요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544568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4544568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 맵에 없는 키 에러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4544568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806440" y="4544568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 값과 경로 맵의 키를 일치시키세요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5257800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1560" y="5257800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질의 정답률이 떨어졌다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303520" y="525780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806440" y="525780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분류가 문서 질문을 다른 곳으로 보내고 있습니다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 체크리스트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이해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2단 분류가 왜 비용을 아끼는지 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규칙은 확실한 것만 잡는 이유를 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분류 실패 시 document로 보내는 이유를 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실패 사유별 세부 라우팅의 의미를 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라우팅의 목적이 적절함임을 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5352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분류 노드를 2단으로 만들었다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유형별 처리 노드 3개를 추가했다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4갈래 분기를 연결했다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검색 실패 사유별 라우팅을 만들었다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경로별 동작을 stream으로 확인했다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비용과 속도 개선을 측정했다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차시 미리보기 — 30차시 질의 재작성 · 재검색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low_score를 research로 보내는 길을 열어뒀습니다. 그런데 갈 곳이 아직 없습니다.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2384755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어휘 불일치 진단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2882189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못 찾았나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784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19600" y="201168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92752" y="2384755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rewrite 노드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474464" y="2882189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다르게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5164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53400" y="201168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6552" y="2384755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재검색 루프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08264" y="2882189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상한과 함께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977640"/>
            <a:ext cx="10817352" cy="1691640"/>
          </a:xfrm>
          <a:prstGeom prst="roundRect">
            <a:avLst>
              <a:gd name="adj" fmla="val 216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4224528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14차시부터 남아 있던 실패를 드디어 해결합니다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709160"/>
            <a:ext cx="9902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"반품하고 싶은데 언제까지?" — 점수 0.412로 기준 미달이었던 그 질문입니다.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문서를 바꿀 수 없다면 질문을 바꿔서 다시 찾습니다.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828800"/>
            <a:ext cx="2468880" cy="3108960"/>
          </a:xfrm>
          <a:prstGeom prst="roundRect">
            <a:avLst>
              <a:gd name="adj" fmla="val 1481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23317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27889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32461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37033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4160520"/>
            <a:ext cx="1188720" cy="118872"/>
          </a:xfrm>
          <a:prstGeom prst="rect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727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084832"/>
            <a:ext cx="7955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인사에 "자료에서 찾지</a:t>
            </a:r>
            <a:endParaRPr lang="en-US" sz="36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못했습니다"라고 답하지 않습니다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79476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한 일은 성능 향상이 아닙니다. 질문에 걸맞은 처리를 하게 만든 것입니다.</a:t>
            </a:r>
            <a:endParaRPr lang="en-US" sz="14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인사에는 인사로, 계산에는 계산으로. 그리고 부수적으로 비용의 25%가 줄었습니다.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8463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검색 실패 사유별로 처방을 나눠뒀습니다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26694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low_score만 재검색으로 보내는 길이 열렸습니다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8978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30차시에서 만나요.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1271</Words>
  <Application>Microsoft Office PowerPoint</Application>
  <PresentationFormat>사용자 지정</PresentationFormat>
  <Paragraphs>329</Paragraphs>
  <Slides>17</Slides>
  <Notes>17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18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 29차시 Conditional Edge 실습</dc:title>
  <dc:subject>PptxGenJS Presentation</dc:subject>
  <dc:creator>이창현</dc:creator>
  <cp:lastModifiedBy>Lenovo</cp:lastModifiedBy>
  <cp:revision>1</cp:revision>
  <dcterms:created xsi:type="dcterms:W3CDTF">2026-09-22T00:39:04Z</dcterms:created>
  <dcterms:modified xsi:type="dcterms:W3CDTF">2026-09-22T01:59:39Z</dcterms:modified>
</cp:coreProperties>
</file>