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-86" y="-4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8차시입니다. 오늘 처음으로 동작하는 RAG를 손에 넣습니다.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파란 카드는 연결, 주황 카드는 신뢰성입니다.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완벽하지 않아도 된다는 점을 먼저 말해두면 수강생이 덜 좌절합니다.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왜 지금 통합하는지를 납득시키는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3차시에서 배운 준비/실행 구분이 실제 코드 구조로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중 가장 자주 나오는 증상입니다. 미리 경고해두세요.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임베딩과 벡터 저장소는 오늘 '무엇을 하는 물건인지'만 알면 충분합니다.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9차시에서 자세히 다룹니다. 오늘은 직관만 잡아주세요.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설치가 간단하고 빠르다는 점이 FAISS를 고른 이유입니다.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결과를 어떻게 포장해 넘기느냐가 답변 품질을 좌우합니다.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13차시 프롬프트 최적화로 이어지는 씨앗입니다.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검색을 먼저 확인하는 습관이 앞으로 디버깅 시간을 크게 줄여줍니다.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모델은 뒤쪽 내용에 더 강하게 반응합니다. 13차시에서 본격적으로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중 질문이 나오면 이 표에서 찾아 답해주세요.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12차시 진단 함수의 원형이 바로 이 debug 옵션입니다.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전부 통과하면 마일스톤 1 달성입니다. 파일을 꼭 저장해두게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실패 사례가 앞으로 계속 쓰이는 자산이라는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과제와 다음 차시가 직접 연결된다는 점을 알려주세요.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결실입니다. 축하해 주고 다음으로 넘어가세요.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8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 RAG 실습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드디어 돌아갑니다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1~7차시의 부품을 하나로 잇습니다 — 마일스톤 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부품을 하나로 연결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1~7차시 내용을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파일로 잇는다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벡터로 바꿔 저장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조각을 임베딩해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가능하게 만든다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근거로 답변 받기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결과를 LLM에게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근거로 넘긴다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표시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문서 몇 페이지에서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왔는지 함께 보여준다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모른다고 답하기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문서에 없는 질문에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지어내지 않게 만든다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마일스톤 1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동작하는 나만의 RAG를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확보한다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엔진을 얹고 시동을 겁니다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 조립에 비유하면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856232" cy="1508760"/>
          </a:xfrm>
          <a:prstGeom prst="roundRect">
            <a:avLst>
              <a:gd name="adj" fmla="val 242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145182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1-3차시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627986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무엇인지 배웠다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24328" y="24368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1783080"/>
            <a:ext cx="1856232" cy="1508760"/>
          </a:xfrm>
          <a:prstGeom prst="roundRect">
            <a:avLst>
              <a:gd name="adj" fmla="val 242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99232" y="2145182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4-5차시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980944" y="2627986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공구를 준비했다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64608" y="24368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66360" y="1783080"/>
            <a:ext cx="1856232" cy="1508760"/>
          </a:xfrm>
          <a:prstGeom prst="roundRect">
            <a:avLst>
              <a:gd name="adj" fmla="val 242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39512" y="2145182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6차시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221224" y="2627986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차체를 만들었다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04888" y="24368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1783080"/>
            <a:ext cx="1856232" cy="1508760"/>
          </a:xfrm>
          <a:prstGeom prst="roundRect">
            <a:avLst>
              <a:gd name="adj" fmla="val 242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79792" y="2145182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7차시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461504" y="2627986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부품을 다듬었다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345168" y="24368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46920" y="1783080"/>
            <a:ext cx="1856232" cy="1508760"/>
          </a:xfrm>
          <a:prstGeom prst="roundRect">
            <a:avLst>
              <a:gd name="adj" fmla="val 2424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20072" y="2145182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8차시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01784" y="2627986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시동을 건다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356616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43000" y="374904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에어컨도 오디오도 없습니다. 하지만 굴러갑니다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4187952"/>
            <a:ext cx="9902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만들 RAG는 완벽하지 않습니다. 검색이 엉뚱한 걸 가져오고, 답변이 부실할 때도 있습니다.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4983480"/>
            <a:ext cx="10817352" cy="1005840"/>
          </a:xfrm>
          <a:prstGeom prst="roundRect">
            <a:avLst>
              <a:gd name="adj" fmla="val 3636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52120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9~16차시가 바로 그것을 하나씩 개선하는 과정입니다 — 오늘은 일단 돌아가게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부품만 계속 배우면 생기는 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257800" cy="1417320"/>
          </a:xfrm>
          <a:prstGeom prst="roundRect">
            <a:avLst>
              <a:gd name="adj" fmla="val 258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38528"/>
            <a:ext cx="457200" cy="45720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38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각각은 알겠는데 어떻게 이어지는지 감이 없다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560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통합해보면 전체 그림이 손끝으로 이해됩니다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1645920"/>
            <a:ext cx="5257800" cy="1417320"/>
          </a:xfrm>
          <a:prstGeom prst="roundRect">
            <a:avLst>
              <a:gd name="adj" fmla="val 258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938528"/>
            <a:ext cx="457200" cy="45720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51192" y="1938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동작하는 걸 못 봐서 동기가 떨어진다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2560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내 질문에 내 문서로 답하는 걸 보면 재밌어집니다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246120"/>
            <a:ext cx="5257800" cy="1417320"/>
          </a:xfrm>
          <a:prstGeom prst="roundRect">
            <a:avLst>
              <a:gd name="adj" fmla="val 258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3538728"/>
            <a:ext cx="457200" cy="457200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9848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35387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어디가 진짜 어려운지 체감하지 못한다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88136" y="4160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만들어보면 어디가 약한지 스스로 알게 됩니다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5352" y="3246120"/>
            <a:ext cx="5257800" cy="1417320"/>
          </a:xfrm>
          <a:prstGeom prst="roundRect">
            <a:avLst>
              <a:gd name="adj" fmla="val 258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3538728"/>
            <a:ext cx="457200" cy="457200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51192" y="35387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배운 것이 머릿속에서 따로 논다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647688" y="4160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이후 배울 내용을 이 뼈대에 붙여 나가게 됩니다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" y="489204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1435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만든 뼈대에 남은 32차시의 내용을 붙여 나갑니다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 PHASES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인덱싱 단계와 질의 단계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533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인덱싱 — 프로그램 시작 시 딱 한 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349752" cy="1234440"/>
          </a:xfrm>
          <a:prstGeom prst="roundRect">
            <a:avLst>
              <a:gd name="adj" fmla="val 296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987906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문서 읽기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382926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6차시 코드 재사용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7848" y="22082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9600" y="1691640"/>
            <a:ext cx="3349752" cy="1234440"/>
          </a:xfrm>
          <a:prstGeom prst="roundRect">
            <a:avLst>
              <a:gd name="adj" fmla="val 296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2752" y="1987906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조각내기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74464" y="2382926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7차시 코드 재사용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51648" y="22082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3400" y="1691640"/>
            <a:ext cx="3349752" cy="1234440"/>
          </a:xfrm>
          <a:prstGeom prst="roundRect">
            <a:avLst>
              <a:gd name="adj" fmla="val 296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6552" y="1987906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벡터로 저장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08264" y="2382926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새로 배웁니다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154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 — 질문할 때마다 반복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3493008"/>
            <a:ext cx="5216652" cy="1234440"/>
          </a:xfrm>
          <a:prstGeom prst="roundRect">
            <a:avLst>
              <a:gd name="adj" fmla="val 296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789274"/>
            <a:ext cx="50703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관련 조각 검색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" y="4184294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새로 배웁니다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84748" y="4009644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86500" y="3493008"/>
            <a:ext cx="5216652" cy="1234440"/>
          </a:xfrm>
          <a:prstGeom prst="roundRect">
            <a:avLst>
              <a:gd name="adj" fmla="val 296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9652" y="3789274"/>
            <a:ext cx="50703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근거 주고 답변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341364" y="4184294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새로 배웁니다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4983480"/>
            <a:ext cx="10817352" cy="1005840"/>
          </a:xfrm>
          <a:prstGeom prst="roundRect">
            <a:avLst>
              <a:gd name="adj" fmla="val 3636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2120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③까지는 한 번, ④⑤만 매번 — 이 구분이 오늘 가장 중요합니다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COMMON MISTAKE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가장 많이 하는 실수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084832"/>
            <a:ext cx="530352" cy="530352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21579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질문할 때마다 ①②③을 다시 실행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834640"/>
            <a:ext cx="4453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질문 하나에 수십 초가 걸립니다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매번 임베딩 비용이 발생합니다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문서는 바뀌지도 않았는데 말입니다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개발하는 동안에만 수십 번 낭비합니다.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1719072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084832"/>
            <a:ext cx="530352" cy="53035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87768" y="21579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인덱싱은 함수 밖으로 빼기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2834640"/>
            <a:ext cx="4453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프로그램 시작할 때 딱 한 번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질문 함수 안에는 검색과 생성만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짤 때 이 구분을 꼭 지키세요.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10차시에서 저장까지 배우면 더 빨라집니다.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하나에 30초가 걸린다면 대부분 이 문제입니다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인덱싱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6642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문서를 읽고 잘라 벡터로 만들어 저장하는 준비 작업. 딱 한 번만 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957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9572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들어올 때마다 실행되는 검색·생성 과정.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1272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Embeddings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1272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텍스트를 숫자 벡터로 바꾸는 모델. 9차시에서 자세히 배웁니다.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5876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58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Vector Store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85876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벡터를 저장하고 빠르게 검색해주는 저장소. 10차시에서 배웁니다.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9028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590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Context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59028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LLM에게 근거로 넘기는 문서 조각 묶음.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3218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218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Top-K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53218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검색해서 가져올 조각의 개수. 오늘은 3으로 시작합니다.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글자에 좌표를 붙이는 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933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도시에 좌표가 있으면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542032"/>
            <a:ext cx="4453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(37.5, 127.0)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인천 (37.4, 126.7)   ← 서울과 가까움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부산 (35.1, 129.0)   ← 서울과 멂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좌표가 있으니 거리를 계산할 수 있습니다.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19933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문장에도 좌표를 붙이면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542032"/>
            <a:ext cx="4453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 규정"  → [0.21, -0.88, 0.05, …]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"반품 절차"  → [0.19, -0.85, 0.08, …]   ← 가까움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"점심 메뉴"  → [-0.72, 0.31, 0.66, …]   ← 멂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뜻이 비슷하면 좌표도 가까워집니다.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단어가 안 겹쳐도 찾아낼 수 있습니다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VECTOR STORE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좌표를 담아두는 창고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933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색인이 없는 도서관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542032"/>
            <a:ext cx="4453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"파이썬 책 어디 있어요?"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10만 권을 한 권씩 다 확인해야 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찾는 데만 며칠이 걸립니다.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19933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색인이 있는 도서관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542032"/>
            <a:ext cx="4453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"파이썬 책 어디 있어요?"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"3층 컴퓨터 코너"로 안내받습니다.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Vector Store가 그 색인 역할을 합니다.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수만 개 조각 중에서 가까운 것을 순식간에 — 우리는 FAISS를 씁니다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GROUNDED PROMPT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검색만으로는 끝이 아닙니다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084832"/>
            <a:ext cx="530352" cy="530352"/>
          </a:xfrm>
          <a:prstGeom prst="ellipse">
            <a:avLst/>
          </a:prstGeom>
          <a:solidFill>
            <a:srgbClr val="5C6577"/>
          </a:solidFill>
          <a:ln w="12700">
            <a:solidFill>
              <a:srgbClr val="5C657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21579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그냥 물어보면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88136" y="2788920"/>
            <a:ext cx="4453128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27889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 규정이 어떻게 되나요?"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88136" y="3383280"/>
            <a:ext cx="44531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회사 규정을 모르는 LLM이</a:t>
            </a: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일반적인 이야기를 지어냅니다.</a:t>
            </a: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"보통 온라인 쇼핑몰은 7~14일 이내에…"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5352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2084832"/>
            <a:ext cx="530352" cy="53035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287768" y="21579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함께 주면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47688" y="2788920"/>
            <a:ext cx="4453128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85432" y="27889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+ [자료] + [질문] 을 함께 전달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47688" y="3383280"/>
            <a:ext cx="44531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검색된 실제 문서를 근거로 답합니다.</a:t>
            </a: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없으면 없다고 솔직하게 말합니다.</a:t>
            </a: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endParaRPr lang="en-US" sz="13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규정과 다를 위험이 사라집니다.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484632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50977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찾았느냐만큼 어떻게 전달하느냐가 중요합니다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 RULES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반드시 넣을 두 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1463040"/>
          </a:xfrm>
          <a:prstGeom prst="roundRect">
            <a:avLst>
              <a:gd name="adj" fmla="val 25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48840"/>
            <a:ext cx="603504" cy="603504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148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201168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자료만 근거로 답하세요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5146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자기 지식으로 답하는 것을 막습니다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3429000"/>
            <a:ext cx="10817352" cy="1463040"/>
          </a:xfrm>
          <a:prstGeom prst="roundRect">
            <a:avLst>
              <a:gd name="adj" fmla="val 25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840480"/>
            <a:ext cx="603504" cy="603504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840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37033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자료에 없으면 없다고 답하세요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4206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환각을 막는 가장 강력한 한 줄입니다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507492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52578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두 줄만 넣어도 답변 품질이 크게 달라집니다 — 13차시에서 더 다듬습니다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BUILD ORDER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검색부터 확인하고 답변을 붙입니다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2416302" cy="1508760"/>
          </a:xfrm>
          <a:prstGeom prst="roundRect">
            <a:avLst>
              <a:gd name="adj" fmla="val 2424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145182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인덱싱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2627986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조각을 벡터로 저장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84398" y="24368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86150" y="1783080"/>
            <a:ext cx="2416302" cy="1508760"/>
          </a:xfrm>
          <a:prstGeom prst="roundRect">
            <a:avLst>
              <a:gd name="adj" fmla="val 2424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9302" y="2145182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검색만 확인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41014" y="2627986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없이 · 비용 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4748" y="24368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6500" y="1783080"/>
            <a:ext cx="2416302" cy="1508760"/>
          </a:xfrm>
          <a:prstGeom prst="roundRect">
            <a:avLst>
              <a:gd name="adj" fmla="val 2424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9652" y="2145182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붙이기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41364" y="2627986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기반 프롬프트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785098" y="24368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86850" y="1783080"/>
            <a:ext cx="2416302" cy="1508760"/>
          </a:xfrm>
          <a:prstGeom prst="roundRect">
            <a:avLst>
              <a:gd name="adj" fmla="val 2424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60002" y="2145182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표시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1714" y="2627986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파일명 · 페이지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3566160"/>
            <a:ext cx="10817352" cy="1965960"/>
          </a:xfrm>
          <a:prstGeom prst="roundRect">
            <a:avLst>
              <a:gd name="adj" fmla="val 186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43000" y="379476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 칸을 건너뛰지 마세요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4251960"/>
            <a:ext cx="9902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결과를 눈으로 보고 스스로 물어보세요 — "이 조각들 안에 정답이 들어 있는가?"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있다면 검색은 잘 되고 있습니다. 없다면 LLM을 붙여도 소용없습니다.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습관이 12차시에서 배울 진단법의 기초가 됩니다.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 TESTS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돌아간다고 끝이 아닙니다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530352"/>
          </a:xfrm>
          <a:prstGeom prst="roundRect">
            <a:avLst>
              <a:gd name="adj" fmla="val 689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73736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예시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1737360"/>
            <a:ext cx="4370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결과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322576"/>
            <a:ext cx="10817352" cy="530352"/>
          </a:xfrm>
          <a:prstGeom prst="roundRect">
            <a:avLst>
              <a:gd name="adj" fmla="val 689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32257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정상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322576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문서에 명확히 있는 내용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322576"/>
            <a:ext cx="4370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정확한 답 + 올바른 출처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90779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없는 내용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90779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"대표이사 이름이 뭐야?"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907792"/>
            <a:ext cx="4370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"자료에서 확인할 수 없습니다"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493008"/>
            <a:ext cx="10817352" cy="530352"/>
          </a:xfrm>
          <a:prstGeom prst="roundRect">
            <a:avLst>
              <a:gd name="adj" fmla="val 689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4930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표현 변경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3493008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"환불" 대신 "반품"으로 질문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493008"/>
            <a:ext cx="4370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관련 조각을 찾아옴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07822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복합 질문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4078224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"환불과 교환 차이는?"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4078224"/>
            <a:ext cx="4370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출처를 함께 제시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75488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43000" y="495604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②번에서 지어낸 답이 나온다면 — 가장 흔한 문제입니다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5376672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규칙을 더 강하게    ② temperature가 0인지 확인    ③ 질문을 프롬프트 맨 뒤에 두기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막히는 지점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585216"/>
          </a:xfrm>
          <a:prstGeom prst="roundRect">
            <a:avLst>
              <a:gd name="adj" fmla="val 625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하나에 30초 이상 걸림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691640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691640"/>
            <a:ext cx="5303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인덱싱이 질문 함수 안에 있습니다. 밖으로 빼세요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386584"/>
            <a:ext cx="10817352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38658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문서에 없는데 그럴듯하게 지어냄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386584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2386584"/>
            <a:ext cx="5303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"없으면 없다고 답하라"를 명시적으로 넣으세요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081528"/>
            <a:ext cx="10817352" cy="585216"/>
          </a:xfrm>
          <a:prstGeom prst="roundRect">
            <a:avLst>
              <a:gd name="adj" fmla="val 625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08152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답은 나오는데 출처를 모름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081528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3081528"/>
            <a:ext cx="5303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결과의 metadata를 함께 출력하세요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776472"/>
            <a:ext cx="10817352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77647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페이지가 세 번 중복으로 나옴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776472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776472"/>
            <a:ext cx="5303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정상입니다. 한 페이지가 여러 조각으로 나뉘었습니다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471416"/>
            <a:ext cx="10817352" cy="585216"/>
          </a:xfrm>
          <a:prstGeom prst="roundRect">
            <a:avLst>
              <a:gd name="adj" fmla="val 625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471416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답변이 자꾸 잘림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4471416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4471416"/>
            <a:ext cx="5303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설정에서 최대 토큰 값을 지정하세요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" y="5166360"/>
            <a:ext cx="10817352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5166360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매번 실행할 때마다 비용이 발생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5166360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5166360"/>
            <a:ext cx="5303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10차시에서 인덱스 저장·불러오기를 배우면 해결됩니다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DEBUG HABIT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프롬프트를 눈으로 보기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이상할 때 가장 먼저 할 일은, LLM에게 실제로 무엇이 전달됐는지 확인하는 것입니다.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817352" cy="1188720"/>
          </a:xfrm>
          <a:prstGeom prst="roundRect">
            <a:avLst>
              <a:gd name="adj" fmla="val 307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1965960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함수에 debug 옵션 하나를 달아두면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37744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호출 직전에 완성된 프롬프트를 그대로 출력합니다. 이상할 때만 켜서 보면 됩니다.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5468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출력해보면 대부분 여기서 바로 발견됩니다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520440"/>
            <a:ext cx="3401568" cy="1463040"/>
          </a:xfrm>
          <a:prstGeom prst="roundRect">
            <a:avLst>
              <a:gd name="adj" fmla="val 25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78408" y="373075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자료가 아예 안 들어가 있다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978408" y="4370832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결과가 비었는데 그냥 넘어간 경우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3520440"/>
            <a:ext cx="3401568" cy="1463040"/>
          </a:xfrm>
          <a:prstGeom prst="roundRect">
            <a:avLst>
              <a:gd name="adj" fmla="val 25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36008" y="373075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엉뚱한 조각이 들어가 있다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4370832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문제 — 답변 쪽을 봐야 소용없습니다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01000" y="3520440"/>
            <a:ext cx="3401568" cy="1463040"/>
          </a:xfrm>
          <a:prstGeom prst="roundRect">
            <a:avLst>
              <a:gd name="adj" fmla="val 25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373075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문장에 오타가 있다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4370832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줄바꿈이 빠져 규칙이 자료와 붙어버린 경우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166360"/>
            <a:ext cx="10817352" cy="822960"/>
          </a:xfrm>
          <a:prstGeom prst="roundRect">
            <a:avLst>
              <a:gd name="adj" fmla="val 4444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53035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시간 고민할 것을 한 줄이 막아줍니다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인덱싱 단계와 질의 단계를 구분할 수 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임베딩이 무엇을 하는지 비유로 설명한다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Vector Store가 왜 필요한지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근거 기반 프롬프트의 두 규칙을 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마일스톤 1 실습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내 문서로 인덱싱에 성공했다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검색 결과를 먼저 확인했다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질문에 답변이 나온다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출처(파일명·페이지)가 표시된다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없는 질문에 "확인할 수 없습니다"라고 답한다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인덱싱이 딱 한 번만 실행된다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4가지 테스트를 모두 돌렸다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과제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93392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974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10개 테스트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47472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문서로 질문 10개를 만들고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답과 출처가 맞았는지 표로 정리하세요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93392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974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사례 수집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47472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답이 나온 질문을 최소 3개 찾아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틀렸는지 추측해 기록하세요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93392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974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구분해두기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347472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검색된 조각에 정답이 있었는가?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있었다=생성 문제 / 없었다=검색 문제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89204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1435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실패 목록은 12차시와 14차시에서 그대로 씁니다 — 버리지 마세요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9차시 임베딩 이해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임베딩을 썼지만, 사실 무슨 일이 일어나는지는 몰랐습니다. 다음 차시에 그 속을 들여다봅니다.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바뀌는 원리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→ 벡터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78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96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27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코사인 유사도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4744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거리 재보기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516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34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65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고르는 기준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082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볼 것인가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원리를 알면 검색이 왜 실패하는지도 알게 됩니다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모은 실패 사례를 9차시에서 임베딩 관점으로 다시 분석하게 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"왜 이 조각을 못 찾았을까"를 숫자로 확인할 수 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개념만 아는 사람에서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만들어본 사람으로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만든 코드는 40줄이 안 됩니다. "이게 다야?" 싶을 수도 있습니다.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맞습니다. RAG의 뼈대는 원래 간단합니다. 어려운 것은 만드는 게 아니라 잘 만드는 것입니다.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마일스톤 1 달성을 축하합니다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669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파일을 저장해두세요. 앞으로 32차시 동안 계속 발전시킵니다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1530</Words>
  <Application>Microsoft Office PowerPoint</Application>
  <PresentationFormat>사용자 지정</PresentationFormat>
  <Paragraphs>319</Paragraphs>
  <Slides>19</Slides>
  <Notes>19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0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08차시 첫 번째 RAG 실습</dc:title>
  <dc:subject>PptxGenJS Presentation</dc:subject>
  <dc:creator>이창현</dc:creator>
  <cp:lastModifiedBy>Lenovo</cp:lastModifiedBy>
  <cp:revision>1</cp:revision>
  <dcterms:created xsi:type="dcterms:W3CDTF">2026-09-15T01:23:05Z</dcterms:created>
  <dcterms:modified xsi:type="dcterms:W3CDTF">2026-09-15T08:15:08Z</dcterms:modified>
</cp:coreProperties>
</file>