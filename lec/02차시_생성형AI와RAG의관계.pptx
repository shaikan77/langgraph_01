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-78" y="-10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2차시입니다. LLM의 동작 원리부터 짚고, 그 한계에서 RAG의 필요성을 끌어냅니다.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카드는 LLM과 RAG의 원리, 주황 카드는 실제로 잘 쓰는 방법입니다.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 차시가 이어지는 이유를 납득시키세요. 3차시부터 실습입니다.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환각을 도덕적 결함이 아니라 구조적 특성으로 설명하면 이해가 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약점 네 가지가 그대로 RAG의 존재 이유가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속도를 조금 내주고 정확도를 얻는 거래라는 점을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단계를 손가락으로 짚어가며 반복해서 말해주세요. 3차시의 뼈대입니다.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벡터를 수식 없이 '의미의 좌표'로 설명하세요. 자세한 건 3차시에서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RAG는 모델을 바꾸지 않고 입력을 바꾸는 기법이라는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Context가 RAG의 핵심 용어입니다. 검색 결과가 곧 Context라는 점을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실습에서 직접 두 프롬프트를 넣어보고 차이를 눈으로 확인시키세요.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가지를 한 문장에 다 넣을 필요는 없습니다. 필요한 것부터 붙여가면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품질만 챙기고 프롬프트를 방치하는 경우가 많습니다. 둘 다 봐야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시간을 실제로 주고, 몇 명에게 결과를 발표시키면 효과가 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체크가 안 되는 항목이 있으면 다음 차시 전에 복습하도록 안내하세요.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'검색' 단계가 3차시에서 세 개념으로 쪼개진다는 연결을 만들어주세요.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개념 차시의 마지막입니다. 복습을 권하고 3차시로 넘어가세요.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2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AI와 RAG의 관계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 무엇을 못하는가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한계를 알아야 RAG가 왜 필요한지 보입니다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LLM의 동작 원리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글자를 예측하는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기계라는 본질을 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강점과 약점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ChatGPT가 잘하는 것과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못하는 것을 구분한다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RAG와 LLM의 차이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입력·처리·출력·속도를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항목별로 비교한다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RAG의 3단계 흐름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→ 검색 → 생성을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설명한다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엔지니어링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모델도 지시에 따라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달라진다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프롬프트의 조건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명확성·구체성·형식·역할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가지를 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오늘도 이론, 다음 차시부터 코드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 자리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781605"/>
            <a:ext cx="21968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1차시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3279038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 이해 · RAG 개요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439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5878" y="2781605"/>
            <a:ext cx="21968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2차시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95878" y="3279038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AI와 RAG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474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6228" y="2781605"/>
            <a:ext cx="21968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3차시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96228" y="3279038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기본 구조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85098" y="30540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37744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96578" y="2781605"/>
            <a:ext cx="21968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4차시~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96578" y="3279038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코드 구현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480560"/>
            <a:ext cx="10817352" cy="1554480"/>
          </a:xfrm>
          <a:prstGeom prst="roundRect">
            <a:avLst>
              <a:gd name="adj" fmla="val 2353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73659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원리부터 짚고 가는가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175504"/>
            <a:ext cx="9902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어떻게 답을 만드는지 알면, 왜 거짓말을 하는지도 자연스럽게 이해됩니다.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지점이 바로 RAG가 끼어드는 자리입니다. 오늘 이 연결고리를 잡고 갑니다.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LLM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 다음에 올 글자를 예측하는 기계입니다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수십억 개의 문장을 봤기 때문에, 주어진 문장 뒤에 올 가장 가능성 높은 글자를 계산합니다.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2416302" cy="1463040"/>
          </a:xfrm>
          <a:prstGeom prst="roundRect">
            <a:avLst>
              <a:gd name="adj" fmla="val 25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300630"/>
            <a:ext cx="21968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"저는 AI"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768803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439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1920240"/>
            <a:ext cx="2416302" cy="1463040"/>
          </a:xfrm>
          <a:prstGeom prst="roundRect">
            <a:avLst>
              <a:gd name="adj" fmla="val 2500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5878" y="2300630"/>
            <a:ext cx="21968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"입니다"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95878" y="2768803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가능성 높음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474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1920240"/>
            <a:ext cx="2416302" cy="1463040"/>
          </a:xfrm>
          <a:prstGeom prst="roundRect">
            <a:avLst>
              <a:gd name="adj" fmla="val 25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6228" y="2300630"/>
            <a:ext cx="21968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"저는 AI입니다"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96228" y="2768803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다음은?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85098" y="255117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1920240"/>
            <a:ext cx="2416302" cy="1463040"/>
          </a:xfrm>
          <a:prstGeom prst="roundRect">
            <a:avLst>
              <a:gd name="adj" fmla="val 2500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96578" y="2300630"/>
            <a:ext cx="21968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96578" y="2768803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완성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56616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토큰씩 이어 붙이다 보면 문장 하나가 완성됩니다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114800"/>
            <a:ext cx="10817352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43000" y="438912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중요한 사실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828032"/>
            <a:ext cx="9902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 "사실인지"를 따지는 것이 아니라 "그럴듯한지"를 따집니다.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모르는 것도 그럴듯한 문장으로 이어 붙입니다. 이것이 환각의 정체입니다.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거짓말을 하려는 것이 아니라, 구조상 그렇게 동작하는 것입니다.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STRENGTHS &amp; WEAKNESSES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ChatGPT는 정말 똑똑한가?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3063240"/>
          </a:xfrm>
          <a:prstGeom prst="roundRect">
            <a:avLst>
              <a:gd name="adj" fmla="val 119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20240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20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933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잘하는 것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06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자연스러운 대화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606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사람처럼 매끄럽게 답합니다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118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광범위한 지식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311810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역사·과학·문학을 두루 압니다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88136" y="3630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추론 능력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36301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정보로 논리를 전개합니다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" y="4142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다양한 작업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41422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번역·요약·코딩을 해냅니다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5352" y="1627632"/>
            <a:ext cx="5257800" cy="3063240"/>
          </a:xfrm>
          <a:prstGeom prst="roundRect">
            <a:avLst>
              <a:gd name="adj" fmla="val 119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1920240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1920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87768" y="19933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못하는 것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2606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최신 정보 없음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31352" y="2606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시점 이후를 모릅니다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47688" y="3118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기밀 정보 모름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531352" y="311810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 회사 자료를 못 봅니다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47688" y="3630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거짓 답변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531352" y="36301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것도 아는 척합니다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47688" y="4142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정확도 불안정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531352" y="41422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질문에 다르게 답합니다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493776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1892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유용하지만, 최신 정보나 비공개 정보가 필요할 때는 믿을 수 없습니다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질문을 던지면 무엇이 다른가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: "우리 회사의 2024년 매출은?"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178308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LLM (ChatGPT)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1783080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시스템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478024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47802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247802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질문만 받음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478024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질문 + 문서 검색 결과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172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17296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데이터에서 그럴듯한 답을 예측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172968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찾아온 문서를 근거로 답변 생성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3867912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67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38679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"일반적으로 회사의 매출은…" (거짓 위험)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867912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"2024년 매출은 100억원입니다" (정확)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628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2880360" y="456285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빠름 (검색 없음)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562856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조금 느림 (검색 + 생성)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5800" y="5349240"/>
            <a:ext cx="10817352" cy="868680"/>
          </a:xfrm>
          <a:prstGeom prst="roundRect">
            <a:avLst>
              <a:gd name="adj" fmla="val 421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5092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느려진 대신, 근거를 갖고 답하게 되었습니다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RAG의 3단계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349752" cy="1645920"/>
          </a:xfrm>
          <a:prstGeom prst="roundRect">
            <a:avLst>
              <a:gd name="adj" fmla="val 222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2302459"/>
            <a:ext cx="3130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 입력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829154"/>
            <a:ext cx="3130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질문한다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7848" y="25968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19600" y="1874520"/>
            <a:ext cx="3349752" cy="1645920"/>
          </a:xfrm>
          <a:prstGeom prst="roundRect">
            <a:avLst>
              <a:gd name="adj" fmla="val 222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9328" y="2302459"/>
            <a:ext cx="3130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 검색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29328" y="2829154"/>
            <a:ext cx="3130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문서를 찾는다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51648" y="25968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53400" y="1874520"/>
            <a:ext cx="3349752" cy="1645920"/>
          </a:xfrm>
          <a:prstGeom prst="roundRect">
            <a:avLst>
              <a:gd name="adj" fmla="val 222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3128" y="2302459"/>
            <a:ext cx="3130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 생성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63128" y="2829154"/>
            <a:ext cx="3130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근거로 답을 만든다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70332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질문은 AI에게 바로 가지 않습니다. 먼저 검색에 쓰입니다.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206240"/>
            <a:ext cx="3401568" cy="1691640"/>
          </a:xfrm>
          <a:prstGeom prst="roundRect">
            <a:avLst>
              <a:gd name="adj" fmla="val 216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" y="4462272"/>
            <a:ext cx="420624" cy="42062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8408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27048" y="44622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입력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978408" y="513892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제품의 A/S 정책은?"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43400" y="4206240"/>
            <a:ext cx="3401568" cy="1691640"/>
          </a:xfrm>
          <a:prstGeom prst="roundRect">
            <a:avLst>
              <a:gd name="adj" fmla="val 216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36008" y="4462272"/>
            <a:ext cx="420624" cy="42062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36008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84648" y="44622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검색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513892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매뉴얼에서 상위 3개 조각 확보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01000" y="4206240"/>
            <a:ext cx="3401568" cy="1691640"/>
          </a:xfrm>
          <a:prstGeom prst="roundRect">
            <a:avLst>
              <a:gd name="adj" fmla="val 216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3608" y="4462272"/>
            <a:ext cx="420624" cy="420624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3608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842248" y="44622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생성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8293608" y="513892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조각만 근거로 답변 작성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· RETRIEVAL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어떻게 이뤄지나 — 벡터로 비교합니다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416302" cy="1463040"/>
          </a:xfrm>
          <a:prstGeom prst="roundRect">
            <a:avLst>
              <a:gd name="adj" fmla="val 25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2209190"/>
            <a:ext cx="21968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677363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"A/S 정책은?"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84398" y="24597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86150" y="1828800"/>
            <a:ext cx="2416302" cy="1463040"/>
          </a:xfrm>
          <a:prstGeom prst="roundRect">
            <a:avLst>
              <a:gd name="adj" fmla="val 25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5878" y="2209190"/>
            <a:ext cx="21968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변환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95878" y="2677363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숫자로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4748" y="24597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1828800"/>
            <a:ext cx="2416302" cy="1463040"/>
          </a:xfrm>
          <a:prstGeom prst="roundRect">
            <a:avLst>
              <a:gd name="adj" fmla="val 25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6228" y="2209190"/>
            <a:ext cx="21968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유사도 비교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96228" y="2677363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벡터와 대조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85098" y="24597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86850" y="1828800"/>
            <a:ext cx="2416302" cy="1463040"/>
          </a:xfrm>
          <a:prstGeom prst="roundRect">
            <a:avLst>
              <a:gd name="adj" fmla="val 2500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96578" y="2209190"/>
            <a:ext cx="21968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3-5개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96578" y="2677363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가까운 조각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657600"/>
            <a:ext cx="5257800" cy="2103120"/>
          </a:xfrm>
          <a:prstGeom prst="roundRect">
            <a:avLst>
              <a:gd name="adj" fmla="val 173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88136" y="3931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숫자로 바꾸나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88136" y="4434840"/>
            <a:ext cx="4453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컴퓨터는 글자의 뜻을 모릅니다.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의미가 비슷한 문장은 비슷한 숫자가 되도록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변환해두면 거리로 비교할 수 있습니다.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45352" y="3657600"/>
            <a:ext cx="5257800" cy="2103120"/>
          </a:xfrm>
          <a:prstGeom prst="roundRect">
            <a:avLst>
              <a:gd name="adj" fmla="val 1739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47688" y="3931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표현이 달라도 찾습니다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647688" y="4434840"/>
            <a:ext cx="4453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"A/S 정책"과 "수리 규정"은 글자가 다르지만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의미가 가까우면 같이 걸립니다.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변환 작업이 3차시의 Embedding입니다.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· GENERATION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단계에서 AI가 실제로 받는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3017520"/>
          </a:xfrm>
          <a:prstGeom prst="roundRect">
            <a:avLst>
              <a:gd name="adj" fmla="val 121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38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전달되는 꾸러미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514600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514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"다음 문서를 읽고 답해주세요"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88136" y="3172968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1729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검색한 문서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31729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찾아온 관련 조각 3-5개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88136" y="3831336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38313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질문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8313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물어본 내용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45352" y="1645920"/>
            <a:ext cx="5257800" cy="3017520"/>
          </a:xfrm>
          <a:prstGeom prst="roundRect">
            <a:avLst>
              <a:gd name="adj" fmla="val 1212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47688" y="1938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얻는 것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2487168"/>
            <a:ext cx="4453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제공받은 문서 안에서만 답합니다.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최신 정보도 답할 수 있습니다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비공개 자료도 다룰 수 있습니다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근거가 있으니 환각이 크게 줄어듭니다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출처를 함께 보여줄 수 있습니다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똑똑하게 만드는 것이 아니라, 볼 자료를 쥐여주는 것입니다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4592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6459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 같은 큰 언어 모델. 텍스트를 생성하고 질문에 답하는 AI입니다.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51460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Prompt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5146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주는 명령이나 질문. "우리 회사의 매출은?"이 프롬프트입니다.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383280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38328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Token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38328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이해하는 최소 단위. 한국어 한 글자가 대략 1-2 토큰입니다.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251960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25196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25196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답변에 참고할 추가 정보. RAG에서 검색한 문서가 Context입니다.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120640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1206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512064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잘 지시하기 위해 프롬프트를 설계하는 기술. 답변 품질을 크게 좌우합니다.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PROMPT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모델, 다른 프롬프트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84832"/>
            <a:ext cx="530352" cy="530352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좋지 않은 프롬프트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88136" y="2834640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834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회사 정보는?"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56616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광범위합니다.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무엇을 원하는지 알 수 없어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엉뚱하거나 뻔한 답이 나옵니다.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2084832"/>
            <a:ext cx="530352" cy="53035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287768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프롬프트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47688" y="2761488"/>
            <a:ext cx="4453128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85432" y="276148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"다음 문서를 읽고 2024년 매출액과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수익성을 숫자로 알려주세요."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3639312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원하는지 명확하고,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형식과 범위까지 정해줬습니다.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모델을 바꾸지 않고도 답변 품질을 끌어올릴 수 있습니다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RULES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프롬프트의 4가지 조건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2011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명확성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151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원하는지 정확히 말합니다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980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"매출을 알려줘" 보다 "2024년 매출액"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5352" y="1627632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24344" y="2011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구체성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26151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추상적 단어 대신 구체적 기준을 줍니다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2980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"좋은 요약" 보다 "3줄 요약, 한국어"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703320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4014216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9848" y="40142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764792" y="4087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 지정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088136" y="46908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출력 모양을 지정합니다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88136" y="5056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"표로 정리", "JSON 형식으로"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45352" y="3703320"/>
            <a:ext cx="5257800" cy="1874520"/>
          </a:xfrm>
          <a:prstGeom prst="roundRect">
            <a:avLst>
              <a:gd name="adj" fmla="val 19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4014216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40142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24344" y="4087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부여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647688" y="46908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AI에게 역할을 정해줍니다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47688" y="5056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"당신은 기술 지원 담당자입니다"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 RAG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검색 결과라도 프롬프트가 답을 바꿉니다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1 · 기본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514600"/>
            <a:ext cx="4453128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514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"매출은?"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246120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: "문서에 따르면 매출은 100억원입니다."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틀리진 않지만 정보가 빈약합니다.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2011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2 · 상세 요청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2450592"/>
            <a:ext cx="4453128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450592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"2024년 분기별 매출과 전년 대비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성장률을 표로 정리해주세요."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310128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: "1분기 20억원 (+10%) …"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바로 보고서에 쓸 수 있는 형태입니다.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재료라면, 프롬프트는 조리법입니다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TODAY'S ACTIVITY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차시의 학습 활동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짧은 실습이 하나 있습니다. ChatGPT에 직접 넣어보고 차이를 눈으로 확인하세요.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257800" cy="2880360"/>
          </a:xfrm>
          <a:prstGeom prst="roundRect">
            <a:avLst>
              <a:gd name="adj" fmla="val 127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21945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청취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2633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154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LLM의 동작 원리 이해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RAG의 3단계 흐름 학습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프롬프트 엔지니어링 기초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1874520"/>
            <a:ext cx="5257800" cy="2880360"/>
          </a:xfrm>
          <a:prstGeom prst="roundRect">
            <a:avLst>
              <a:gd name="adj" fmla="val 127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21945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· 프롬프트 비교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33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3154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좋지 않은 프롬프트로 질문해보기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좋은 프롬프트로 다시 질문하기</a:t>
            </a:r>
            <a:endParaRPr lang="en-US" sz="13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두 답변의 차이 관찰하기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5029200"/>
            <a:ext cx="10817352" cy="960120"/>
          </a:xfrm>
          <a:prstGeom prst="roundRect">
            <a:avLst>
              <a:gd name="adj" fmla="val 381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2349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프롬프트만 바꿔도 답이 달라진다는 것을 직접 확인하는 시간입니다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LLM이 다음 글자를 예측하는 기계임을 안다</a:t>
            </a:r>
            <a:endParaRPr lang="en-US" sz="13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환각이 왜 생기는지 설명할 수 있다</a:t>
            </a:r>
            <a:endParaRPr lang="en-US" sz="13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ChatGPT의 강점과 약점을 3가지씩 말한다</a:t>
            </a:r>
            <a:endParaRPr lang="en-US" sz="13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RAG의 3단계 흐름을 설명할 수 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· 적용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좋은 프롬프트와 나쁜 프롬프트를 구분한다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좋은 프롬프트의 4가지 조건을 말한다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ChatGPT에서 프롬프트를 바꿔 비교해봤다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검색 결과가 Context라는 것을 이해했다</a:t>
            </a:r>
            <a:endParaRPr lang="en-US" sz="13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다음 차시부터 코딩 시작을 알고 있다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3차시 RAG 기본 구조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이론만이 아니라, 문서가 실제로 어떻게 처리되는지 단계별로 들여다봅니다.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415845"/>
            <a:ext cx="3130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913278"/>
            <a:ext cx="3130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불러오기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78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96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9328" y="2415845"/>
            <a:ext cx="3130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Chunking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29328" y="2913278"/>
            <a:ext cx="3130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조각으로 나누기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516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3400" y="201168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3128" y="2415845"/>
            <a:ext cx="3130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Embedding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63128" y="2913278"/>
            <a:ext cx="3130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숫자(벡터)로 변환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88136" y="4224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4681728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말로만 설명한 "검색"의 내부를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개념으로 나눠서 살펴봅니다.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397764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47688" y="4224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4차시부터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4681728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코드로 직접 구현합니다.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환경도 이때 함께 준비합니다.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03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바꾸는 것이 아니라</a:t>
            </a:r>
            <a:endParaRPr lang="en-US" sz="38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보여줄 자료를 바꾸는 것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 다음 글자를 예측하는 기계라서, 모르는 것도 그럴듯하게 이어 붙입니다.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RAG는 그 앞에 검색을 놓아 근거를 쥐여줍니다. 프롬프트는 그 근거를 어떻게 쓸지 정합니다.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548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오늘로 개념은 끝났습니다. 다음은 코드입니다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17550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이해가 덜 된 부분이 있다면 한 번 더 복습하고 오세요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1437</Words>
  <Application>Microsoft Office PowerPoint</Application>
  <PresentationFormat>사용자 지정</PresentationFormat>
  <Paragraphs>301</Paragraphs>
  <Slides>17</Slides>
  <Notes>17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02차시 생성형 AI와 RAG의 관계</dc:title>
  <dc:subject>PptxGenJS Presentation</dc:subject>
  <dc:creator>이창현</dc:creator>
  <cp:lastModifiedBy>lch</cp:lastModifiedBy>
  <cp:revision>1</cp:revision>
  <dcterms:created xsi:type="dcterms:W3CDTF">2026-09-14T09:06:21Z</dcterms:created>
  <dcterms:modified xsi:type="dcterms:W3CDTF">2026-09-14T09:41:54Z</dcterms:modified>
</cp:coreProperties>
</file>