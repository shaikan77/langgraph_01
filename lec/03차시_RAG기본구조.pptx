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Default Extension="xlsx" ContentType="application/haansoftxlsx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notesSlides/notesSlide19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0" d="100"/>
          <a:sy n="60" d="100"/>
        </p:scale>
        <p:origin x="-78" y="-109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Office_Excel_____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ko-KR"/>
  <c:roundedCorners val="1"/>
  <c:chart>
    <c:autoTitleDeleted val="1"/>
    <c:plotArea>
      <c:layout/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유사도(%)</c:v>
                </c:pt>
              </c:strCache>
            </c:strRef>
          </c:tx>
          <c:spPr>
            <a:solidFill>
              <a:srgbClr val="2F5597"/>
            </a:solidFill>
            <a:effectLst/>
          </c:spPr>
          <c:dLbls>
            <c:numFmt formatCode="#,##0" sourceLinked="0"/>
            <c:txPr>
              <a:bodyPr/>
              <a:lstStyle/>
              <a:p>
                <a:pPr>
                  <a:defRPr sz="1200" b="0" i="0" u="none" strike="noStrike">
                    <a:solidFill>
                      <a:srgbClr val="16243D"/>
                    </a:solidFill>
                    <a:latin typeface="맑은 고딕"/>
                  </a:defRPr>
                </a:pPr>
                <a:endParaRPr lang="ko-KR"/>
              </a:p>
            </c:txPr>
            <c:showVal val="1"/>
          </c:dLbls>
          <c:cat>
            <c:strRef>
              <c:f>Sheet1!$A$2:$A$4</c:f>
              <c:strCache>
                <c:ptCount val="3"/>
                <c:pt idx="0">
                  <c:v>"색상은 검은색과 흰색"</c:v>
                </c:pt>
                <c:pt idx="1">
                  <c:v>"배송은 3-5일 소요"</c:v>
                </c:pt>
                <c:pt idx="2">
                  <c:v>"가로 100cm, 세로 50cm"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92</c:v>
                </c:pt>
                <c:pt idx="1">
                  <c:v>45</c:v>
                </c:pt>
                <c:pt idx="2">
                  <c:v>38</c:v>
                </c:pt>
              </c:numCache>
            </c:numRef>
          </c:val>
        </c:ser>
        <c:dLbls>
          <c:showVal val="1"/>
        </c:dLbls>
        <c:axId val="70221184"/>
        <c:axId val="71636096"/>
      </c:barChart>
      <c:catAx>
        <c:axId val="70221184"/>
        <c:scaling>
          <c:orientation val="minMax"/>
        </c:scaling>
        <c:axPos val="l"/>
        <c:numFmt formatCode="General" sourceLinked="1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5C6577"/>
                </a:solidFill>
                <a:latin typeface="맑은 고딕"/>
              </a:defRPr>
            </a:pPr>
            <a:endParaRPr lang="ko-KR"/>
          </a:p>
        </c:txPr>
        <c:crossAx val="71636096"/>
        <c:crosses val="autoZero"/>
        <c:auto val="1"/>
        <c:lblAlgn val="ctr"/>
        <c:lblOffset val="100"/>
        <c:noMultiLvlLbl val="1"/>
      </c:catAx>
      <c:valAx>
        <c:axId val="71636096"/>
        <c:scaling>
          <c:orientation val="minMax"/>
          <c:max val="100"/>
          <c:min val="0"/>
        </c:scaling>
        <c:axPos val="b"/>
        <c:majorGridlines>
          <c:spPr>
            <a:ln w="12700" cap="flat">
              <a:solidFill>
                <a:srgbClr val="EDEFF3"/>
              </a:solidFill>
              <a:prstDash val="solid"/>
              <a:round/>
            </a:ln>
          </c:spPr>
        </c:majorGridlines>
        <c:numFmt formatCode="General" sourceLinked="0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6577"/>
                </a:solidFill>
                <a:latin typeface="맑은 고딕"/>
              </a:defRPr>
            </a:pPr>
            <a:endParaRPr lang="ko-KR"/>
          </a:p>
        </c:txPr>
        <c:crossAx val="7022118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/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3차시입니다. 개념 차시의 마지막이자 가장 중요한 차시입니다. 오늘 배운 구조가 이후 모든 코드의 뼈대가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파란 카드는 준비 단계, 주황 카드는 저장과 실행 단계입니다.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 구조를 잡아두면 이후 코드가 훨씬 쉬워진다는 점을 강조하세요.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두 단계를 섞어서 이해하면 나중에 코드 구조가 헷갈립니다. 여기서 확실히 갈라두세요.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준비 단계는 배포 전에 미리 돌려두는 작업이라는 점을 짚어주세요.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Embedding 모델 일치는 실무에서 자주 터지는 함정입니다. 미리 경고해두세요.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여섯 용어가 오늘 슬라이드 전체의 목차이기도 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스캔 PDF처럼 텍스트가 안 나오는 경우를 예로 들면 실감납니다. 6차시에서 자세히 다룹니다.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검색은 문서 단위가 아니라 조각 단위로 이뤄진다는 점이 중요합니다.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여기서 정답을 주지 말고, 14차시 실험으로 연결하세요.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수식은 필요 없습니다. '의미의 좌표'라는 감각만 잡아주면 충분합니다.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여기가 오늘 가장 인상적인 슬라이드입니다. 천천히 짚어주세요.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일반 DB와 달리 '가까운 것 찾기'에 최적화된 저장소라는 점을 설명하세요.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검색이 RAG 품질의 상한선이라는 점을 강조하세요.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벡터 검색이 만능은 아니라는 점, 하이브리드 검색이 있다는 점을 살짝 예고하세요.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표 한 장이 오늘의 요약입니다. 인쇄해서 옆에 두라고 권해주세요.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문제가 생겼을 때 어느 단계를 의심할지 아는 것이 12차시 진단법으로 이어집니다.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실제로 백지에 그려보게 하면 효과가 큽니다.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체크가 안 된 항목이 있으면 4차시 전에 이 슬라이드를 다시 보게 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환경 구축에서 막히는 사람이 꼭 나옵니다. 미리 안내 자료를 준비해두세요.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다섯 단어로 요약하고 마칩니다. 읽기·조각·숫자·저장·찾기.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4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32520" y="1417320"/>
            <a:ext cx="2148840" cy="2834640"/>
          </a:xfrm>
          <a:prstGeom prst="roundRect">
            <a:avLst>
              <a:gd name="adj" fmla="val 1702"/>
            </a:avLst>
          </a:prstGeom>
          <a:solidFill>
            <a:srgbClr val="24365C"/>
          </a:solidFill>
          <a:ln w="12700">
            <a:solidFill>
              <a:srgbClr val="2436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52560" y="1737360"/>
            <a:ext cx="2148840" cy="2834640"/>
          </a:xfrm>
          <a:prstGeom prst="roundRect">
            <a:avLst>
              <a:gd name="adj" fmla="val 1702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72600" y="2057400"/>
            <a:ext cx="2148840" cy="2834640"/>
          </a:xfrm>
          <a:prstGeom prst="roundRect">
            <a:avLst>
              <a:gd name="adj" fmla="val 1702"/>
            </a:avLst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92640" y="2514600"/>
            <a:ext cx="1508760" cy="1005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92640" y="2898648"/>
            <a:ext cx="1508760" cy="1005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92640" y="3282696"/>
            <a:ext cx="1508760" cy="1005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692640" y="3666744"/>
            <a:ext cx="1005840" cy="1005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150876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7F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실습으로 배우는 LangGraph : 내 손으로 RAG 시스템 만들기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1938528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 3 차시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2432304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RAG 기본 구조</a:t>
            </a:r>
            <a:endParaRPr lang="en-US" sz="54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3310128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5B7F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준비 단계와 실행 단계</a:t>
            </a:r>
            <a:endParaRPr lang="en-US" sz="34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4160520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FB2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코드를 쓰기 전에, 무슨 일이 일어나는지 끝까지 따라가 봅니다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576072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E92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40차시 학습 교재   |   강사 이창현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LEARNING GOALS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 차시에서 배우는 것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627632"/>
            <a:ext cx="3401568" cy="2084832"/>
          </a:xfrm>
          <a:prstGeom prst="roundRect">
            <a:avLst>
              <a:gd name="adj" fmla="val 1754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78408" y="1938528"/>
            <a:ext cx="493776" cy="493776"/>
          </a:xfrm>
          <a:prstGeom prst="ellipse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78408" y="193852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978408" y="2615184"/>
            <a:ext cx="2816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Ingestion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978408" y="2999232"/>
            <a:ext cx="2852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문서를 불러오는 과정과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첫 단추인지 안다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43400" y="1627632"/>
            <a:ext cx="3401568" cy="2084832"/>
          </a:xfrm>
          <a:prstGeom prst="roundRect">
            <a:avLst>
              <a:gd name="adj" fmla="val 1754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36008" y="1938528"/>
            <a:ext cx="493776" cy="493776"/>
          </a:xfrm>
          <a:prstGeom prst="ellipse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36008" y="193852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636008" y="2615184"/>
            <a:ext cx="2816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Chunking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4636008" y="2999232"/>
            <a:ext cx="2852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쪼개야 하는지와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chunk size의 영향을 안다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01000" y="1627632"/>
            <a:ext cx="3401568" cy="2084832"/>
          </a:xfrm>
          <a:prstGeom prst="roundRect">
            <a:avLst>
              <a:gd name="adj" fmla="val 1754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93608" y="1938528"/>
            <a:ext cx="493776" cy="493776"/>
          </a:xfrm>
          <a:prstGeom prst="ellipse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93608" y="193852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293608" y="2615184"/>
            <a:ext cx="2816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Embedding</a:t>
            </a:r>
            <a:endParaRPr lang="en-US" sz="1550" dirty="0"/>
          </a:p>
        </p:txBody>
      </p:sp>
      <p:sp>
        <p:nvSpPr>
          <p:cNvPr id="18" name="Text 16"/>
          <p:cNvSpPr txBox="1"/>
          <p:nvPr/>
        </p:nvSpPr>
        <p:spPr>
          <a:xfrm>
            <a:off x="8293608" y="2999232"/>
            <a:ext cx="2852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텍스트가 숫자로 바뀌는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과정을 이해한다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85800" y="4041648"/>
            <a:ext cx="3401568" cy="2084832"/>
          </a:xfrm>
          <a:prstGeom prst="roundRect">
            <a:avLst>
              <a:gd name="adj" fmla="val 1754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78408" y="4352544"/>
            <a:ext cx="493776" cy="493776"/>
          </a:xfrm>
          <a:prstGeom prst="ellipse">
            <a:avLst/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78408" y="435254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978408" y="5029200"/>
            <a:ext cx="2816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Vector DB</a:t>
            </a:r>
            <a:endParaRPr lang="en-US" sz="1550" dirty="0"/>
          </a:p>
        </p:txBody>
      </p:sp>
      <p:sp>
        <p:nvSpPr>
          <p:cNvPr id="23" name="Text 21"/>
          <p:cNvSpPr txBox="1"/>
          <p:nvPr/>
        </p:nvSpPr>
        <p:spPr>
          <a:xfrm>
            <a:off x="978408" y="5413248"/>
            <a:ext cx="2852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벡터를 저장하고 검색하는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저장소를 이해한다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343400" y="4041648"/>
            <a:ext cx="3401568" cy="2084832"/>
          </a:xfrm>
          <a:prstGeom prst="roundRect">
            <a:avLst>
              <a:gd name="adj" fmla="val 1754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36008" y="4352544"/>
            <a:ext cx="493776" cy="493776"/>
          </a:xfrm>
          <a:prstGeom prst="ellipse">
            <a:avLst/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636008" y="435254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4636008" y="5029200"/>
            <a:ext cx="2816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Similarity Search</a:t>
            </a:r>
            <a:endParaRPr lang="en-US" sz="1550" dirty="0"/>
          </a:p>
        </p:txBody>
      </p:sp>
      <p:sp>
        <p:nvSpPr>
          <p:cNvPr id="28" name="Text 26"/>
          <p:cNvSpPr txBox="1"/>
          <p:nvPr/>
        </p:nvSpPr>
        <p:spPr>
          <a:xfrm>
            <a:off x="4636008" y="5413248"/>
            <a:ext cx="2852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거리로 가장 가까운 조각을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찾는 원리를 안다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001000" y="4041648"/>
            <a:ext cx="3401568" cy="2084832"/>
          </a:xfrm>
          <a:prstGeom prst="roundRect">
            <a:avLst>
              <a:gd name="adj" fmla="val 1754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293608" y="4352544"/>
            <a:ext cx="493776" cy="493776"/>
          </a:xfrm>
          <a:prstGeom prst="ellipse">
            <a:avLst/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293608" y="435254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8293608" y="5029200"/>
            <a:ext cx="2816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파이프라인</a:t>
            </a:r>
            <a:endParaRPr lang="en-US" sz="1550" dirty="0"/>
          </a:p>
        </p:txBody>
      </p:sp>
      <p:sp>
        <p:nvSpPr>
          <p:cNvPr id="33" name="Text 31"/>
          <p:cNvSpPr txBox="1"/>
          <p:nvPr/>
        </p:nvSpPr>
        <p:spPr>
          <a:xfrm>
            <a:off x="8293608" y="5413248"/>
            <a:ext cx="2852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준비와 실행, 10단계를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순서대로 설명한다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WHERE WE ARE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개념 차시의 마지막입니다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21792" y="2011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이 자리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85800" y="2377440"/>
            <a:ext cx="2416302" cy="1554480"/>
          </a:xfrm>
          <a:prstGeom prst="roundRect">
            <a:avLst>
              <a:gd name="adj" fmla="val 2353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2750515"/>
            <a:ext cx="223342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1차시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758952" y="3247949"/>
            <a:ext cx="22699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과정 이해 · RAG 개요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184398" y="3054096"/>
            <a:ext cx="219456" cy="201168"/>
          </a:xfrm>
          <a:prstGeom prst="rightArrow">
            <a:avLst/>
          </a:prstGeom>
          <a:solidFill>
            <a:srgbClr val="C8CEDA"/>
          </a:solidFill>
          <a:ln w="12700">
            <a:solidFill>
              <a:srgbClr val="C8CED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86150" y="2377440"/>
            <a:ext cx="2416302" cy="1554480"/>
          </a:xfrm>
          <a:prstGeom prst="roundRect">
            <a:avLst>
              <a:gd name="adj" fmla="val 2353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577590" y="2750515"/>
            <a:ext cx="223342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2차시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3559302" y="3247949"/>
            <a:ext cx="22699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생성형 AI와 RAG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984748" y="3054096"/>
            <a:ext cx="219456" cy="201168"/>
          </a:xfrm>
          <a:prstGeom prst="rightArrow">
            <a:avLst/>
          </a:prstGeom>
          <a:solidFill>
            <a:srgbClr val="C8CEDA"/>
          </a:solidFill>
          <a:ln w="12700">
            <a:solidFill>
              <a:srgbClr val="C8CED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86500" y="2377440"/>
            <a:ext cx="2416302" cy="1554480"/>
          </a:xfrm>
          <a:prstGeom prst="roundRect">
            <a:avLst>
              <a:gd name="adj" fmla="val 2353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77940" y="2750515"/>
            <a:ext cx="223342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3차시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6359652" y="3247949"/>
            <a:ext cx="22699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RAG 기본 구조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785098" y="3054096"/>
            <a:ext cx="219456" cy="201168"/>
          </a:xfrm>
          <a:prstGeom prst="rightArrow">
            <a:avLst/>
          </a:prstGeom>
          <a:solidFill>
            <a:srgbClr val="C8CEDA"/>
          </a:solidFill>
          <a:ln w="12700">
            <a:solidFill>
              <a:srgbClr val="C8CED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086850" y="2377440"/>
            <a:ext cx="2416302" cy="1554480"/>
          </a:xfrm>
          <a:prstGeom prst="roundRect">
            <a:avLst>
              <a:gd name="adj" fmla="val 2353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178290" y="2750515"/>
            <a:ext cx="223342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4차시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9160002" y="3247949"/>
            <a:ext cx="22699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 환경 구축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85800" y="4480560"/>
            <a:ext cx="10817352" cy="1554480"/>
          </a:xfrm>
          <a:prstGeom prst="roundRect">
            <a:avLst>
              <a:gd name="adj" fmla="val 2353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143000" y="4736592"/>
            <a:ext cx="9902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오늘이 가장 중요한 이론 차시입니다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1143000" y="5175504"/>
            <a:ext cx="99029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2차시에서 "검색"이라고 한 마디로 넘어간 부분을, 오늘은 다섯 단계로 쪼개서 들여다봅니다.</a:t>
            </a:r>
            <a:endParaRPr lang="en-US" sz="13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여기를 이해하고 나면 4차시 이후의 코드는 이 그림에 이름을 붙이는 작업에 가깝습니다.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BIG PICTURE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RAG는 두 개의 단계로 나뉩니다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719072"/>
            <a:ext cx="5257800" cy="2834640"/>
          </a:xfrm>
          <a:prstGeom prst="roundRect">
            <a:avLst>
              <a:gd name="adj" fmla="val 1290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69848" y="2084832"/>
            <a:ext cx="530352" cy="530352"/>
          </a:xfrm>
          <a:prstGeom prst="ellipse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69848" y="208483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728216" y="215798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준비 단계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728216" y="250545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Preparation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088136" y="2971800"/>
            <a:ext cx="445312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문서를 읽어 검색 가능한 형태로 만들어 둡니다.</a:t>
            </a:r>
            <a:endParaRPr lang="en-US" sz="1350" dirty="0"/>
          </a:p>
          <a:p>
            <a:pPr marL="0" indent="0">
              <a:lnSpc>
                <a:spcPts val="2400"/>
              </a:lnSpc>
              <a:buNone/>
            </a:pPr>
            <a:endParaRPr lang="en-US" sz="135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딱 한 번만 수행합니다</a:t>
            </a:r>
            <a:endParaRPr lang="en-US" sz="135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문서가 바뀔 때만 다시 합니다</a:t>
            </a:r>
            <a:endParaRPr lang="en-US" sz="135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시간이 좀 걸려도 괜찮습니다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245352" y="1719072"/>
            <a:ext cx="5257800" cy="2834640"/>
          </a:xfrm>
          <a:prstGeom prst="roundRect">
            <a:avLst>
              <a:gd name="adj" fmla="val 1290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629400" y="2084832"/>
            <a:ext cx="530352" cy="530352"/>
          </a:xfrm>
          <a:prstGeom prst="ellipse">
            <a:avLst/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629400" y="208483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7287768" y="215798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 단계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7287768" y="250545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Execution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647688" y="2971800"/>
            <a:ext cx="445312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 질문이 들어올 때마다 돌아갑니다.</a:t>
            </a:r>
            <a:endParaRPr lang="en-US" sz="1350" dirty="0"/>
          </a:p>
          <a:p>
            <a:pPr marL="0" indent="0">
              <a:lnSpc>
                <a:spcPts val="2400"/>
              </a:lnSpc>
              <a:buNone/>
            </a:pPr>
            <a:endParaRPr lang="en-US" sz="135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질문할 때마다 매번 수행합니다</a:t>
            </a:r>
            <a:endParaRPr lang="en-US" sz="135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빠를수록 좋습니다</a:t>
            </a:r>
            <a:endParaRPr lang="en-US" sz="135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사용자가 기다리는 구간입니다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85800" y="4800600"/>
            <a:ext cx="10817352" cy="1097280"/>
          </a:xfrm>
          <a:prstGeom prst="roundRect">
            <a:avLst>
              <a:gd name="adj" fmla="val 3333"/>
            </a:avLst>
          </a:prstGeom>
          <a:solidFill>
            <a:srgbClr val="16243D"/>
          </a:solidFill>
          <a:ln w="12700">
            <a:solidFill>
              <a:srgbClr val="16243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5800" y="5074920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준비는 한 번, 실행은 매번 — 이 구분이 오늘의 핵심입니다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PREPARATION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준비 단계 — 한 번만 수행합니다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874520"/>
            <a:ext cx="1856232" cy="1554480"/>
          </a:xfrm>
          <a:prstGeom prst="roundRect">
            <a:avLst>
              <a:gd name="adj" fmla="val 2353"/>
            </a:avLst>
          </a:prstGeom>
          <a:solidFill>
            <a:srgbClr val="24365C"/>
          </a:solidFill>
          <a:ln w="12700">
            <a:solidFill>
              <a:srgbClr val="24365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2247595"/>
            <a:ext cx="16733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문서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58952" y="2745029"/>
            <a:ext cx="1709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PDF · TXT · DOCX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624328" y="2551176"/>
            <a:ext cx="219456" cy="201168"/>
          </a:xfrm>
          <a:prstGeom prst="rightArrow">
            <a:avLst/>
          </a:prstGeom>
          <a:solidFill>
            <a:srgbClr val="C8CEDA"/>
          </a:solidFill>
          <a:ln w="12700">
            <a:solidFill>
              <a:srgbClr val="C8CED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926080" y="1874520"/>
            <a:ext cx="1856232" cy="1554480"/>
          </a:xfrm>
          <a:prstGeom prst="roundRect">
            <a:avLst>
              <a:gd name="adj" fmla="val 2353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017520" y="2247595"/>
            <a:ext cx="16733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Ingestion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2999232" y="2745029"/>
            <a:ext cx="1709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불러오기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864608" y="2551176"/>
            <a:ext cx="219456" cy="201168"/>
          </a:xfrm>
          <a:prstGeom prst="rightArrow">
            <a:avLst/>
          </a:prstGeom>
          <a:solidFill>
            <a:srgbClr val="C8CEDA"/>
          </a:solidFill>
          <a:ln w="12700">
            <a:solidFill>
              <a:srgbClr val="C8CED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166360" y="1874520"/>
            <a:ext cx="1856232" cy="1554480"/>
          </a:xfrm>
          <a:prstGeom prst="roundRect">
            <a:avLst>
              <a:gd name="adj" fmla="val 2353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257800" y="2247595"/>
            <a:ext cx="16733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Chunking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5239512" y="2745029"/>
            <a:ext cx="1709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조각내기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104888" y="2551176"/>
            <a:ext cx="219456" cy="201168"/>
          </a:xfrm>
          <a:prstGeom prst="rightArrow">
            <a:avLst/>
          </a:prstGeom>
          <a:solidFill>
            <a:srgbClr val="C8CEDA"/>
          </a:solidFill>
          <a:ln w="12700">
            <a:solidFill>
              <a:srgbClr val="C8CED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06640" y="1874520"/>
            <a:ext cx="1856232" cy="1554480"/>
          </a:xfrm>
          <a:prstGeom prst="roundRect">
            <a:avLst>
              <a:gd name="adj" fmla="val 2353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498080" y="2247595"/>
            <a:ext cx="16733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Embedding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7479792" y="2745029"/>
            <a:ext cx="1709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숫자로 변환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9345168" y="2551176"/>
            <a:ext cx="219456" cy="201168"/>
          </a:xfrm>
          <a:prstGeom prst="rightArrow">
            <a:avLst/>
          </a:prstGeom>
          <a:solidFill>
            <a:srgbClr val="C8CEDA"/>
          </a:solidFill>
          <a:ln w="12700">
            <a:solidFill>
              <a:srgbClr val="C8CED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646920" y="1874520"/>
            <a:ext cx="1856232" cy="1554480"/>
          </a:xfrm>
          <a:prstGeom prst="roundRect">
            <a:avLst>
              <a:gd name="adj" fmla="val 2353"/>
            </a:avLst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738360" y="2247595"/>
            <a:ext cx="16733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Vector DB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9720072" y="2745029"/>
            <a:ext cx="1709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685800" y="3611880"/>
            <a:ext cx="10817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여기까지 마치면 "검색 가능한 데이터베이스"가 완성됩니다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85800" y="4160520"/>
            <a:ext cx="2487168" cy="1737360"/>
          </a:xfrm>
          <a:prstGeom prst="roundRect">
            <a:avLst>
              <a:gd name="adj" fmla="val 2105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41832" y="4407408"/>
            <a:ext cx="420624" cy="420624"/>
          </a:xfrm>
          <a:prstGeom prst="ellipse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41832" y="44074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1472184" y="4407408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Ingestion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941832" y="5074920"/>
            <a:ext cx="2029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파일을 읽어 텍스트를 꺼냅니다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465576" y="4160520"/>
            <a:ext cx="2487168" cy="1737360"/>
          </a:xfrm>
          <a:prstGeom prst="roundRect">
            <a:avLst>
              <a:gd name="adj" fmla="val 2105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721608" y="4407408"/>
            <a:ext cx="420624" cy="420624"/>
          </a:xfrm>
          <a:prstGeom prst="ellipse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3721608" y="44074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4251960" y="4407408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Chunking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3721608" y="5074920"/>
            <a:ext cx="2029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큰 텍스트를 작은 조각으로 나눕니다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245352" y="4160520"/>
            <a:ext cx="2487168" cy="1737360"/>
          </a:xfrm>
          <a:prstGeom prst="roundRect">
            <a:avLst>
              <a:gd name="adj" fmla="val 2105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501384" y="4407408"/>
            <a:ext cx="420624" cy="420624"/>
          </a:xfrm>
          <a:prstGeom prst="ellipse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501384" y="44074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7031736" y="4407408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Embedding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6501384" y="5074920"/>
            <a:ext cx="2029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 조각을 벡터로 바꿉니다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9025128" y="4160520"/>
            <a:ext cx="2487168" cy="1737360"/>
          </a:xfrm>
          <a:prstGeom prst="roundRect">
            <a:avLst>
              <a:gd name="adj" fmla="val 2105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281160" y="4407408"/>
            <a:ext cx="420624" cy="420624"/>
          </a:xfrm>
          <a:prstGeom prst="ellipse">
            <a:avLst/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9281160" y="44074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9811512" y="4407408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</a:t>
            </a:r>
            <a:endParaRPr lang="en-US" sz="1400" dirty="0"/>
          </a:p>
        </p:txBody>
      </p:sp>
      <p:sp>
        <p:nvSpPr>
          <p:cNvPr id="43" name="Text 41"/>
          <p:cNvSpPr txBox="1"/>
          <p:nvPr/>
        </p:nvSpPr>
        <p:spPr>
          <a:xfrm>
            <a:off x="9281160" y="5074920"/>
            <a:ext cx="2029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텍스트와 벡터를 쌍으로 보관합니다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EXECUTION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 단계 — 질문마다 반복됩니다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874520"/>
            <a:ext cx="1856232" cy="1554480"/>
          </a:xfrm>
          <a:prstGeom prst="roundRect">
            <a:avLst>
              <a:gd name="adj" fmla="val 2353"/>
            </a:avLst>
          </a:prstGeom>
          <a:solidFill>
            <a:srgbClr val="24365C"/>
          </a:solidFill>
          <a:ln w="12700">
            <a:solidFill>
              <a:srgbClr val="24365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2247595"/>
            <a:ext cx="16733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58952" y="2745029"/>
            <a:ext cx="1709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 입력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624328" y="2551176"/>
            <a:ext cx="219456" cy="201168"/>
          </a:xfrm>
          <a:prstGeom prst="rightArrow">
            <a:avLst/>
          </a:prstGeom>
          <a:solidFill>
            <a:srgbClr val="C8CEDA"/>
          </a:solidFill>
          <a:ln w="12700">
            <a:solidFill>
              <a:srgbClr val="C8CED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926080" y="1874520"/>
            <a:ext cx="1856232" cy="1554480"/>
          </a:xfrm>
          <a:prstGeom prst="roundRect">
            <a:avLst>
              <a:gd name="adj" fmla="val 2353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017520" y="2247595"/>
            <a:ext cx="16733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벡터 변환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2999232" y="2745029"/>
            <a:ext cx="1709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Query Embedding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864608" y="2551176"/>
            <a:ext cx="219456" cy="201168"/>
          </a:xfrm>
          <a:prstGeom prst="rightArrow">
            <a:avLst/>
          </a:prstGeom>
          <a:solidFill>
            <a:srgbClr val="C8CEDA"/>
          </a:solidFill>
          <a:ln w="12700">
            <a:solidFill>
              <a:srgbClr val="C8CED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166360" y="1874520"/>
            <a:ext cx="1856232" cy="1554480"/>
          </a:xfrm>
          <a:prstGeom prst="roundRect">
            <a:avLst>
              <a:gd name="adj" fmla="val 2353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257800" y="2247595"/>
            <a:ext cx="16733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유사도 검색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5239512" y="2745029"/>
            <a:ext cx="1709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가까운 조각 찾기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104888" y="2551176"/>
            <a:ext cx="219456" cy="201168"/>
          </a:xfrm>
          <a:prstGeom prst="rightArrow">
            <a:avLst/>
          </a:prstGeom>
          <a:solidFill>
            <a:srgbClr val="C8CEDA"/>
          </a:solidFill>
          <a:ln w="12700">
            <a:solidFill>
              <a:srgbClr val="C8CED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06640" y="1874520"/>
            <a:ext cx="1856232" cy="1554480"/>
          </a:xfrm>
          <a:prstGeom prst="roundRect">
            <a:avLst>
              <a:gd name="adj" fmla="val 2353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498080" y="2247595"/>
            <a:ext cx="16733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Context 생성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7479792" y="2745029"/>
            <a:ext cx="1709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조각 합치기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9345168" y="2551176"/>
            <a:ext cx="219456" cy="201168"/>
          </a:xfrm>
          <a:prstGeom prst="rightArrow">
            <a:avLst/>
          </a:prstGeom>
          <a:solidFill>
            <a:srgbClr val="C8CEDA"/>
          </a:solidFill>
          <a:ln w="12700">
            <a:solidFill>
              <a:srgbClr val="C8CED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646920" y="1874520"/>
            <a:ext cx="1856232" cy="1554480"/>
          </a:xfrm>
          <a:prstGeom prst="roundRect">
            <a:avLst>
              <a:gd name="adj" fmla="val 2353"/>
            </a:avLst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738360" y="2247595"/>
            <a:ext cx="16733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LLM 답변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9720072" y="2745029"/>
            <a:ext cx="1709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근거로 생성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85800" y="3840480"/>
            <a:ext cx="10817352" cy="2103120"/>
          </a:xfrm>
          <a:prstGeom prst="roundRect">
            <a:avLst>
              <a:gd name="adj" fmla="val 1739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143000" y="4114800"/>
            <a:ext cx="9902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준비 단계와 반드시 맞춰야 할 것</a:t>
            </a:r>
            <a:endParaRPr lang="en-US" sz="1700" dirty="0"/>
          </a:p>
        </p:txBody>
      </p:sp>
      <p:sp>
        <p:nvSpPr>
          <p:cNvPr id="25" name="Text 23"/>
          <p:cNvSpPr txBox="1"/>
          <p:nvPr/>
        </p:nvSpPr>
        <p:spPr>
          <a:xfrm>
            <a:off x="1143000" y="4572000"/>
            <a:ext cx="99029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질문을 벡터로 바꿀 때, 준비 단계에서 쓴 것과 같은 Embedding 모델을 써야 합니다.</a:t>
            </a:r>
            <a:endParaRPr lang="en-US" sz="13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모델이 다르면 좌표계가 달라져서, 거리 계산 자체가 의미를 잃습니다.</a:t>
            </a:r>
            <a:endParaRPr lang="en-US" sz="13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실무에서 검색이 갑자기 엉망이 되는 원인 중 하나가 바로 이 모델 불일치입니다.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KEY TERMS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용어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645920"/>
            <a:ext cx="10817352" cy="621792"/>
          </a:xfrm>
          <a:prstGeom prst="roundRect">
            <a:avLst>
              <a:gd name="adj" fmla="val 5882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" y="1645920"/>
            <a:ext cx="2834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Ingestion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023360" y="1645920"/>
            <a:ext cx="6949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문서를 프로그램으로 불러오는 과정. PDF·TXT·웹페이지 등을 읽어들입니다.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85800" y="2377440"/>
            <a:ext cx="10817352" cy="621792"/>
          </a:xfrm>
          <a:prstGeom prst="roundRect">
            <a:avLst>
              <a:gd name="adj" fmla="val 5882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51560" y="2377440"/>
            <a:ext cx="2834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Chunking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023360" y="2377440"/>
            <a:ext cx="6949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큰 문서를 작은 조각으로 나누는 과정. 100페이지 책을 1-2페이지씩 끊습니다.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85800" y="3108960"/>
            <a:ext cx="10817352" cy="621792"/>
          </a:xfrm>
          <a:prstGeom prst="roundRect">
            <a:avLst>
              <a:gd name="adj" fmla="val 5882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51560" y="3108960"/>
            <a:ext cx="2834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Embedding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023360" y="3108960"/>
            <a:ext cx="6949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텍스트를 숫자 배열로 바꾸는 과정. 의미를 좌표로 표현합니다.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85800" y="3840480"/>
            <a:ext cx="10817352" cy="621792"/>
          </a:xfrm>
          <a:prstGeom prst="roundRect">
            <a:avLst>
              <a:gd name="adj" fmla="val 5882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51560" y="3840480"/>
            <a:ext cx="2834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Vector DB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023360" y="3840480"/>
            <a:ext cx="6949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벡터를 저장하고 검색하는 데이터베이스. 글자가 아니라 숫자를 담습니다.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85800" y="4572000"/>
            <a:ext cx="10817352" cy="621792"/>
          </a:xfrm>
          <a:prstGeom prst="roundRect">
            <a:avLst>
              <a:gd name="adj" fmla="val 5882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51560" y="4572000"/>
            <a:ext cx="2834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Similarity Search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4023360" y="4572000"/>
            <a:ext cx="6949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 벡터와 가장 가까운 저장 벡터들을 찾아오는 검색 방법입니다.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85800" y="5303520"/>
            <a:ext cx="10817352" cy="621792"/>
          </a:xfrm>
          <a:prstGeom prst="roundRect">
            <a:avLst>
              <a:gd name="adj" fmla="val 5882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51560" y="5303520"/>
            <a:ext cx="2834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Context Window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4023360" y="5303520"/>
            <a:ext cx="6949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AI에게 한 번에 넣을 수 있는 최대 텍스트 양. 여기에 한계가 있어 쪼갭니다.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1 · INGESTION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문서를 프로그램 안으로 불러오기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645920"/>
            <a:ext cx="5257800" cy="3017520"/>
          </a:xfrm>
          <a:prstGeom prst="roundRect">
            <a:avLst>
              <a:gd name="adj" fmla="val 1212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88136" y="1938528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고객지원팀이라면 이런 문서들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088136" y="2487168"/>
            <a:ext cx="4453128" cy="420624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25880" y="2487168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제품 매뉴얼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3246120" y="2487168"/>
            <a:ext cx="2148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manual.pdf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1088136" y="2999232"/>
            <a:ext cx="4453128" cy="420624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325880" y="2999232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자주 묻는 질문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3246120" y="2999232"/>
            <a:ext cx="2148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faq.txt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1088136" y="3511296"/>
            <a:ext cx="4453128" cy="420624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325880" y="3511296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배송 정책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3246120" y="3511296"/>
            <a:ext cx="2148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shipping_policy.docx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1088136" y="4023360"/>
            <a:ext cx="4453128" cy="420624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325880" y="4023360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반환 정책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3246120" y="4023360"/>
            <a:ext cx="2148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return_policy.pdf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245352" y="1645920"/>
            <a:ext cx="5257800" cy="3017520"/>
          </a:xfrm>
          <a:prstGeom prst="roundRect">
            <a:avLst>
              <a:gd name="adj" fmla="val 1212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647688" y="1938528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내부에서 벌어지는 일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647688" y="2514600"/>
            <a:ext cx="347472" cy="347472"/>
          </a:xfrm>
          <a:prstGeom prst="ellipse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647688" y="25146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7132320" y="251460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 형식 인식 (PDF? TXT? Word?)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647688" y="3026664"/>
            <a:ext cx="347472" cy="347472"/>
          </a:xfrm>
          <a:prstGeom prst="ellipse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647688" y="30266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7132320" y="3026664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해당 형식의 라이브러리로 열기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647688" y="3538728"/>
            <a:ext cx="347472" cy="347472"/>
          </a:xfrm>
          <a:prstGeom prst="ellipse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647688" y="35387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7132320" y="353872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파일에서 실제 텍스트 꺼내기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647688" y="4050792"/>
            <a:ext cx="347472" cy="347472"/>
          </a:xfrm>
          <a:prstGeom prst="ellipse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647688" y="40507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7132320" y="4050792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프로그램이 쓸 수 있게 메모리에 올리기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685800" y="4892040"/>
            <a:ext cx="10817352" cy="1051560"/>
          </a:xfrm>
          <a:prstGeom prst="roundRect">
            <a:avLst>
              <a:gd name="adj" fmla="val 3478"/>
            </a:avLst>
          </a:prstGeom>
          <a:solidFill>
            <a:srgbClr val="16243D"/>
          </a:solidFill>
          <a:ln w="12700">
            <a:solidFill>
              <a:srgbClr val="16243D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85800" y="5143500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쓰레기가 들어가면 쓰레기가 나옵니다 — 여기가 틀리면 뒤가 전부 틀립니다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2 · CHUNKING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문서를 쪼개야 하나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645920"/>
            <a:ext cx="5257800" cy="3017520"/>
          </a:xfrm>
          <a:prstGeom prst="roundRect">
            <a:avLst>
              <a:gd name="adj" fmla="val 1212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88136" y="1938528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피자로 생각하면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088136" y="2514600"/>
            <a:ext cx="445312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피자를 한 입에 넣을 수는 없습니다.</a:t>
            </a:r>
            <a:endParaRPr lang="en-US" sz="135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입 크기로 잘라서 먹습니다.</a:t>
            </a:r>
            <a:endParaRPr lang="en-US" sz="1350" dirty="0"/>
          </a:p>
          <a:p>
            <a:pPr marL="0" indent="0">
              <a:lnSpc>
                <a:spcPts val="2400"/>
              </a:lnSpc>
              <a:buNone/>
            </a:pPr>
            <a:endParaRPr lang="en-US" sz="135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100페이지 매뉴얼도 한 번에 AI에게</a:t>
            </a:r>
            <a:endParaRPr lang="en-US" sz="135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넣을 수 없습니다. Context Window에</a:t>
            </a:r>
            <a:endParaRPr lang="en-US" sz="135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한계가 있기 때문입니다.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45352" y="1645920"/>
            <a:ext cx="5257800" cy="3017520"/>
          </a:xfrm>
          <a:prstGeom prst="roundRect">
            <a:avLst>
              <a:gd name="adj" fmla="val 1212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647688" y="1938528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나뉩니다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647688" y="2395728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원본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647688" y="2651760"/>
            <a:ext cx="4453128" cy="5486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30568" y="265176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"제품 A의 기술 사양. 가로 100cm … 보증 기간은 2년입니다."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647688" y="3310128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Chunk 1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647688" y="3547872"/>
            <a:ext cx="4453128" cy="402336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30568" y="3547872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"제품 A의 기술 사양. 가로 100cm … 무게는 20kg."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647688" y="4005072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Chunk 2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647688" y="4242816"/>
            <a:ext cx="4453128" cy="402336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30568" y="4242816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"재질은 알루미늄 … 보증 기간은 2년입니다."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85800" y="4892040"/>
            <a:ext cx="10817352" cy="1051560"/>
          </a:xfrm>
          <a:prstGeom prst="roundRect">
            <a:avLst>
              <a:gd name="adj" fmla="val 3478"/>
            </a:avLst>
          </a:prstGeom>
          <a:solidFill>
            <a:srgbClr val="16243D"/>
          </a:solidFill>
          <a:ln w="12700">
            <a:solidFill>
              <a:srgbClr val="16243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85800" y="5143500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조각 하나하나가 검색 대상이 됩니다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CHUNK SIZE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조각의 크기가 검색 품질을 좌우합니다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627632"/>
            <a:ext cx="3401568" cy="3063240"/>
          </a:xfrm>
          <a:prstGeom prst="roundRect">
            <a:avLst>
              <a:gd name="adj" fmla="val 1194"/>
            </a:avLst>
          </a:prstGeom>
          <a:solidFill>
            <a:srgbClr val="F6E2DE"/>
          </a:solidFill>
          <a:ln w="12700">
            <a:solidFill>
              <a:srgbClr val="F6E2D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78408" y="1938528"/>
            <a:ext cx="2816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너무 작다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978408" y="2377440"/>
            <a:ext cx="2816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340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 단어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78408" y="2926080"/>
            <a:ext cx="28529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정보가 단편적이라</a:t>
            </a:r>
            <a:endParaRPr lang="en-US" sz="13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맥락 파악이 어렵습니다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978408" y="3977640"/>
            <a:ext cx="2852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B340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조건이 잘려나갑니다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43400" y="1627632"/>
            <a:ext cx="3401568" cy="3063240"/>
          </a:xfrm>
          <a:prstGeom prst="roundRect">
            <a:avLst>
              <a:gd name="adj" fmla="val 1194"/>
            </a:avLst>
          </a:prstGeom>
          <a:solidFill>
            <a:srgbClr val="E8F3EE"/>
          </a:solidFill>
          <a:ln w="12700">
            <a:solidFill>
              <a:srgbClr val="E8F3E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36008" y="1938528"/>
            <a:ext cx="2816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적절하다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636008" y="2377440"/>
            <a:ext cx="2816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300-500 단어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636008" y="2926080"/>
            <a:ext cx="28529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충분한 정보를 담으면서</a:t>
            </a:r>
            <a:endParaRPr lang="en-US" sz="13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의미 있는 단위가 됩니다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636008" y="3977640"/>
            <a:ext cx="2852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대부분 여기서 출발합니다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01000" y="1627632"/>
            <a:ext cx="3401568" cy="3063240"/>
          </a:xfrm>
          <a:prstGeom prst="roundRect">
            <a:avLst>
              <a:gd name="adj" fmla="val 1194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93608" y="1938528"/>
            <a:ext cx="2816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너무 크다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8293608" y="2377440"/>
            <a:ext cx="2816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2000 단어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293608" y="2926080"/>
            <a:ext cx="28529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Context Window를 낭비하고</a:t>
            </a:r>
            <a:endParaRPr lang="en-US" sz="13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불필요한 정보까지 섞입니다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293608" y="3977640"/>
            <a:ext cx="2852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노이즈가 늘어납니다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85800" y="4937760"/>
            <a:ext cx="10817352" cy="1051560"/>
          </a:xfrm>
          <a:prstGeom prst="roundRect">
            <a:avLst>
              <a:gd name="adj" fmla="val 3478"/>
            </a:avLst>
          </a:prstGeom>
          <a:solidFill>
            <a:srgbClr val="16243D"/>
          </a:solidFill>
          <a:ln w="12700">
            <a:solidFill>
              <a:srgbClr val="16243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85800" y="5189220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정답은 문서마다 다릅니다 — 14차시에서 직접 재서 정합니다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3 · EMBEDDING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텍스트를 숫자로 바꾸는 단계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828800"/>
            <a:ext cx="3349752" cy="1463040"/>
          </a:xfrm>
          <a:prstGeom prst="roundRect">
            <a:avLst>
              <a:gd name="adj" fmla="val 2500"/>
            </a:avLst>
          </a:prstGeom>
          <a:solidFill>
            <a:srgbClr val="24365C"/>
          </a:solidFill>
          <a:ln w="12700">
            <a:solidFill>
              <a:srgbClr val="24365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2179930"/>
            <a:ext cx="31668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 텍스트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58952" y="2648102"/>
            <a:ext cx="3203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"2024년 매출은 100억원"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117848" y="2459736"/>
            <a:ext cx="219456" cy="201168"/>
          </a:xfrm>
          <a:prstGeom prst="rightArrow">
            <a:avLst/>
          </a:prstGeom>
          <a:solidFill>
            <a:srgbClr val="C8CEDA"/>
          </a:solidFill>
          <a:ln w="12700">
            <a:solidFill>
              <a:srgbClr val="C8CED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419600" y="1828800"/>
            <a:ext cx="3349752" cy="1463040"/>
          </a:xfrm>
          <a:prstGeom prst="roundRect">
            <a:avLst>
              <a:gd name="adj" fmla="val 2500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11040" y="2179930"/>
            <a:ext cx="31668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Embedding 모델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492752" y="2648102"/>
            <a:ext cx="3203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문장의 의미를 분석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851648" y="2459736"/>
            <a:ext cx="219456" cy="201168"/>
          </a:xfrm>
          <a:prstGeom prst="rightArrow">
            <a:avLst/>
          </a:prstGeom>
          <a:solidFill>
            <a:srgbClr val="C8CEDA"/>
          </a:solidFill>
          <a:ln w="12700">
            <a:solidFill>
              <a:srgbClr val="C8CED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53400" y="1828800"/>
            <a:ext cx="3349752" cy="1463040"/>
          </a:xfrm>
          <a:prstGeom prst="roundRect">
            <a:avLst>
              <a:gd name="adj" fmla="val 2500"/>
            </a:avLst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44840" y="2179930"/>
            <a:ext cx="31668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벡터 출력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8226552" y="2648102"/>
            <a:ext cx="3203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[0.23, -0.15, 0.87, …]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3474720"/>
            <a:ext cx="10817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보통 384개 또는 1536개의 숫자로 이루어진 배열이 나옵니다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85800" y="3977640"/>
            <a:ext cx="3401568" cy="1234440"/>
          </a:xfrm>
          <a:prstGeom prst="roundRect">
            <a:avLst>
              <a:gd name="adj" fmla="val 2963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78408" y="4187952"/>
            <a:ext cx="2816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 효율성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978408" y="4572000"/>
            <a:ext cx="2852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벡터 거리 계산이 글자 비교보다 훨씬 빠릅니다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343400" y="3977640"/>
            <a:ext cx="3401568" cy="1234440"/>
          </a:xfrm>
          <a:prstGeom prst="roundRect">
            <a:avLst>
              <a:gd name="adj" fmla="val 2963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636008" y="4187952"/>
            <a:ext cx="2816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의미 유사성</a:t>
            </a:r>
            <a:endParaRPr lang="en-US" sz="1450" dirty="0"/>
          </a:p>
        </p:txBody>
      </p:sp>
      <p:sp>
        <p:nvSpPr>
          <p:cNvPr id="21" name="Text 19"/>
          <p:cNvSpPr txBox="1"/>
          <p:nvPr/>
        </p:nvSpPr>
        <p:spPr>
          <a:xfrm>
            <a:off x="4636008" y="4572000"/>
            <a:ext cx="2852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뜻이 비슷한 문장은 벡터도 가까워집니다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001000" y="3977640"/>
            <a:ext cx="3401568" cy="1234440"/>
          </a:xfrm>
          <a:prstGeom prst="roundRect">
            <a:avLst>
              <a:gd name="adj" fmla="val 2963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293608" y="4187952"/>
            <a:ext cx="2816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수학적 연산</a:t>
            </a:r>
            <a:endParaRPr lang="en-US" sz="1450" dirty="0"/>
          </a:p>
        </p:txBody>
      </p:sp>
      <p:sp>
        <p:nvSpPr>
          <p:cNvPr id="24" name="Text 22"/>
          <p:cNvSpPr txBox="1"/>
          <p:nvPr/>
        </p:nvSpPr>
        <p:spPr>
          <a:xfrm>
            <a:off x="8293608" y="4572000"/>
            <a:ext cx="2852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숫자라서 더하고 비교하는 계산이 가능합니다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685800" y="5440680"/>
            <a:ext cx="10817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벡터는 결국 "의미를 숫자로 표현한 것"입니다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WHY IT WORKS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비슷한 뜻은 비슷한 숫자가 됩니다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371600"/>
            <a:ext cx="10817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실제로는 숫자가 수백 개지만, 이해를 위해 3개로 줄여보겠습니다.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1920240"/>
            <a:ext cx="10817352" cy="676656"/>
          </a:xfrm>
          <a:prstGeom prst="roundRect">
            <a:avLst>
              <a:gd name="adj" fmla="val 5405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280160" y="1920240"/>
            <a:ext cx="2926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"안녕하세요"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4297680" y="1920240"/>
            <a:ext cx="457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8CE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937760" y="1920240"/>
            <a:ext cx="5486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[ 0.80,  0.20, -0.10 ]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85800" y="2706624"/>
            <a:ext cx="10817352" cy="676656"/>
          </a:xfrm>
          <a:prstGeom prst="roundRect">
            <a:avLst>
              <a:gd name="adj" fmla="val 5405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280160" y="2706624"/>
            <a:ext cx="2926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"안녕"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297680" y="2706624"/>
            <a:ext cx="457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8CE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937760" y="2706624"/>
            <a:ext cx="5486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[ 0.75,  0.25,  0.00 ]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85800" y="3493008"/>
            <a:ext cx="10817352" cy="676656"/>
          </a:xfrm>
          <a:prstGeom prst="roundRect">
            <a:avLst>
              <a:gd name="adj" fmla="val 5405"/>
            </a:avLst>
          </a:prstGeom>
          <a:solidFill>
            <a:srgbClr val="F6E2DE"/>
          </a:solidFill>
          <a:ln w="12700">
            <a:solidFill>
              <a:srgbClr val="F6E2D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280160" y="3493008"/>
            <a:ext cx="2926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340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"고양이"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297680" y="3493008"/>
            <a:ext cx="457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8CE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937760" y="3493008"/>
            <a:ext cx="5486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 -0.50,  0.90,  0.30 ]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85800" y="4434840"/>
            <a:ext cx="10817352" cy="1554480"/>
          </a:xfrm>
          <a:prstGeom prst="roundRect">
            <a:avLst>
              <a:gd name="adj" fmla="val 2353"/>
            </a:avLst>
          </a:prstGeom>
          <a:solidFill>
            <a:srgbClr val="E8F3EE"/>
          </a:solidFill>
          <a:ln w="12700">
            <a:solidFill>
              <a:srgbClr val="E8F3E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143000" y="4681728"/>
            <a:ext cx="9902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앞의 둘은 벡터가 가깝고, 마지막 하나는 완전히 다릅니다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1143000" y="5120640"/>
            <a:ext cx="99029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글자가 달라도 뜻이 같으면 가까운 자리에 놓입니다. 그래서 "색깔은?"으로 "색상은 검은색"을 찾아냅니다.</a:t>
            </a:r>
            <a:endParaRPr lang="en-US" sz="13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키워드 검색으로는 불가능한 일이고, 이것이 벡터 검색의 존재 이유입니다.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4 · VECTOR DB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텍스트와 벡터를 쌍으로 저장합니다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645920"/>
            <a:ext cx="10817352" cy="512064"/>
          </a:xfrm>
          <a:prstGeom prst="roundRect">
            <a:avLst>
              <a:gd name="adj" fmla="val 7143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" y="1645920"/>
            <a:ext cx="1005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ID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1965960" y="1645920"/>
            <a:ext cx="4663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원본 텍스트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6903720" y="1645920"/>
            <a:ext cx="43251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벡터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85800" y="2212848"/>
            <a:ext cx="10817352" cy="512064"/>
          </a:xfrm>
          <a:prstGeom prst="roundRect">
            <a:avLst>
              <a:gd name="adj" fmla="val 7143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51560" y="2212848"/>
            <a:ext cx="1005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965960" y="2212848"/>
            <a:ext cx="4663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"제품 A의 기술 사양. 가로 100cm…"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903720" y="2212848"/>
            <a:ext cx="43251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[0.23, -0.15, 0.87, …]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2779776"/>
            <a:ext cx="1005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965960" y="2779776"/>
            <a:ext cx="4663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"재질은 알루미늄. 색상은…"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903720" y="2779776"/>
            <a:ext cx="43251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[0.45, 0.12, -0.30, …]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85800" y="3346704"/>
            <a:ext cx="10817352" cy="512064"/>
          </a:xfrm>
          <a:prstGeom prst="roundRect">
            <a:avLst>
              <a:gd name="adj" fmla="val 7143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51560" y="3346704"/>
            <a:ext cx="1005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965960" y="3346704"/>
            <a:ext cx="4663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"보증 기간은 2년입니다"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903720" y="3346704"/>
            <a:ext cx="43251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[-0.12, 0.56, 0.24, …]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051560" y="3913632"/>
            <a:ext cx="1005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965960" y="3913632"/>
            <a:ext cx="4663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"배송은 3-5일 소요됩니다"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903720" y="3913632"/>
            <a:ext cx="43251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[0.78, -0.05, 0.19, …]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85800" y="4526280"/>
            <a:ext cx="10817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원본 텍스트를 함께 저장해야 검색 후 AI에게 읽힐 수 있습니다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85800" y="4983480"/>
            <a:ext cx="10817352" cy="1005840"/>
          </a:xfrm>
          <a:prstGeom prst="roundRect">
            <a:avLst>
              <a:gd name="adj" fmla="val 3636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051560" y="5138928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대표적인 Vector DB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3520440" y="5138928"/>
            <a:ext cx="7406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Chroma · FAISS · Pinecone · Weaviate · Milvus     |     이 과정에서는 Chroma와 FAISS를 씁니다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5 · SIMILARITY SEARCH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가장 가까운 조각을 찾아옵니다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353312"/>
            <a:ext cx="10817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 : "우리 제품의 색상은 뭐예요?"</a:t>
            </a:r>
            <a:endParaRPr lang="en-US" sz="14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685800" y="1783080"/>
          <a:ext cx="6400800" cy="2788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7406640" y="1783080"/>
            <a:ext cx="4096512" cy="2788920"/>
          </a:xfrm>
          <a:prstGeom prst="roundRect">
            <a:avLst>
              <a:gd name="adj" fmla="val 1311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90688" y="208483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거리가 가까운 순서대로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7790688" y="2606040"/>
            <a:ext cx="3383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질문을 벡터로 바꾼 뒤</a:t>
            </a:r>
            <a:endParaRPr lang="en-US" sz="13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저장된 모든 조각 벡터와</a:t>
            </a:r>
            <a:endParaRPr lang="en-US" sz="13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거리를 계산합니다.</a:t>
            </a:r>
            <a:endParaRPr lang="en-US" sz="1300" dirty="0"/>
          </a:p>
          <a:p>
            <a:pPr marL="0" indent="0">
              <a:lnSpc>
                <a:spcPts val="2400"/>
              </a:lnSpc>
              <a:buNone/>
            </a:pPr>
            <a:endParaRPr lang="en-US" sz="13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가까운 순으로 상위 3개 정도만</a:t>
            </a:r>
            <a:endParaRPr lang="en-US" sz="13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골라서 AI에게 넘깁니다.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85800" y="4846320"/>
            <a:ext cx="10817352" cy="1051560"/>
          </a:xfrm>
          <a:prstGeom prst="roundRect">
            <a:avLst>
              <a:gd name="adj" fmla="val 3478"/>
            </a:avLst>
          </a:prstGeom>
          <a:solidFill>
            <a:srgbClr val="16243D"/>
          </a:solidFill>
          <a:ln w="12700">
            <a:solidFill>
              <a:srgbClr val="16243D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85800" y="5097780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여기서 엉뚱한 조각을 집어오면, 아무리 좋은 LLM도 틀린 답을 냅니다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COMPARISON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키워드 검색과 무엇이 다른가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737360"/>
            <a:ext cx="10817352" cy="640080"/>
          </a:xfrm>
          <a:prstGeom prst="roundRect">
            <a:avLst>
              <a:gd name="adj" fmla="val 5714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" y="17373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구분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2880360" y="1737360"/>
            <a:ext cx="3977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일반 검색 (Keyword)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086600" y="1737360"/>
            <a:ext cx="41879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벡터 검색 (Similarity)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85800" y="2432304"/>
            <a:ext cx="10817352" cy="640080"/>
          </a:xfrm>
          <a:prstGeom prst="roundRect">
            <a:avLst>
              <a:gd name="adj" fmla="val 5714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51560" y="2432304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원리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2880360" y="2432304"/>
            <a:ext cx="3977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특정 단어가 들어있는지 확인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7086600" y="2432304"/>
            <a:ext cx="41879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의미가 얼마나 가까운지 계산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3127248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예시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2880360" y="3127248"/>
            <a:ext cx="3977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"색상"을 포함한 문서만 찾음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7086600" y="3127248"/>
            <a:ext cx="41879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"색깔은?"으로 "색상은…"도 찾음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85800" y="3822192"/>
            <a:ext cx="10817352" cy="640080"/>
          </a:xfrm>
          <a:prstGeom prst="roundRect">
            <a:avLst>
              <a:gd name="adj" fmla="val 5714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51560" y="3822192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장점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2880360" y="3822192"/>
            <a:ext cx="3977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정확하고 빠름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7086600" y="3822192"/>
            <a:ext cx="41879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표현이 달라도 찾아냄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1051560" y="4517136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단점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2880360" y="4517136"/>
            <a:ext cx="3977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표현이 다르면 못 찾음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7086600" y="4517136"/>
            <a:ext cx="41879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가끔 관련 없는 것도 걸림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85800" y="5303520"/>
            <a:ext cx="10817352" cy="868680"/>
          </a:xfrm>
          <a:prstGeom prst="roundRect">
            <a:avLst>
              <a:gd name="adj" fmla="val 4211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85800" y="5463540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둘을 함께 쓰는 방법도 있습니다 — 3부에서 다룹니다</a:t>
            </a:r>
            <a:endParaRPr lang="en-US" sz="1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FULL PROCESS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10단계 한눈에 보기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35331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준비 단계 — 한 번만 수행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85800" y="1700784"/>
            <a:ext cx="10817352" cy="438912"/>
          </a:xfrm>
          <a:prstGeom prst="roundRect">
            <a:avLst>
              <a:gd name="adj" fmla="val 8333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5840" y="1700784"/>
            <a:ext cx="365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1700784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Ingestion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4023360" y="1700784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PDF · TXT · DOCX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7406640" y="1700784"/>
            <a:ext cx="320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CE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7818120" y="1700784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읽어들인 전체 텍스트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85800" y="2212848"/>
            <a:ext cx="10817352" cy="43891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05840" y="2212848"/>
            <a:ext cx="365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508760" y="2212848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Chunking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4023360" y="2212848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텍스트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7406640" y="2212848"/>
            <a:ext cx="320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CE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7818120" y="2212848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작은 조각 여러 개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85800" y="2724912"/>
            <a:ext cx="10817352" cy="438912"/>
          </a:xfrm>
          <a:prstGeom prst="roundRect">
            <a:avLst>
              <a:gd name="adj" fmla="val 8333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005840" y="2724912"/>
            <a:ext cx="365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1508760" y="2724912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Embedding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4023360" y="2724912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 조각의 텍스트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7406640" y="2724912"/>
            <a:ext cx="320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CE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7818120" y="2724912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 조각의 벡터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85800" y="3236976"/>
            <a:ext cx="10817352" cy="43891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005840" y="3236976"/>
            <a:ext cx="365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1508760" y="3236976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4023360" y="3236976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텍스트 + 벡터 쌍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7406640" y="3236976"/>
            <a:ext cx="320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CE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7818120" y="3236976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 가능한 DB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685800" y="384048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 단계 — 질문마다 수행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85800" y="4187952"/>
            <a:ext cx="10817352" cy="274320"/>
          </a:xfrm>
          <a:prstGeom prst="roundRect">
            <a:avLst>
              <a:gd name="adj" fmla="val 13333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005840" y="4187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1508760" y="41879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Query Embedding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4023360" y="418795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 질문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7406640" y="418795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CE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7818120" y="418795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질문의 벡터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85800" y="4517136"/>
            <a:ext cx="10817352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1005840" y="451713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1508760" y="451713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Similarity Search</a:t>
            </a:r>
            <a:endParaRPr lang="en-US" sz="1150" dirty="0"/>
          </a:p>
        </p:txBody>
      </p:sp>
      <p:sp>
        <p:nvSpPr>
          <p:cNvPr id="39" name="Text 37"/>
          <p:cNvSpPr txBox="1"/>
          <p:nvPr/>
        </p:nvSpPr>
        <p:spPr>
          <a:xfrm>
            <a:off x="4023360" y="451713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 벡터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7406640" y="4517136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CE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7818120" y="451713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상위 K개 조각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85800" y="4846320"/>
            <a:ext cx="10817352" cy="274320"/>
          </a:xfrm>
          <a:prstGeom prst="roundRect">
            <a:avLst>
              <a:gd name="adj" fmla="val 13333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1005840" y="48463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1100" dirty="0"/>
          </a:p>
        </p:txBody>
      </p:sp>
      <p:sp>
        <p:nvSpPr>
          <p:cNvPr id="44" name="Text 42"/>
          <p:cNvSpPr txBox="1"/>
          <p:nvPr/>
        </p:nvSpPr>
        <p:spPr>
          <a:xfrm>
            <a:off x="1508760" y="48463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Context 생성</a:t>
            </a:r>
            <a:endParaRPr lang="en-US" sz="1150" dirty="0"/>
          </a:p>
        </p:txBody>
      </p:sp>
      <p:sp>
        <p:nvSpPr>
          <p:cNvPr id="45" name="Text 43"/>
          <p:cNvSpPr txBox="1"/>
          <p:nvPr/>
        </p:nvSpPr>
        <p:spPr>
          <a:xfrm>
            <a:off x="4023360" y="4846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검색된 조각들</a:t>
            </a:r>
            <a:endParaRPr lang="en-US" sz="1100" dirty="0"/>
          </a:p>
        </p:txBody>
      </p:sp>
      <p:sp>
        <p:nvSpPr>
          <p:cNvPr id="46" name="Text 44"/>
          <p:cNvSpPr txBox="1"/>
          <p:nvPr/>
        </p:nvSpPr>
        <p:spPr>
          <a:xfrm>
            <a:off x="7406640" y="484632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CE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000" dirty="0"/>
          </a:p>
        </p:txBody>
      </p:sp>
      <p:sp>
        <p:nvSpPr>
          <p:cNvPr id="47" name="Text 45"/>
          <p:cNvSpPr txBox="1"/>
          <p:nvPr/>
        </p:nvSpPr>
        <p:spPr>
          <a:xfrm>
            <a:off x="7818120" y="48463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하나로 합친 Context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685800" y="5175504"/>
            <a:ext cx="10817352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1005840" y="517550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en-US" sz="1100" dirty="0"/>
          </a:p>
        </p:txBody>
      </p:sp>
      <p:sp>
        <p:nvSpPr>
          <p:cNvPr id="50" name="Text 48"/>
          <p:cNvSpPr txBox="1"/>
          <p:nvPr/>
        </p:nvSpPr>
        <p:spPr>
          <a:xfrm>
            <a:off x="1508760" y="517550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프롬프트 조합</a:t>
            </a:r>
            <a:endParaRPr lang="en-US" sz="1150" dirty="0"/>
          </a:p>
        </p:txBody>
      </p:sp>
      <p:sp>
        <p:nvSpPr>
          <p:cNvPr id="51" name="Text 49"/>
          <p:cNvSpPr txBox="1"/>
          <p:nvPr/>
        </p:nvSpPr>
        <p:spPr>
          <a:xfrm>
            <a:off x="4023360" y="517550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Context + 질문</a:t>
            </a:r>
            <a:endParaRPr lang="en-US" sz="1100" dirty="0"/>
          </a:p>
        </p:txBody>
      </p:sp>
      <p:sp>
        <p:nvSpPr>
          <p:cNvPr id="52" name="Text 50"/>
          <p:cNvSpPr txBox="1"/>
          <p:nvPr/>
        </p:nvSpPr>
        <p:spPr>
          <a:xfrm>
            <a:off x="7406640" y="5175504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CE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000" dirty="0"/>
          </a:p>
        </p:txBody>
      </p:sp>
      <p:sp>
        <p:nvSpPr>
          <p:cNvPr id="53" name="Text 51"/>
          <p:cNvSpPr txBox="1"/>
          <p:nvPr/>
        </p:nvSpPr>
        <p:spPr>
          <a:xfrm>
            <a:off x="7818120" y="517550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최종 프롬프트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685800" y="5504688"/>
            <a:ext cx="10817352" cy="274320"/>
          </a:xfrm>
          <a:prstGeom prst="roundRect">
            <a:avLst>
              <a:gd name="adj" fmla="val 13333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1005840" y="55046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en-US" sz="1100" dirty="0"/>
          </a:p>
        </p:txBody>
      </p:sp>
      <p:sp>
        <p:nvSpPr>
          <p:cNvPr id="56" name="Text 54"/>
          <p:cNvSpPr txBox="1"/>
          <p:nvPr/>
        </p:nvSpPr>
        <p:spPr>
          <a:xfrm>
            <a:off x="1508760" y="55046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LLM 호출</a:t>
            </a:r>
            <a:endParaRPr lang="en-US" sz="1150" dirty="0"/>
          </a:p>
        </p:txBody>
      </p:sp>
      <p:sp>
        <p:nvSpPr>
          <p:cNvPr id="57" name="Text 55"/>
          <p:cNvSpPr txBox="1"/>
          <p:nvPr/>
        </p:nvSpPr>
        <p:spPr>
          <a:xfrm>
            <a:off x="4023360" y="550468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최종 프롬프트</a:t>
            </a:r>
            <a:endParaRPr lang="en-US" sz="1100" dirty="0"/>
          </a:p>
        </p:txBody>
      </p:sp>
      <p:sp>
        <p:nvSpPr>
          <p:cNvPr id="58" name="Text 56"/>
          <p:cNvSpPr txBox="1"/>
          <p:nvPr/>
        </p:nvSpPr>
        <p:spPr>
          <a:xfrm>
            <a:off x="7406640" y="550468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CE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000" dirty="0"/>
          </a:p>
        </p:txBody>
      </p:sp>
      <p:sp>
        <p:nvSpPr>
          <p:cNvPr id="59" name="Text 57"/>
          <p:cNvSpPr txBox="1"/>
          <p:nvPr/>
        </p:nvSpPr>
        <p:spPr>
          <a:xfrm>
            <a:off x="7818120" y="550468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답변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685800" y="5833872"/>
            <a:ext cx="10817352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1005840" y="58338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en-US" sz="1100" dirty="0"/>
          </a:p>
        </p:txBody>
      </p:sp>
      <p:sp>
        <p:nvSpPr>
          <p:cNvPr id="62" name="Text 60"/>
          <p:cNvSpPr txBox="1"/>
          <p:nvPr/>
        </p:nvSpPr>
        <p:spPr>
          <a:xfrm>
            <a:off x="1508760" y="58338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전달</a:t>
            </a:r>
            <a:endParaRPr lang="en-US" sz="1150" dirty="0"/>
          </a:p>
        </p:txBody>
      </p:sp>
      <p:sp>
        <p:nvSpPr>
          <p:cNvPr id="63" name="Text 61"/>
          <p:cNvSpPr txBox="1"/>
          <p:nvPr/>
        </p:nvSpPr>
        <p:spPr>
          <a:xfrm>
            <a:off x="4023360" y="583387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답변</a:t>
            </a:r>
            <a:endParaRPr lang="en-US" sz="1100" dirty="0"/>
          </a:p>
        </p:txBody>
      </p:sp>
      <p:sp>
        <p:nvSpPr>
          <p:cNvPr id="64" name="Text 62"/>
          <p:cNvSpPr txBox="1"/>
          <p:nvPr/>
        </p:nvSpPr>
        <p:spPr>
          <a:xfrm>
            <a:off x="7406640" y="583387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CE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000" dirty="0"/>
          </a:p>
        </p:txBody>
      </p:sp>
      <p:sp>
        <p:nvSpPr>
          <p:cNvPr id="65" name="Text 63"/>
          <p:cNvSpPr txBox="1"/>
          <p:nvPr/>
        </p:nvSpPr>
        <p:spPr>
          <a:xfrm>
            <a:off x="7818120" y="583387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사용자에게 표시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WHY EACH STEP MATTERS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단계가 무너지면 어떻게 되나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627632"/>
            <a:ext cx="5257800" cy="1874520"/>
          </a:xfrm>
          <a:prstGeom prst="roundRect">
            <a:avLst>
              <a:gd name="adj" fmla="val 1951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88136" y="192024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Ingestion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088136" y="2450592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텍스트를 제대로 못 꺼내면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1088136" y="286207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뒤의 모든 단계가 틀린 데이터로 돌아갑니다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45352" y="1627632"/>
            <a:ext cx="5257800" cy="1874520"/>
          </a:xfrm>
          <a:prstGeom prst="roundRect">
            <a:avLst>
              <a:gd name="adj" fmla="val 1951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647688" y="192024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Chunking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6647688" y="2450592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조각 크기가 어긋나면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6647688" y="286207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의미가 잘리거나 노이즈가 섞입니다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85800" y="3703320"/>
            <a:ext cx="5257800" cy="1874520"/>
          </a:xfrm>
          <a:prstGeom prst="roundRect">
            <a:avLst>
              <a:gd name="adj" fmla="val 1951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88136" y="399592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Embedding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1088136" y="4526280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의미를 제대로 담지 못하면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1088136" y="493776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비슷한 표현을 찾아내지 못합니다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45352" y="3703320"/>
            <a:ext cx="5257800" cy="1874520"/>
          </a:xfrm>
          <a:prstGeom prst="roundRect">
            <a:avLst>
              <a:gd name="adj" fmla="val 1951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647688" y="399592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Similarity Search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6647688" y="4526280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엉뚱한 조각을 가져오면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6647688" y="493776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아무리 좋은 LLM도 틀린 답을 냅니다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TODAY'S ACTIVITY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차시의 학습 활동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371600"/>
            <a:ext cx="10817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오늘도 코드는 없습니다. 대신 전체 구조를 스스로 그려보는 것이 과제입니다.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1874520"/>
            <a:ext cx="5257800" cy="2880360"/>
          </a:xfrm>
          <a:prstGeom prst="roundRect">
            <a:avLst>
              <a:gd name="adj" fmla="val 1270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88136" y="2194560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강의 청취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088136" y="2633472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50분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1088136" y="3154680"/>
            <a:ext cx="4480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0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각 단계별 상세 설명</a:t>
            </a:r>
            <a:endParaRPr lang="en-US" sz="1350" dirty="0"/>
          </a:p>
          <a:p>
            <a:pPr marL="0" indent="0">
              <a:lnSpc>
                <a:spcPts val="30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실제 예시로 흐름 따라가기</a:t>
            </a:r>
            <a:endParaRPr lang="en-US" sz="1350" dirty="0"/>
          </a:p>
          <a:p>
            <a:pPr marL="0" indent="0">
              <a:lnSpc>
                <a:spcPts val="30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Embedding 원리 이해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45352" y="1874520"/>
            <a:ext cx="5257800" cy="2880360"/>
          </a:xfrm>
          <a:prstGeom prst="roundRect">
            <a:avLst>
              <a:gd name="adj" fmla="val 1270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647688" y="2194560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개념 정리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6647688" y="2633472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10분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6647688" y="3154680"/>
            <a:ext cx="4480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0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5가지 핵심 단계 정리</a:t>
            </a:r>
            <a:endParaRPr lang="en-US" sz="1350" dirty="0"/>
          </a:p>
          <a:p>
            <a:pPr marL="0" indent="0">
              <a:lnSpc>
                <a:spcPts val="30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각 단계의 목적 확인</a:t>
            </a:r>
            <a:endParaRPr lang="en-US" sz="1350" dirty="0"/>
          </a:p>
          <a:p>
            <a:pPr marL="0" indent="0">
              <a:lnSpc>
                <a:spcPts val="30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막히는 지점 질문으로 정리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85800" y="5029200"/>
            <a:ext cx="10817352" cy="960120"/>
          </a:xfrm>
          <a:prstGeom prst="roundRect">
            <a:avLst>
              <a:gd name="adj" fmla="val 3810"/>
            </a:avLst>
          </a:prstGeom>
          <a:solidFill>
            <a:srgbClr val="16243D"/>
          </a:solidFill>
          <a:ln w="12700">
            <a:solidFill>
              <a:srgbClr val="16243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5234940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백지에 10단계를 순서대로 써보면 이해했는지 바로 드러납니다</a:t>
            </a:r>
            <a:endParaRPr lang="en-US" sz="17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CHECKLIST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 차시 체크리스트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719072"/>
            <a:ext cx="5257800" cy="3840480"/>
          </a:xfrm>
          <a:prstGeom prst="roundRect">
            <a:avLst>
              <a:gd name="adj" fmla="val 952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88136" y="20116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단계별 이해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088136" y="2651760"/>
            <a:ext cx="44805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0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Ingestion이 무엇이고 왜 필요한지 안다</a:t>
            </a:r>
            <a:endParaRPr lang="en-US" sz="1300" dirty="0"/>
          </a:p>
          <a:p>
            <a:pPr marL="0" indent="0">
              <a:lnSpc>
                <a:spcPts val="30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Chunk size의 영향을 설명할 수 있다</a:t>
            </a:r>
            <a:endParaRPr lang="en-US" sz="1300" dirty="0"/>
          </a:p>
          <a:p>
            <a:pPr marL="0" indent="0">
              <a:lnSpc>
                <a:spcPts val="30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Embedding이 하는 일을 이해했다</a:t>
            </a:r>
            <a:endParaRPr lang="en-US" sz="1300" dirty="0"/>
          </a:p>
          <a:p>
            <a:pPr marL="0" indent="0">
              <a:lnSpc>
                <a:spcPts val="30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Vector DB가 무엇인지 설명할 수 있다</a:t>
            </a:r>
            <a:endParaRPr lang="en-US" sz="1300" dirty="0"/>
          </a:p>
          <a:p>
            <a:pPr marL="0" indent="0">
              <a:lnSpc>
                <a:spcPts val="30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Similarity Search의 원리를 이해했다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45352" y="1719072"/>
            <a:ext cx="5257800" cy="3840480"/>
          </a:xfrm>
          <a:prstGeom prst="roundRect">
            <a:avLst>
              <a:gd name="adj" fmla="val 952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647688" y="20116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구조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647688" y="2651760"/>
            <a:ext cx="44805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0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준비 단계와 실행 단계를 구분할 수 있다</a:t>
            </a:r>
            <a:endParaRPr lang="en-US" sz="1300" dirty="0"/>
          </a:p>
          <a:p>
            <a:pPr marL="0" indent="0">
              <a:lnSpc>
                <a:spcPts val="30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10단계 전체를 순서대로 말할 수 있다</a:t>
            </a:r>
            <a:endParaRPr lang="en-US" sz="1300" dirty="0"/>
          </a:p>
          <a:p>
            <a:pPr marL="0" indent="0">
              <a:lnSpc>
                <a:spcPts val="30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키워드 검색과 벡터 검색의 차이를 안다</a:t>
            </a:r>
            <a:endParaRPr lang="en-US" sz="1300" dirty="0"/>
          </a:p>
          <a:p>
            <a:pPr marL="0" indent="0">
              <a:lnSpc>
                <a:spcPts val="30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같은 Embedding 모델을 써야 하는 이유를 안다</a:t>
            </a:r>
            <a:endParaRPr lang="en-US" sz="1300" dirty="0"/>
          </a:p>
          <a:p>
            <a:pPr marL="0" indent="0">
              <a:lnSpc>
                <a:spcPts val="30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다음 차시 코드 작성 준비가 되었다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NEXT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차시 미리보기 — 4차시 실습 환경 구축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417320"/>
            <a:ext cx="10817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이제 손을 움직일 시간입니다. 개발 환경을 갖추고 첫 코드를 돌려봅니다.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2011680"/>
            <a:ext cx="2416302" cy="1554480"/>
          </a:xfrm>
          <a:prstGeom prst="roundRect">
            <a:avLst>
              <a:gd name="adj" fmla="val 2353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2384755"/>
            <a:ext cx="223342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Python 설치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58952" y="2882189"/>
            <a:ext cx="22699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프로그래밍의 기본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184398" y="2688336"/>
            <a:ext cx="219456" cy="201168"/>
          </a:xfrm>
          <a:prstGeom prst="rightArrow">
            <a:avLst/>
          </a:prstGeom>
          <a:solidFill>
            <a:srgbClr val="C8CEDA"/>
          </a:solidFill>
          <a:ln w="12700">
            <a:solidFill>
              <a:srgbClr val="C8CED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86150" y="2011680"/>
            <a:ext cx="2416302" cy="1554480"/>
          </a:xfrm>
          <a:prstGeom prst="roundRect">
            <a:avLst>
              <a:gd name="adj" fmla="val 2353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577590" y="2384755"/>
            <a:ext cx="223342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가상 환경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559302" y="2882189"/>
            <a:ext cx="22699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프로젝트별 독립 환경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984748" y="2688336"/>
            <a:ext cx="219456" cy="201168"/>
          </a:xfrm>
          <a:prstGeom prst="rightArrow">
            <a:avLst/>
          </a:prstGeom>
          <a:solidFill>
            <a:srgbClr val="C8CEDA"/>
          </a:solidFill>
          <a:ln w="12700">
            <a:solidFill>
              <a:srgbClr val="C8CED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86500" y="2011680"/>
            <a:ext cx="2416302" cy="1554480"/>
          </a:xfrm>
          <a:prstGeom prst="roundRect">
            <a:avLst>
              <a:gd name="adj" fmla="val 2353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77940" y="2384755"/>
            <a:ext cx="223342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라이브러리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359652" y="2882189"/>
            <a:ext cx="22699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LangChain · FAISS · API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785098" y="2688336"/>
            <a:ext cx="219456" cy="201168"/>
          </a:xfrm>
          <a:prstGeom prst="rightArrow">
            <a:avLst/>
          </a:prstGeom>
          <a:solidFill>
            <a:srgbClr val="C8CEDA"/>
          </a:solidFill>
          <a:ln w="12700">
            <a:solidFill>
              <a:srgbClr val="C8CED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086850" y="2011680"/>
            <a:ext cx="2416302" cy="1554480"/>
          </a:xfrm>
          <a:prstGeom prst="roundRect">
            <a:avLst>
              <a:gd name="adj" fmla="val 2353"/>
            </a:avLst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178290" y="2384755"/>
            <a:ext cx="223342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Hello RAG!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9160002" y="2882189"/>
            <a:ext cx="22699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첫 코드 실행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85800" y="3977640"/>
            <a:ext cx="5257800" cy="1691640"/>
          </a:xfrm>
          <a:prstGeom prst="roundRect">
            <a:avLst>
              <a:gd name="adj" fmla="val 2162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088136" y="4224528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4차시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088136" y="4681728"/>
            <a:ext cx="44531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환경만 갖춥니다. 오늘 배운 구조를</a:t>
            </a:r>
            <a:endParaRPr lang="en-US" sz="13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코드로 옮기기 위한 준비 작업입니다.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6245352" y="3977640"/>
            <a:ext cx="5257800" cy="1691640"/>
          </a:xfrm>
          <a:prstGeom prst="roundRect">
            <a:avLst>
              <a:gd name="adj" fmla="val 2162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647688" y="4224528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5차시부터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6647688" y="4681728"/>
            <a:ext cx="44531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오늘의 10단계를 한 단계씩</a:t>
            </a:r>
            <a:endParaRPr lang="en-US" sz="13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코드로 구현해 나갑니다.</a:t>
            </a:r>
            <a:endParaRPr lang="en-US" sz="13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624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1828800"/>
            <a:ext cx="2468880" cy="3108960"/>
          </a:xfrm>
          <a:prstGeom prst="roundRect">
            <a:avLst>
              <a:gd name="adj" fmla="val 1481"/>
            </a:avLst>
          </a:prstGeom>
          <a:solidFill>
            <a:srgbClr val="24365C"/>
          </a:solidFill>
          <a:ln w="12700">
            <a:solidFill>
              <a:srgbClr val="2436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418320" y="2331720"/>
            <a:ext cx="1737360" cy="118872"/>
          </a:xfrm>
          <a:prstGeom prst="rect">
            <a:avLst/>
          </a:prstGeom>
          <a:solidFill>
            <a:srgbClr val="5B7FBD"/>
          </a:solidFill>
          <a:ln w="12700">
            <a:solidFill>
              <a:srgbClr val="5B7FB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418320" y="2788920"/>
            <a:ext cx="1737360" cy="118872"/>
          </a:xfrm>
          <a:prstGeom prst="rect">
            <a:avLst/>
          </a:prstGeom>
          <a:solidFill>
            <a:srgbClr val="5B7FBD"/>
          </a:solidFill>
          <a:ln w="12700">
            <a:solidFill>
              <a:srgbClr val="5B7FB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418320" y="3246120"/>
            <a:ext cx="1737360" cy="118872"/>
          </a:xfrm>
          <a:prstGeom prst="rect">
            <a:avLst/>
          </a:prstGeom>
          <a:solidFill>
            <a:srgbClr val="5B7FBD"/>
          </a:solidFill>
          <a:ln w="12700">
            <a:solidFill>
              <a:srgbClr val="5B7FB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418320" y="3703320"/>
            <a:ext cx="1737360" cy="118872"/>
          </a:xfrm>
          <a:prstGeom prst="rect">
            <a:avLst/>
          </a:prstGeom>
          <a:solidFill>
            <a:srgbClr val="5B7FBD"/>
          </a:solidFill>
          <a:ln w="12700">
            <a:solidFill>
              <a:srgbClr val="5B7FB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418320" y="4160520"/>
            <a:ext cx="1188720" cy="118872"/>
          </a:xfrm>
          <a:prstGeom prst="rect">
            <a:avLst/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1572768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마무리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10312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8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복잡해 보이지만,</a:t>
            </a:r>
            <a:endParaRPr lang="en-US" sz="3600" dirty="0"/>
          </a:p>
          <a:p>
            <a:pPr marL="0" indent="0">
              <a:lnSpc>
                <a:spcPts val="48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단순한 다섯 단계의 조합입니다</a:t>
            </a:r>
            <a:endParaRPr lang="en-US" sz="36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38404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400" dirty="0">
                <a:solidFill>
                  <a:srgbClr val="9FB2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문서를 읽고 · 조각내고 · 숫자로 바꾸고 · 저장하고 · 가까운 것을 찾는다.</a:t>
            </a:r>
            <a:endParaRPr lang="en-US" sz="140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400" dirty="0">
                <a:solidFill>
                  <a:srgbClr val="9FB2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다섯 가지가 순서대로 제대로 돌아가면, 근거를 갖고 답하는 시스템이 완성됩니다.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475488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개념은 여기까지입니다. 다음은 직접 만들 차례입니다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5175504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7F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그림이 머릿속에 남아 있으면 코드는 따라옵니다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589788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E92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4차시에서 만나요.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1751</Words>
  <Application>Microsoft Office PowerPoint</Application>
  <PresentationFormat>사용자 지정</PresentationFormat>
  <Paragraphs>419</Paragraphs>
  <Slides>21</Slides>
  <Notes>21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21</vt:i4>
      </vt:variant>
    </vt:vector>
  </HeadingPairs>
  <TitlesOfParts>
    <vt:vector size="22" baseType="lpstr">
      <vt:lpstr>Office Theme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  <vt:lpstr>슬라이드 12</vt:lpstr>
      <vt:lpstr>슬라이드 13</vt:lpstr>
      <vt:lpstr>슬라이드 14</vt:lpstr>
      <vt:lpstr>슬라이드 15</vt:lpstr>
      <vt:lpstr>슬라이드 16</vt:lpstr>
      <vt:lpstr>슬라이드 17</vt:lpstr>
      <vt:lpstr>슬라이드 18</vt:lpstr>
      <vt:lpstr>슬라이드 19</vt:lpstr>
      <vt:lpstr>슬라이드 20</vt:lpstr>
      <vt:lpstr>슬라이드 21</vt:lpstr>
    </vt:vector>
  </TitlesOfParts>
  <Company>PptxGenJS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LangGraph 03차시 RAG 기본 구조</dc:title>
  <dc:subject>PptxGenJS Presentation</dc:subject>
  <dc:creator>이창현</dc:creator>
  <cp:lastModifiedBy>lch</cp:lastModifiedBy>
  <cp:revision>1</cp:revision>
  <dcterms:created xsi:type="dcterms:W3CDTF">2026-09-14T09:50:37Z</dcterms:created>
  <dcterms:modified xsi:type="dcterms:W3CDTF">2026-09-14T09:56:32Z</dcterms:modified>
</cp:coreProperties>
</file>