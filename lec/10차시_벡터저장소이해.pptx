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Default Extension="xlsx" ContentType="application/vnd.openxmlformats-officedocument.spreadsheetml.sheet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notesSlides/notesSlide19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5611"/>
    <p:restoredTop sz="94610"/>
  </p:normalViewPr>
  <p:slideViewPr>
    <p:cSldViewPr snapToGrid="0" snapToObjects="1">
      <p:cViewPr varScale="1">
        <p:scale>
          <a:sx n="64" d="100"/>
          <a:sy n="64" d="100"/>
        </p:scale>
        <p:origin x="-86" y="-451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Office_Excel_____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ko-KR"/>
  <c:roundedCorners val="1"/>
  <c:chart>
    <c:autoTitleDeleted val="1"/>
    <c:plotArea>
      <c:layout/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관련도</c:v>
                </c:pt>
              </c:strCache>
            </c:strRef>
          </c:tx>
          <c:spPr>
            <a:solidFill>
              <a:srgbClr val="2F5597"/>
            </a:solidFill>
            <a:effectLst/>
          </c:spPr>
          <c:dLbls>
            <c:numFmt formatCode="0.000" sourceLinked="0"/>
            <c:txPr>
              <a:bodyPr/>
              <a:lstStyle/>
              <a:p>
                <a:pPr>
                  <a:defRPr sz="1100" b="0" i="0" u="none" strike="noStrike">
                    <a:solidFill>
                      <a:srgbClr val="16243D"/>
                    </a:solidFill>
                    <a:latin typeface="맑은 고딕"/>
                  </a:defRPr>
                </a:pPr>
                <a:endParaRPr lang="ko-KR"/>
              </a:p>
            </c:txPr>
            <c:showVal val="1"/>
          </c:dLbls>
          <c:cat>
            <c:strRef>
              <c:f>Sheet1!$A$2:$A$6</c:f>
              <c:strCache>
                <c:ptCount val="5"/>
                <c:pt idx="0">
                  <c:v>1위  환불 및 교환 규정</c:v>
                </c:pt>
                <c:pt idx="1">
                  <c:v>2위  30일 이내 무상 교환</c:v>
                </c:pt>
                <c:pt idx="2">
                  <c:v>3위  환불 및 교환 규정(제목)</c:v>
                </c:pt>
                <c:pt idx="3">
                  <c:v>4위  설치 방법</c:v>
                </c:pt>
                <c:pt idx="4">
                  <c:v>5위  제품 개요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0.81200000000000006</c:v>
                </c:pt>
                <c:pt idx="1">
                  <c:v>0.74400000000000011</c:v>
                </c:pt>
                <c:pt idx="2">
                  <c:v>0.62800000000000011</c:v>
                </c:pt>
                <c:pt idx="3">
                  <c:v>0.41200000000000003</c:v>
                </c:pt>
                <c:pt idx="4">
                  <c:v>0.29800000000000004</c:v>
                </c:pt>
              </c:numCache>
            </c:numRef>
          </c:val>
        </c:ser>
        <c:dLbls>
          <c:showVal val="1"/>
        </c:dLbls>
        <c:axId val="64883328"/>
        <c:axId val="64897408"/>
      </c:barChart>
      <c:catAx>
        <c:axId val="64883328"/>
        <c:scaling>
          <c:orientation val="minMax"/>
        </c:scaling>
        <c:axPos val="l"/>
        <c:numFmt formatCode="General" sourceLinked="1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6577"/>
                </a:solidFill>
                <a:latin typeface="맑은 고딕"/>
              </a:defRPr>
            </a:pPr>
            <a:endParaRPr lang="ko-KR"/>
          </a:p>
        </c:txPr>
        <c:crossAx val="64897408"/>
        <c:crosses val="autoZero"/>
        <c:auto val="1"/>
        <c:lblAlgn val="ctr"/>
        <c:lblOffset val="100"/>
        <c:noMultiLvlLbl val="1"/>
      </c:catAx>
      <c:valAx>
        <c:axId val="64897408"/>
        <c:scaling>
          <c:orientation val="minMax"/>
          <c:max val="1"/>
          <c:min val="0"/>
        </c:scaling>
        <c:axPos val="b"/>
        <c:majorGridlines>
          <c:spPr>
            <a:ln w="12700" cap="flat">
              <a:solidFill>
                <a:srgbClr val="EDEFF3"/>
              </a:solidFill>
              <a:prstDash val="solid"/>
              <a:round/>
            </a:ln>
          </c:spPr>
        </c:majorGridlines>
        <c:numFmt formatCode="General" sourceLinked="0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6577"/>
                </a:solidFill>
                <a:latin typeface="맑은 고딕"/>
              </a:defRPr>
            </a:pPr>
            <a:endParaRPr lang="ko-KR"/>
          </a:p>
        </c:txPr>
        <c:crossAx val="6488332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/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10차시입니다. 오늘 배우는 저장·불러오기가 개발 속도를 완전히 바꿉니다.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파란 카드는 저장·재사용, 주황 카드는 운영 관점입니다.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개발하는 동안에만 수십 번 낭비하게 된다는 점을 체감시키세요.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도서관 비유는 3차시에서도 나왔습니다. 연결해 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이름부터 '근사(Approximate)'라는 점을 짚어주세요.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영속화가 오늘의 핵심 개념입니다.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세 줄이 오늘 배우는 내용의 전부입니다.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9차시의 '복원 불가' 내용과 바로 연결됩니다.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패턴을 함수로 만들어두면 이후 모든 차시에서 그대로 씁니다.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두 함수를 혼동하면 검색이 멀쩡한데도 다 걸러버립니다.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점수를 보는 습관이 11차시 k 결정으로 이어집니다.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저장 빼먹는 실수는 증상이 늦게 나타나서 한참 헤매게 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지금 FAISS로 배우는 것이 나중에 낭비가 아니라는 점을 안심시키세요.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지금 단계에서는 FAISS로 충분하다는 점을 분명히 해주세요.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실험 횟수가 곧 학습 속도라는 점을 강조하세요.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두 번째 줄이 가장 찾기 어려운 문제입니다.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14차시 벤치마크로 이어지는 준비 작업입니다.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불러오기까지 성공해야 11차시가 편해집니다.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임계값은 한 번 정하고 끝이 아니라 계속 조정하는 값입니다.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지금 만드는 것이 나중에 어떻게 쓰이는지 알려주면 동기가 생깁니다.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실용적 가치를 한 번 더 강조하고 마칩니다.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4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32520" y="1417320"/>
            <a:ext cx="2148840" cy="2834640"/>
          </a:xfrm>
          <a:prstGeom prst="roundRect">
            <a:avLst>
              <a:gd name="adj" fmla="val 1702"/>
            </a:avLst>
          </a:prstGeom>
          <a:solidFill>
            <a:srgbClr val="24365C"/>
          </a:solidFill>
          <a:ln w="12700">
            <a:solidFill>
              <a:srgbClr val="2436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052560" y="1737360"/>
            <a:ext cx="2148840" cy="2834640"/>
          </a:xfrm>
          <a:prstGeom prst="roundRect">
            <a:avLst>
              <a:gd name="adj" fmla="val 1702"/>
            </a:avLst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372600" y="2057400"/>
            <a:ext cx="2148840" cy="2834640"/>
          </a:xfrm>
          <a:prstGeom prst="roundRect">
            <a:avLst>
              <a:gd name="adj" fmla="val 1702"/>
            </a:avLst>
          </a:prstGeom>
          <a:solidFill>
            <a:srgbClr val="D2891F"/>
          </a:solidFill>
          <a:ln w="12700">
            <a:solidFill>
              <a:srgbClr val="D2891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92640" y="2514600"/>
            <a:ext cx="1508760" cy="1005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92640" y="2898648"/>
            <a:ext cx="1508760" cy="1005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692640" y="3282696"/>
            <a:ext cx="1508760" cy="1005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692640" y="3666744"/>
            <a:ext cx="1005840" cy="1005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85800" y="1508760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B7F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실습으로 배우는 LangGraph : 내 손으로 RAG 시스템 만들기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1938528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 10 차시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2432304"/>
            <a:ext cx="7955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벡터저장소 이해</a:t>
            </a:r>
            <a:endParaRPr lang="en-US" sz="54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3310128"/>
            <a:ext cx="7955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5B7F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수만 개 중에서 순식간에</a:t>
            </a:r>
            <a:endParaRPr lang="en-US" sz="3400" dirty="0"/>
          </a:p>
        </p:txBody>
      </p:sp>
      <p:sp>
        <p:nvSpPr>
          <p:cNvPr id="13" name="Text 11"/>
          <p:cNvSpPr txBox="1"/>
          <p:nvPr/>
        </p:nvSpPr>
        <p:spPr>
          <a:xfrm>
            <a:off x="685800" y="4160520"/>
            <a:ext cx="7680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FB2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번 만든 인덱스를 저장해 두고 다시 씁니다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85800" y="5760720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E92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40차시 학습 교재   |   강사 이창현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LEARNING GOALS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이번 차시에서 배우는 것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627632"/>
            <a:ext cx="3401568" cy="2084832"/>
          </a:xfrm>
          <a:prstGeom prst="roundRect">
            <a:avLst>
              <a:gd name="adj" fmla="val 1754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78408" y="1938528"/>
            <a:ext cx="493776" cy="493776"/>
          </a:xfrm>
          <a:prstGeom prst="ellipse">
            <a:avLst/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78408" y="193852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978408" y="2615184"/>
            <a:ext cx="2852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전용 저장소인가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978408" y="2999232"/>
            <a:ext cx="2852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계산량과 재생성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문제를 이해한다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43400" y="1627632"/>
            <a:ext cx="3401568" cy="2084832"/>
          </a:xfrm>
          <a:prstGeom prst="roundRect">
            <a:avLst>
              <a:gd name="adj" fmla="val 1754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36008" y="1938528"/>
            <a:ext cx="493776" cy="493776"/>
          </a:xfrm>
          <a:prstGeom prst="ellipse">
            <a:avLst/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636008" y="193852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636008" y="2615184"/>
            <a:ext cx="2852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인덱스 만들고 저장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636008" y="2999232"/>
            <a:ext cx="2852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디스크에 남겨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다시 쓸 수 있게 한다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001000" y="1627632"/>
            <a:ext cx="3401568" cy="2084832"/>
          </a:xfrm>
          <a:prstGeom prst="roundRect">
            <a:avLst>
              <a:gd name="adj" fmla="val 1754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93608" y="1938528"/>
            <a:ext cx="493776" cy="493776"/>
          </a:xfrm>
          <a:prstGeom prst="ellipse">
            <a:avLst/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293608" y="193852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8293608" y="2615184"/>
            <a:ext cx="2852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불러와 비용 아끼기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8293608" y="2999232"/>
            <a:ext cx="2852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번째 실행부터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임베딩 비용이 0이 된다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85800" y="4041648"/>
            <a:ext cx="3401568" cy="2084832"/>
          </a:xfrm>
          <a:prstGeom prst="roundRect">
            <a:avLst>
              <a:gd name="adj" fmla="val 1754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78408" y="4352544"/>
            <a:ext cx="493776" cy="493776"/>
          </a:xfrm>
          <a:prstGeom prst="ellipse">
            <a:avLst/>
          </a:prstGeom>
          <a:solidFill>
            <a:srgbClr val="D2891F"/>
          </a:solidFill>
          <a:ln w="12700">
            <a:solidFill>
              <a:srgbClr val="D2891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78408" y="4352544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978408" y="5029200"/>
            <a:ext cx="2852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점수로 신뢰도 확인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978408" y="5413248"/>
            <a:ext cx="2852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점수 함수의 차이를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정확히 구분한다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343400" y="4041648"/>
            <a:ext cx="3401568" cy="2084832"/>
          </a:xfrm>
          <a:prstGeom prst="roundRect">
            <a:avLst>
              <a:gd name="adj" fmla="val 1754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636008" y="4352544"/>
            <a:ext cx="493776" cy="493776"/>
          </a:xfrm>
          <a:prstGeom prst="ellipse">
            <a:avLst/>
          </a:prstGeom>
          <a:solidFill>
            <a:srgbClr val="D2891F"/>
          </a:solidFill>
          <a:ln w="12700">
            <a:solidFill>
              <a:srgbClr val="D2891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636008" y="4352544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4636008" y="5029200"/>
            <a:ext cx="2852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문서 추가와 교체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4636008" y="5413248"/>
            <a:ext cx="2852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새 문서를 넣고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바뀐 문서를 반영한다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8001000" y="4041648"/>
            <a:ext cx="3401568" cy="2084832"/>
          </a:xfrm>
          <a:prstGeom prst="roundRect">
            <a:avLst>
              <a:gd name="adj" fmla="val 1754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293608" y="4352544"/>
            <a:ext cx="493776" cy="493776"/>
          </a:xfrm>
          <a:prstGeom prst="ellipse">
            <a:avLst/>
          </a:prstGeom>
          <a:solidFill>
            <a:srgbClr val="D2891F"/>
          </a:solidFill>
          <a:ln w="12700">
            <a:solidFill>
              <a:srgbClr val="D2891F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293608" y="4352544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06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8293608" y="5029200"/>
            <a:ext cx="2852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저장소 고르는 기준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8293608" y="5413248"/>
            <a:ext cx="2852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상황에 맞는 저장소를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판단할 수 있다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TWO PROBLEMS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9차시가 남긴 숙제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719072"/>
            <a:ext cx="5257800" cy="2834640"/>
          </a:xfrm>
          <a:prstGeom prst="roundRect">
            <a:avLst>
              <a:gd name="adj" fmla="val 1290"/>
            </a:avLst>
          </a:prstGeom>
          <a:solidFill>
            <a:srgbClr val="F6E2DE"/>
          </a:solidFill>
          <a:ln w="12700">
            <a:solidFill>
              <a:srgbClr val="F6E2D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69848" y="2084832"/>
            <a:ext cx="530352" cy="530352"/>
          </a:xfrm>
          <a:prstGeom prst="ellipse">
            <a:avLst/>
          </a:prstGeom>
          <a:solidFill>
            <a:srgbClr val="B3402F"/>
          </a:solidFill>
          <a:ln w="12700">
            <a:solidFill>
              <a:srgbClr val="B3402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69848" y="208483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728216" y="2157984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계산량이 폭발합니다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088136" y="2697480"/>
            <a:ext cx="445312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회사 문서를 전부 넣었더니 조각이 5만 개.</a:t>
            </a:r>
            <a:endParaRPr lang="en-US" sz="1300" dirty="0"/>
          </a:p>
          <a:p>
            <a:pPr marL="0" indent="0">
              <a:lnSpc>
                <a:spcPts val="2200"/>
              </a:lnSpc>
              <a:buNone/>
            </a:pPr>
            <a:endParaRPr lang="en-US" sz="130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질문 하나에 5만 번 비교해야 합니다.</a:t>
            </a:r>
            <a:endParaRPr lang="en-US" sz="130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각 비교는 1536개 숫자를 곱하고 더하는 일.</a:t>
            </a:r>
            <a:endParaRPr lang="en-US" sz="1300" dirty="0"/>
          </a:p>
          <a:p>
            <a:pPr marL="0" indent="0">
              <a:lnSpc>
                <a:spcPts val="2200"/>
              </a:lnSpc>
              <a:buNone/>
            </a:pPr>
            <a:endParaRPr lang="en-US" sz="130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몇 초씩 걸립니다</a:t>
            </a:r>
            <a:endParaRPr lang="en-US" sz="130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사용자는 기다리다 나가버립니다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45352" y="1719072"/>
            <a:ext cx="5257800" cy="2834640"/>
          </a:xfrm>
          <a:prstGeom prst="roundRect">
            <a:avLst>
              <a:gd name="adj" fmla="val 1290"/>
            </a:avLst>
          </a:prstGeom>
          <a:solidFill>
            <a:srgbClr val="FCF3E2"/>
          </a:solidFill>
          <a:ln w="12700">
            <a:solidFill>
              <a:srgbClr val="FCF3E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629400" y="2084832"/>
            <a:ext cx="530352" cy="530352"/>
          </a:xfrm>
          <a:prstGeom prst="ellipse">
            <a:avLst/>
          </a:prstGeom>
          <a:solidFill>
            <a:srgbClr val="D2891F"/>
          </a:solidFill>
          <a:ln w="12700">
            <a:solidFill>
              <a:srgbClr val="D2891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629400" y="208483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7287768" y="2157984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껐다 켜면 사라집니다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647688" y="2697480"/>
            <a:ext cx="445312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8차시 코드는 실행할 때마다</a:t>
            </a:r>
            <a:endParaRPr lang="en-US" sz="130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모든 조각을 다시 임베딩합니다.</a:t>
            </a:r>
            <a:endParaRPr lang="en-US" sz="1300" dirty="0"/>
          </a:p>
          <a:p>
            <a:pPr marL="0" indent="0">
              <a:lnSpc>
                <a:spcPts val="2200"/>
              </a:lnSpc>
              <a:buNone/>
            </a:pPr>
            <a:endParaRPr lang="en-US" sz="130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조각 24개면 별거 아닙니다.</a:t>
            </a:r>
            <a:endParaRPr lang="en-US" sz="130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5만 개라면 수십 분 · 매번 비용.</a:t>
            </a:r>
            <a:endParaRPr lang="en-US" sz="1300" dirty="0"/>
          </a:p>
          <a:p>
            <a:pPr marL="0" indent="0">
              <a:lnSpc>
                <a:spcPts val="2200"/>
              </a:lnSpc>
              <a:buNone/>
            </a:pPr>
            <a:endParaRPr lang="en-US" sz="130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그런데 문서는 바뀌지도 않았습니다.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85800" y="4800600"/>
            <a:ext cx="10817352" cy="1097280"/>
          </a:xfrm>
          <a:prstGeom prst="roundRect">
            <a:avLst>
              <a:gd name="adj" fmla="val 3333"/>
            </a:avLst>
          </a:prstGeom>
          <a:solidFill>
            <a:srgbClr val="16243D"/>
          </a:solidFill>
          <a:ln w="12700">
            <a:solidFill>
              <a:srgbClr val="16243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85800" y="5074920"/>
            <a:ext cx="10817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배울 벡터 저장소가 이 두 문제를 모두 해결합니다</a:t>
            </a:r>
            <a:endParaRPr lang="en-US" sz="1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INDEX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전부 뒤지지 않는 기술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719072"/>
            <a:ext cx="5257800" cy="2606040"/>
          </a:xfrm>
          <a:prstGeom prst="roundRect">
            <a:avLst>
              <a:gd name="adj" fmla="val 1404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88136" y="1965960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색인이 없다면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088136" y="2514600"/>
            <a:ext cx="445312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600"/>
              </a:lnSpc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1번 서가부터 한 권씩 꺼내 확인합니다.</a:t>
            </a:r>
            <a:endParaRPr lang="en-US" sz="1350" dirty="0"/>
          </a:p>
          <a:p>
            <a:pPr marL="0" indent="0">
              <a:lnSpc>
                <a:spcPts val="2600"/>
              </a:lnSpc>
              <a:buNone/>
            </a:pPr>
            <a:endParaRPr lang="en-US" sz="135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10만 번 확인해야 합니다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245352" y="1719072"/>
            <a:ext cx="5257800" cy="2606040"/>
          </a:xfrm>
          <a:prstGeom prst="roundRect">
            <a:avLst>
              <a:gd name="adj" fmla="val 1404"/>
            </a:avLst>
          </a:prstGeom>
          <a:solidFill>
            <a:srgbClr val="E8F3EE"/>
          </a:solidFill>
          <a:ln w="12700">
            <a:solidFill>
              <a:srgbClr val="E8F3E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647688" y="1965960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색인이 있다면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647688" y="2514600"/>
            <a:ext cx="445312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600"/>
              </a:lnSpc>
              <a:buNone/>
            </a:pPr>
            <a:r>
              <a:rPr lang="en-US" sz="1350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"파이썬" → 컴퓨터 분야 → 3층 C구역</a:t>
            </a:r>
            <a:endParaRPr lang="en-US" sz="1350" dirty="0"/>
          </a:p>
          <a:p>
            <a:pPr marL="0" indent="0">
              <a:lnSpc>
                <a:spcPts val="2600"/>
              </a:lnSpc>
              <a:buNone/>
            </a:pPr>
            <a:endParaRPr lang="en-US" sz="135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350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몇 번 만에 도착합니다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85800" y="4572000"/>
            <a:ext cx="10817352" cy="1417320"/>
          </a:xfrm>
          <a:prstGeom prst="roundRect">
            <a:avLst>
              <a:gd name="adj" fmla="val 2581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143000" y="4773168"/>
            <a:ext cx="9902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핵심은 '미리 정리해둔다'는 것입니다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1143000" y="5212080"/>
            <a:ext cx="99029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600"/>
              </a:lnSpc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책을 꽂을 때 분류해두면 찾을 때 전부 뒤지지 않아도 됩니다.</a:t>
            </a:r>
            <a:endParaRPr lang="en-US" sz="135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벡터도 마찬가지입니다. 비슷한 것들끼리 미리 묶어두면 검색이 순식간에 끝납니다.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ANN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정확도를 조금 내주고 속도를 얻는다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783080"/>
            <a:ext cx="5257800" cy="2651760"/>
          </a:xfrm>
          <a:prstGeom prst="roundRect">
            <a:avLst>
              <a:gd name="adj" fmla="val 1379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88136" y="2057400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정확한 검색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088136" y="2606040"/>
            <a:ext cx="44531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600"/>
              </a:lnSpc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5만 개를 전부 비교해서</a:t>
            </a:r>
            <a:endParaRPr lang="en-US" sz="135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진짜 1등을 찾습니다.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1088136" y="3611880"/>
            <a:ext cx="4453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정확도 100%  ·  속도 느림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245352" y="1783080"/>
            <a:ext cx="5257800" cy="2651760"/>
          </a:xfrm>
          <a:prstGeom prst="roundRect">
            <a:avLst>
              <a:gd name="adj" fmla="val 1379"/>
            </a:avLst>
          </a:prstGeom>
          <a:solidFill>
            <a:srgbClr val="E8F3EE"/>
          </a:solidFill>
          <a:ln w="12700">
            <a:solidFill>
              <a:srgbClr val="E8F3E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647688" y="2057400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ANN 검색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647688" y="2606040"/>
            <a:ext cx="44531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600"/>
              </a:lnSpc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비슷한 것들끼리 미리 묶어두고</a:t>
            </a:r>
            <a:endParaRPr lang="en-US" sz="135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 묶음 안에서만 비교합니다.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6647688" y="3611880"/>
            <a:ext cx="4453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정확도 98%  ·  속도 수백 배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85800" y="4709160"/>
            <a:ext cx="10817352" cy="1188720"/>
          </a:xfrm>
          <a:prstGeom prst="roundRect">
            <a:avLst>
              <a:gd name="adj" fmla="val 3077"/>
            </a:avLst>
          </a:prstGeom>
          <a:solidFill>
            <a:srgbClr val="16243D"/>
          </a:solidFill>
          <a:ln w="12700">
            <a:solidFill>
              <a:srgbClr val="16243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85800" y="5029200"/>
            <a:ext cx="10817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어차피 Top-3를 넘길 건데, 1등과 2등이 뒤바뀌어도 결과는 거의 같습니다</a:t>
            </a:r>
            <a:endParaRPr lang="en-US" sz="1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KEY TERMS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용어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664208"/>
            <a:ext cx="10817352" cy="621792"/>
          </a:xfrm>
          <a:prstGeom prst="roundRect">
            <a:avLst>
              <a:gd name="adj" fmla="val 5882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51560" y="1664208"/>
            <a:ext cx="2926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Vector Store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4114800" y="1664208"/>
            <a:ext cx="6858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벡터를 저장하고 빠르게 검색해주는 데이터베이스.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85800" y="2395728"/>
            <a:ext cx="10817352" cy="621792"/>
          </a:xfrm>
          <a:prstGeom prst="roundRect">
            <a:avLst>
              <a:gd name="adj" fmla="val 5882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51560" y="2395728"/>
            <a:ext cx="2926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인덱스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114800" y="2395728"/>
            <a:ext cx="6858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빠르게 찾도록 미리 구조화해둔 자료. 책 뒤의 '찾아보기'와 같습니다.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85800" y="3127248"/>
            <a:ext cx="10817352" cy="621792"/>
          </a:xfrm>
          <a:prstGeom prst="roundRect">
            <a:avLst>
              <a:gd name="adj" fmla="val 5882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51560" y="3127248"/>
            <a:ext cx="2926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ANN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114800" y="3127248"/>
            <a:ext cx="6858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'거의 가까운 것'을 훨씬 빠르게 찾는 방식.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85800" y="3858768"/>
            <a:ext cx="10817352" cy="621792"/>
          </a:xfrm>
          <a:prstGeom prst="roundRect">
            <a:avLst>
              <a:gd name="adj" fmla="val 5882"/>
            </a:avLst>
          </a:prstGeom>
          <a:solidFill>
            <a:srgbClr val="FCF3E2"/>
          </a:solidFill>
          <a:ln w="12700">
            <a:solidFill>
              <a:srgbClr val="FCF3E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51560" y="3858768"/>
            <a:ext cx="2926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Top-K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4114800" y="3858768"/>
            <a:ext cx="6858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가장 가까운 것 K개를 가져오는 설정.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85800" y="4590288"/>
            <a:ext cx="10817352" cy="621792"/>
          </a:xfrm>
          <a:prstGeom prst="roundRect">
            <a:avLst>
              <a:gd name="adj" fmla="val 5882"/>
            </a:avLst>
          </a:prstGeom>
          <a:solidFill>
            <a:srgbClr val="FCF3E2"/>
          </a:solidFill>
          <a:ln w="12700">
            <a:solidFill>
              <a:srgbClr val="FCF3E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051560" y="4590288"/>
            <a:ext cx="2926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영속화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4114800" y="4590288"/>
            <a:ext cx="6858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메모리에 있는 인덱스를 디스크 파일로 저장하는 것.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85800" y="5321808"/>
            <a:ext cx="10817352" cy="621792"/>
          </a:xfrm>
          <a:prstGeom prst="roundRect">
            <a:avLst>
              <a:gd name="adj" fmla="val 5882"/>
            </a:avLst>
          </a:prstGeom>
          <a:solidFill>
            <a:srgbClr val="FCF3E2"/>
          </a:solidFill>
          <a:ln w="12700">
            <a:solidFill>
              <a:srgbClr val="FCF3E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051560" y="5321808"/>
            <a:ext cx="2926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FAISS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4114800" y="5321808"/>
            <a:ext cx="6858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로컬 벡터 검색 라이브러리. 이 과정의 기본 저장소입니다.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THE FLOW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언제 무엇이 일어나는가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325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처음 실행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85800" y="1627632"/>
            <a:ext cx="1944014" cy="1097280"/>
          </a:xfrm>
          <a:prstGeom prst="roundRect">
            <a:avLst>
              <a:gd name="adj" fmla="val 3333"/>
            </a:avLst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58952" y="1890979"/>
            <a:ext cx="179771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문서 읽기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740664" y="2242109"/>
            <a:ext cx="183428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6차시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657246" y="2075688"/>
            <a:ext cx="219456" cy="201168"/>
          </a:xfrm>
          <a:prstGeom prst="rightArrow">
            <a:avLst/>
          </a:prstGeom>
          <a:solidFill>
            <a:srgbClr val="C8CEDA"/>
          </a:solidFill>
          <a:ln w="12700">
            <a:solidFill>
              <a:srgbClr val="C8CED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904134" y="1627632"/>
            <a:ext cx="1944014" cy="1097280"/>
          </a:xfrm>
          <a:prstGeom prst="roundRect">
            <a:avLst>
              <a:gd name="adj" fmla="val 3333"/>
            </a:avLst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977286" y="1890979"/>
            <a:ext cx="179771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조각내기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2958998" y="2242109"/>
            <a:ext cx="183428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7차시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875581" y="2075688"/>
            <a:ext cx="219456" cy="201168"/>
          </a:xfrm>
          <a:prstGeom prst="rightArrow">
            <a:avLst/>
          </a:prstGeom>
          <a:solidFill>
            <a:srgbClr val="C8CEDA"/>
          </a:solidFill>
          <a:ln w="12700">
            <a:solidFill>
              <a:srgbClr val="C8CED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122469" y="1627632"/>
            <a:ext cx="1944014" cy="1097280"/>
          </a:xfrm>
          <a:prstGeom prst="roundRect">
            <a:avLst>
              <a:gd name="adj" fmla="val 3333"/>
            </a:avLst>
          </a:prstGeom>
          <a:solidFill>
            <a:srgbClr val="D2891F"/>
          </a:solidFill>
          <a:ln w="12700">
            <a:solidFill>
              <a:srgbClr val="D2891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195621" y="1890979"/>
            <a:ext cx="179771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임베딩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5177333" y="2242109"/>
            <a:ext cx="183428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비용 발생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7093915" y="2075688"/>
            <a:ext cx="219456" cy="201168"/>
          </a:xfrm>
          <a:prstGeom prst="rightArrow">
            <a:avLst/>
          </a:prstGeom>
          <a:solidFill>
            <a:srgbClr val="C8CEDA"/>
          </a:solidFill>
          <a:ln w="12700">
            <a:solidFill>
              <a:srgbClr val="C8CED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340803" y="1627632"/>
            <a:ext cx="1944014" cy="1097280"/>
          </a:xfrm>
          <a:prstGeom prst="roundRect">
            <a:avLst>
              <a:gd name="adj" fmla="val 3333"/>
            </a:avLst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413955" y="1890979"/>
            <a:ext cx="179771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인덱스 생성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7395667" y="2242109"/>
            <a:ext cx="183428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메모리 위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9312250" y="2075688"/>
            <a:ext cx="219456" cy="201168"/>
          </a:xfrm>
          <a:prstGeom prst="rightArrow">
            <a:avLst/>
          </a:prstGeom>
          <a:solidFill>
            <a:srgbClr val="C8CEDA"/>
          </a:solidFill>
          <a:ln w="12700">
            <a:solidFill>
              <a:srgbClr val="C8CED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559138" y="1627632"/>
            <a:ext cx="1944014" cy="1097280"/>
          </a:xfrm>
          <a:prstGeom prst="roundRect">
            <a:avLst>
              <a:gd name="adj" fmla="val 3333"/>
            </a:avLst>
          </a:prstGeom>
          <a:solidFill>
            <a:srgbClr val="D2891F"/>
          </a:solidFill>
          <a:ln w="12700">
            <a:solidFill>
              <a:srgbClr val="D2891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632290" y="1890979"/>
            <a:ext cx="179771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디스크에 저장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9614002" y="2242109"/>
            <a:ext cx="183428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파일로 남김</a:t>
            </a:r>
            <a:endParaRPr lang="en-US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685800" y="28803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번째 실행부터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85800" y="3182112"/>
            <a:ext cx="5216652" cy="1097280"/>
          </a:xfrm>
          <a:prstGeom prst="roundRect">
            <a:avLst>
              <a:gd name="adj" fmla="val 3333"/>
            </a:avLst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58952" y="3445459"/>
            <a:ext cx="50703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저장된 인덱스 불러오기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740664" y="3796589"/>
            <a:ext cx="51069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비용 0 · 즉시 완료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984748" y="3630168"/>
            <a:ext cx="219456" cy="201168"/>
          </a:xfrm>
          <a:prstGeom prst="rightArrow">
            <a:avLst/>
          </a:prstGeom>
          <a:solidFill>
            <a:srgbClr val="C8CEDA"/>
          </a:solidFill>
          <a:ln w="12700">
            <a:solidFill>
              <a:srgbClr val="C8CED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286500" y="3182112"/>
            <a:ext cx="5216652" cy="1097280"/>
          </a:xfrm>
          <a:prstGeom prst="roundRect">
            <a:avLst>
              <a:gd name="adj" fmla="val 3333"/>
            </a:avLst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359652" y="3445459"/>
            <a:ext cx="50703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바로 검색 가능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6341364" y="3796589"/>
            <a:ext cx="51069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기다릴 필요 없음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685800" y="44348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문서가 바뀌었을 때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85800" y="4736592"/>
            <a:ext cx="5216652" cy="1097280"/>
          </a:xfrm>
          <a:prstGeom prst="roundRect">
            <a:avLst>
              <a:gd name="adj" fmla="val 3333"/>
            </a:avLst>
          </a:prstGeom>
          <a:solidFill>
            <a:srgbClr val="D2891F"/>
          </a:solidFill>
          <a:ln w="12700">
            <a:solidFill>
              <a:srgbClr val="D2891F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758952" y="4999939"/>
            <a:ext cx="50703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전체 재생성</a:t>
            </a:r>
            <a:endParaRPr lang="en-US" sz="1500" dirty="0"/>
          </a:p>
        </p:txBody>
      </p:sp>
      <p:sp>
        <p:nvSpPr>
          <p:cNvPr id="35" name="Text 33"/>
          <p:cNvSpPr txBox="1"/>
          <p:nvPr/>
        </p:nvSpPr>
        <p:spPr>
          <a:xfrm>
            <a:off x="740664" y="5351069"/>
            <a:ext cx="51069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확실하고 단순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984748" y="5184648"/>
            <a:ext cx="219456" cy="201168"/>
          </a:xfrm>
          <a:prstGeom prst="rightArrow">
            <a:avLst/>
          </a:prstGeom>
          <a:solidFill>
            <a:srgbClr val="C8CEDA"/>
          </a:solidFill>
          <a:ln w="12700">
            <a:solidFill>
              <a:srgbClr val="C8CED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286500" y="4736592"/>
            <a:ext cx="5216652" cy="1097280"/>
          </a:xfrm>
          <a:prstGeom prst="roundRect">
            <a:avLst>
              <a:gd name="adj" fmla="val 3333"/>
            </a:avLst>
          </a:prstGeom>
          <a:solidFill>
            <a:srgbClr val="D2891F"/>
          </a:solidFill>
          <a:ln w="12700">
            <a:solidFill>
              <a:srgbClr val="D2891F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6359652" y="4999939"/>
            <a:ext cx="50703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새 문서만 추가</a:t>
            </a:r>
            <a:endParaRPr lang="en-US" sz="1500" dirty="0"/>
          </a:p>
        </p:txBody>
      </p:sp>
      <p:sp>
        <p:nvSpPr>
          <p:cNvPr id="39" name="Text 37"/>
          <p:cNvSpPr txBox="1"/>
          <p:nvPr/>
        </p:nvSpPr>
        <p:spPr>
          <a:xfrm>
            <a:off x="6341364" y="5351069"/>
            <a:ext cx="51069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추가 후 반드시 저장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TWO FILES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저장하면 파일이 두 개 생깁니다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783080"/>
            <a:ext cx="5257800" cy="2606040"/>
          </a:xfrm>
          <a:prstGeom prst="roundRect">
            <a:avLst>
              <a:gd name="adj" fmla="val 1404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88136" y="205740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index.faiss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088136" y="2606040"/>
            <a:ext cx="445312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600"/>
              </a:lnSpc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검색용 좌표가 담긴 파일입니다.</a:t>
            </a:r>
            <a:endParaRPr lang="en-US" sz="1350" dirty="0"/>
          </a:p>
          <a:p>
            <a:pPr marL="0" indent="0">
              <a:lnSpc>
                <a:spcPts val="2600"/>
              </a:lnSpc>
              <a:buNone/>
            </a:pPr>
            <a:endParaRPr lang="en-US" sz="135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파일로 "어느 조각이 가까운가"를</a:t>
            </a:r>
            <a:endParaRPr lang="en-US" sz="135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계산합니다.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245352" y="1783080"/>
            <a:ext cx="5257800" cy="2606040"/>
          </a:xfrm>
          <a:prstGeom prst="roundRect">
            <a:avLst>
              <a:gd name="adj" fmla="val 1404"/>
            </a:avLst>
          </a:prstGeom>
          <a:solidFill>
            <a:srgbClr val="FCF3E2"/>
          </a:solidFill>
          <a:ln w="12700">
            <a:solidFill>
              <a:srgbClr val="FCF3E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647688" y="205740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index.pkl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6647688" y="2606040"/>
            <a:ext cx="445312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600"/>
              </a:lnSpc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실제 텍스트와 출처 정보입니다.</a:t>
            </a:r>
            <a:endParaRPr lang="en-US" sz="1350" dirty="0"/>
          </a:p>
          <a:p>
            <a:pPr marL="0" indent="0">
              <a:lnSpc>
                <a:spcPts val="2600"/>
              </a:lnSpc>
              <a:buNone/>
            </a:pPr>
            <a:endParaRPr lang="en-US" sz="135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찾은 결과의 내용은</a:t>
            </a:r>
            <a:endParaRPr lang="en-US" sz="135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여기서 꺼내옵니다.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85800" y="4617720"/>
            <a:ext cx="10817352" cy="1371600"/>
          </a:xfrm>
          <a:prstGeom prst="roundRect">
            <a:avLst>
              <a:gd name="adj" fmla="val 2667"/>
            </a:avLst>
          </a:prstGeom>
          <a:solidFill>
            <a:srgbClr val="E8F3EE"/>
          </a:solidFill>
          <a:ln w="12700">
            <a:solidFill>
              <a:srgbClr val="E8F3E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143000" y="4800600"/>
            <a:ext cx="9902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파일이 한 쌍입니다 — 같이 관리하세요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1143000" y="5230368"/>
            <a:ext cx="99029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9차시에서 배웠듯이 벡터로는 원문을 복원할 수 없습니다. 그래서 원문을 따로 저장해야 합니다.</a:t>
            </a:r>
            <a:endParaRPr lang="en-US" sz="135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하나만 있으면 쓸 수 없습니다.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THE PATTERN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있으면 불러오고, 없으면 만든다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371600"/>
            <a:ext cx="10817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실무에서 쓰는 패턴입니다. 함수 하나로 감싸두면 앞으로 고민할 일이 없습니다.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85800" y="1783080"/>
            <a:ext cx="10817352" cy="1005840"/>
          </a:xfrm>
          <a:prstGeom prst="roundRect">
            <a:avLst>
              <a:gd name="adj" fmla="val 3636"/>
            </a:avLst>
          </a:prstGeom>
          <a:solidFill>
            <a:srgbClr val="24365C"/>
          </a:solidFill>
          <a:ln w="12700">
            <a:solidFill>
              <a:srgbClr val="24365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783080"/>
            <a:ext cx="108173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인덱스 폴더가 있는가?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85800" y="3017520"/>
            <a:ext cx="5257800" cy="1417320"/>
          </a:xfrm>
          <a:prstGeom prst="roundRect">
            <a:avLst>
              <a:gd name="adj" fmla="val 2581"/>
            </a:avLst>
          </a:prstGeom>
          <a:solidFill>
            <a:srgbClr val="E8F3EE"/>
          </a:solidFill>
          <a:ln w="12700">
            <a:solidFill>
              <a:srgbClr val="E8F3E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88136" y="324612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있다  →  불러온다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088136" y="3749040"/>
            <a:ext cx="44531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임베딩 비용 0. 즉시 시작합니다.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245352" y="3017520"/>
            <a:ext cx="5257800" cy="1417320"/>
          </a:xfrm>
          <a:prstGeom prst="roundRect">
            <a:avLst>
              <a:gd name="adj" fmla="val 2581"/>
            </a:avLst>
          </a:prstGeom>
          <a:solidFill>
            <a:srgbClr val="FCF3E2"/>
          </a:solidFill>
          <a:ln w="12700">
            <a:solidFill>
              <a:srgbClr val="FCF3E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647688" y="324612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없다  →  새로 만들고 저장한다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647688" y="3749040"/>
            <a:ext cx="44531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이때만 임베딩 비용이 발생합니다.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85800" y="4663440"/>
            <a:ext cx="10817352" cy="1325880"/>
          </a:xfrm>
          <a:prstGeom prst="roundRect">
            <a:avLst>
              <a:gd name="adj" fmla="val 2759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143000" y="486460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강제 재생성 옵션도 함께 두세요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143000" y="5285232"/>
            <a:ext cx="9902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문서를 바꿨거나 chunk_size를 조정했다면 인덱스를 다시 만들어야 합니다. 14차시 실험에서 자주 씁니다.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TWO SCORES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여기서 정말 많이 실수합니다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737360"/>
            <a:ext cx="10817352" cy="585216"/>
          </a:xfrm>
          <a:prstGeom prst="roundRect">
            <a:avLst>
              <a:gd name="adj" fmla="val 6250"/>
            </a:avLst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51560" y="1737360"/>
            <a:ext cx="34747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함수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4526280" y="1737360"/>
            <a:ext cx="21488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반환값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6903720" y="1737360"/>
            <a:ext cx="437083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해석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85800" y="2377440"/>
            <a:ext cx="10817352" cy="585216"/>
          </a:xfrm>
          <a:prstGeom prst="roundRect">
            <a:avLst>
              <a:gd name="adj" fmla="val 6250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51560" y="2377440"/>
            <a:ext cx="34747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with_score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4526280" y="2377440"/>
            <a:ext cx="21488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거리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6903720" y="2377440"/>
            <a:ext cx="437083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작을수록 가까움 (0이 최고)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1051560" y="3017520"/>
            <a:ext cx="34747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relevance_scores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4526280" y="3017520"/>
            <a:ext cx="21488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유사도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6903720" y="3017520"/>
            <a:ext cx="437083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클수록 관련 있음 (1이 최고)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85800" y="3749040"/>
            <a:ext cx="10817352" cy="1417320"/>
          </a:xfrm>
          <a:prstGeom prst="roundRect">
            <a:avLst>
              <a:gd name="adj" fmla="val 2581"/>
            </a:avLst>
          </a:prstGeom>
          <a:solidFill>
            <a:srgbClr val="F6E2DE"/>
          </a:solidFill>
          <a:ln w="12700">
            <a:solidFill>
              <a:srgbClr val="F6E2D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143000" y="3931920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340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흔한 착각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143000" y="4343400"/>
            <a:ext cx="99029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600"/>
              </a:lnSpc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점수가 0.3이 나왔습니다. "낮으니 관련 없구나" 라고 판단했습니다. 틀렸습니다.</a:t>
            </a:r>
            <a:endParaRPr lang="en-US" sz="135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with_score는 거리입니다. 0.3은 아주 가깝다는 뜻입니다.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85800" y="5349240"/>
            <a:ext cx="10817352" cy="777240"/>
          </a:xfrm>
          <a:prstGeom prst="roundRect">
            <a:avLst>
              <a:gd name="adj" fmla="val 4706"/>
            </a:avLst>
          </a:prstGeom>
          <a:solidFill>
            <a:srgbClr val="E8F3EE"/>
          </a:solidFill>
          <a:ln w="12700">
            <a:solidFill>
              <a:srgbClr val="E8F3E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85800" y="5463540"/>
            <a:ext cx="10817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relevance_scores를 쓰세요 — 9차시 임계값과 바로 비교됩니다</a:t>
            </a:r>
            <a:endParaRPr lang="en-US" sz="1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READING SCORES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점수를 보면 k가 보입니다</a:t>
            </a:r>
            <a:endParaRPr lang="en-US" sz="30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685800" y="1691640"/>
          <a:ext cx="6675120" cy="2788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7635240" y="1691640"/>
            <a:ext cx="3867912" cy="2788920"/>
          </a:xfrm>
          <a:prstGeom prst="roundRect">
            <a:avLst>
              <a:gd name="adj" fmla="val 1311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001000" y="19659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읽어낼 것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8001000" y="2468880"/>
            <a:ext cx="3200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1~3위는 확실히 관련 있습니다.</a:t>
            </a:r>
            <a:endParaRPr lang="en-US" sz="1250" dirty="0"/>
          </a:p>
          <a:p>
            <a:pPr marL="0" indent="0">
              <a:lnSpc>
                <a:spcPts val="2100"/>
              </a:lnSpc>
              <a:buNone/>
            </a:pPr>
            <a:endParaRPr lang="en-US" sz="1250" dirty="0"/>
          </a:p>
          <a:p>
            <a:pPr marL="0" indent="0">
              <a:lnSpc>
                <a:spcPts val="21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4위부터는 애매합니다.</a:t>
            </a:r>
            <a:endParaRPr lang="en-US" sz="1250" dirty="0"/>
          </a:p>
          <a:p>
            <a:pPr marL="0" indent="0">
              <a:lnSpc>
                <a:spcPts val="21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"30일"이라는 표현 때문에</a:t>
            </a:r>
            <a:endParaRPr lang="en-US" sz="1250" dirty="0"/>
          </a:p>
          <a:p>
            <a:pPr marL="0" indent="0">
              <a:lnSpc>
                <a:spcPts val="21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걸렸을 뿐입니다.</a:t>
            </a:r>
            <a:endParaRPr lang="en-US" sz="1250" dirty="0"/>
          </a:p>
          <a:p>
            <a:pPr marL="0" indent="0">
              <a:lnSpc>
                <a:spcPts val="2100"/>
              </a:lnSpc>
              <a:buNone/>
            </a:pPr>
            <a:endParaRPr lang="en-US" sz="1250" dirty="0"/>
          </a:p>
          <a:p>
            <a:pPr marL="0" indent="0">
              <a:lnSpc>
                <a:spcPts val="21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k=3이 적절했겠다는</a:t>
            </a:r>
            <a:endParaRPr lang="en-US" sz="1250" dirty="0"/>
          </a:p>
          <a:p>
            <a:pPr marL="0" indent="0">
              <a:lnSpc>
                <a:spcPts val="21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판단이 섭니다.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85800" y="4754880"/>
            <a:ext cx="10817352" cy="1143000"/>
          </a:xfrm>
          <a:prstGeom prst="roundRect">
            <a:avLst>
              <a:gd name="adj" fmla="val 3200"/>
            </a:avLst>
          </a:prstGeom>
          <a:solidFill>
            <a:srgbClr val="16243D"/>
          </a:solidFill>
          <a:ln w="12700">
            <a:solidFill>
              <a:srgbClr val="16243D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85800" y="5052060"/>
            <a:ext cx="10817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9차시에서 정한 임계값 0.47로 4·5위를 잘라내면 노이즈가 줄어듭니다</a:t>
            </a:r>
            <a:endParaRPr lang="en-US" sz="1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ADD &amp; REPLACE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문서가 늘어나거나 바뀌면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719072"/>
            <a:ext cx="5257800" cy="2743200"/>
          </a:xfrm>
          <a:prstGeom prst="roundRect">
            <a:avLst>
              <a:gd name="adj" fmla="val 1333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88136" y="1965960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새 문서 추가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088136" y="2468880"/>
            <a:ext cx="445312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500"/>
              </a:lnSpc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새로 들어온 문서만 조각내서</a:t>
            </a:r>
            <a:endParaRPr lang="en-US" sz="1350" dirty="0"/>
          </a:p>
          <a:p>
            <a:pPr marL="0" indent="0">
              <a:lnSpc>
                <a:spcPts val="2500"/>
              </a:lnSpc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기존 인덱스에 붙입니다.</a:t>
            </a:r>
            <a:endParaRPr lang="en-US" sz="1350" dirty="0"/>
          </a:p>
          <a:p>
            <a:pPr marL="0" indent="0">
              <a:lnSpc>
                <a:spcPts val="2500"/>
              </a:lnSpc>
              <a:buNone/>
            </a:pPr>
            <a:endParaRPr lang="en-US" sz="1350" dirty="0"/>
          </a:p>
          <a:p>
            <a:pPr marL="0" indent="0">
              <a:lnSpc>
                <a:spcPts val="2500"/>
              </a:lnSpc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새 조각만 임베딩되므로 비용이 적습니다.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1088136" y="3749040"/>
            <a:ext cx="4453128" cy="566928"/>
          </a:xfrm>
          <a:prstGeom prst="roundRect">
            <a:avLst>
              <a:gd name="adj" fmla="val 6452"/>
            </a:avLst>
          </a:prstGeom>
          <a:solidFill>
            <a:srgbClr val="F6E2DE"/>
          </a:solidFill>
          <a:ln w="12700">
            <a:solidFill>
              <a:srgbClr val="F6E2D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325880" y="3749040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340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추가 다음 줄에는 항상 저장!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45352" y="1719072"/>
            <a:ext cx="5257800" cy="2743200"/>
          </a:xfrm>
          <a:prstGeom prst="roundRect">
            <a:avLst>
              <a:gd name="adj" fmla="val 1333"/>
            </a:avLst>
          </a:prstGeom>
          <a:solidFill>
            <a:srgbClr val="FCF3E2"/>
          </a:solidFill>
          <a:ln w="12700">
            <a:solidFill>
              <a:srgbClr val="FCF3E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647688" y="1965960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문서가 바뀌었다면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647688" y="2468880"/>
            <a:ext cx="445312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방법 1 — 전체 재생성 (권장)</a:t>
            </a:r>
            <a:endParaRPr lang="en-US" sz="130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확실하고 단순합니다</a:t>
            </a:r>
            <a:endParaRPr lang="en-US" sz="1300" dirty="0"/>
          </a:p>
          <a:p>
            <a:pPr marL="0" indent="0">
              <a:lnSpc>
                <a:spcPts val="2400"/>
              </a:lnSpc>
              <a:buNone/>
            </a:pPr>
            <a:endParaRPr lang="en-US" sz="130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방법 2 — 구버전에 표시를 달고 필터</a:t>
            </a:r>
            <a:endParaRPr lang="en-US" sz="130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인덱스는 커지지만 재생성 불필요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647688" y="3913632"/>
            <a:ext cx="4453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실무에서는 대개 "밤에 전체 재생성"을 씁니다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85800" y="4754880"/>
            <a:ext cx="10817352" cy="1143000"/>
          </a:xfrm>
          <a:prstGeom prst="roundRect">
            <a:avLst>
              <a:gd name="adj" fmla="val 3200"/>
            </a:avLst>
          </a:prstGeom>
          <a:solidFill>
            <a:srgbClr val="16243D"/>
          </a:solidFill>
          <a:ln w="12700">
            <a:solidFill>
              <a:srgbClr val="16243D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85800" y="5052060"/>
            <a:ext cx="10817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저장을 빼먹으면 실행 중에는 잘 되다가 다시 켰을 때 사라집니다</a:t>
            </a:r>
            <a:endParaRPr lang="en-US" sz="1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STORE OPTIONS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저장소 종류와 선택 기준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737360"/>
            <a:ext cx="10817352" cy="411480"/>
          </a:xfrm>
          <a:prstGeom prst="roundRect">
            <a:avLst>
              <a:gd name="adj" fmla="val 8889"/>
            </a:avLst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51560" y="173736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저장소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2697480" y="1737360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특징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7086600" y="1737360"/>
            <a:ext cx="4187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적합한 상황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85800" y="2203704"/>
            <a:ext cx="10817352" cy="411480"/>
          </a:xfrm>
          <a:prstGeom prst="roundRect">
            <a:avLst>
              <a:gd name="adj" fmla="val 8889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51560" y="2203704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FAISS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2697480" y="2203704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로컬 파일 · 매우 빠름 · 설치 간단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7086600" y="2203704"/>
            <a:ext cx="4187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학습 · 프로토타입 (이 과정)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1051560" y="2670048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Chroma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2697480" y="2670048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메타데이터 필터링이 편리 · 관리 쉬움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7086600" y="2670048"/>
            <a:ext cx="4187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소규모 서비스 운영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85800" y="3136392"/>
            <a:ext cx="10817352" cy="411480"/>
          </a:xfrm>
          <a:prstGeom prst="roundRect">
            <a:avLst>
              <a:gd name="adj" fmla="val 8889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51560" y="3136392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Qdrant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2697480" y="3136392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조건 검색이 강력 · 운영 기능 충실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7086600" y="3136392"/>
            <a:ext cx="4187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복잡한 필터가 필요한 서비스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1051560" y="3602736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pgvector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2697480" y="3602736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기존 PostgreSQL에 통합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7086600" y="3602736"/>
            <a:ext cx="4187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이미 RDB를 쓰는 팀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85800" y="4069080"/>
            <a:ext cx="10817352" cy="411480"/>
          </a:xfrm>
          <a:prstGeom prst="roundRect">
            <a:avLst>
              <a:gd name="adj" fmla="val 8889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1051560" y="406908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Pinecone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2697480" y="4069080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완전 관리형 클라우드 · 무중단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7086600" y="4069080"/>
            <a:ext cx="4187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운영 부담을 줄이고 싶을 때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85800" y="4663440"/>
            <a:ext cx="10817352" cy="1325880"/>
          </a:xfrm>
          <a:prstGeom prst="roundRect">
            <a:avLst>
              <a:gd name="adj" fmla="val 2759"/>
            </a:avLst>
          </a:prstGeom>
          <a:solidFill>
            <a:srgbClr val="E8F3EE"/>
          </a:solidFill>
          <a:ln w="12700">
            <a:solidFill>
              <a:srgbClr val="E8F3EE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1143000" y="486460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저장소를 바꿔도 코드는 거의 그대로입니다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1143000" y="5285232"/>
            <a:ext cx="99029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LangChain이 인터페이스를 통일해두었습니다. 클래스 이름만 바뀌고 나머지는 동일합니다.</a:t>
            </a:r>
            <a:endParaRPr lang="en-US" sz="130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지금은 FAISS로 배우고, 나중에 필요하면 갈아타면 됩니다.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FAISS LIMITS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언제 FAISS를 벗어나야 하나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719072"/>
            <a:ext cx="3401568" cy="2697480"/>
          </a:xfrm>
          <a:prstGeom prst="roundRect">
            <a:avLst>
              <a:gd name="adj" fmla="val 1356"/>
            </a:avLst>
          </a:prstGeom>
          <a:solidFill>
            <a:srgbClr val="FCF3E2"/>
          </a:solidFill>
          <a:ln w="12700">
            <a:solidFill>
              <a:srgbClr val="FCF3E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78408" y="1993392"/>
            <a:ext cx="457200" cy="457200"/>
          </a:xfrm>
          <a:prstGeom prst="ellipse">
            <a:avLst/>
          </a:prstGeom>
          <a:solidFill>
            <a:srgbClr val="D2891F"/>
          </a:solidFill>
          <a:ln w="12700">
            <a:solidFill>
              <a:srgbClr val="D2891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78408" y="19933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78408" y="2651760"/>
            <a:ext cx="28529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여러 서버에서 공유하기 어렵다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978408" y="3401568"/>
            <a:ext cx="28529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파일 기반이라 서버가 여러 대면</a:t>
            </a:r>
            <a:endParaRPr lang="en-US" sz="1250" dirty="0"/>
          </a:p>
          <a:p>
            <a:pPr marL="0" indent="0">
              <a:lnSpc>
                <a:spcPts val="21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동기화가 문제가 됩니다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43400" y="1719072"/>
            <a:ext cx="3401568" cy="2697480"/>
          </a:xfrm>
          <a:prstGeom prst="roundRect">
            <a:avLst>
              <a:gd name="adj" fmla="val 1356"/>
            </a:avLst>
          </a:prstGeom>
          <a:solidFill>
            <a:srgbClr val="FCF3E2"/>
          </a:solidFill>
          <a:ln w="12700">
            <a:solidFill>
              <a:srgbClr val="FCF3E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36008" y="1993392"/>
            <a:ext cx="457200" cy="457200"/>
          </a:xfrm>
          <a:prstGeom prst="ellipse">
            <a:avLst/>
          </a:prstGeom>
          <a:solidFill>
            <a:srgbClr val="D2891F"/>
          </a:solidFill>
          <a:ln w="12700">
            <a:solidFill>
              <a:srgbClr val="D2891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636008" y="19933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636008" y="2651760"/>
            <a:ext cx="28529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실시간 갱신에 약하다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4636008" y="3401568"/>
            <a:ext cx="28529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문서가 수시로 바뀌면</a:t>
            </a:r>
            <a:endParaRPr lang="en-US" sz="1250" dirty="0"/>
          </a:p>
          <a:p>
            <a:pPr marL="0" indent="0">
              <a:lnSpc>
                <a:spcPts val="21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재생성 부담이 큽니다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001000" y="1719072"/>
            <a:ext cx="3401568" cy="2697480"/>
          </a:xfrm>
          <a:prstGeom prst="roundRect">
            <a:avLst>
              <a:gd name="adj" fmla="val 1356"/>
            </a:avLst>
          </a:prstGeom>
          <a:solidFill>
            <a:srgbClr val="FCF3E2"/>
          </a:solidFill>
          <a:ln w="12700">
            <a:solidFill>
              <a:srgbClr val="FCF3E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93608" y="1993392"/>
            <a:ext cx="457200" cy="457200"/>
          </a:xfrm>
          <a:prstGeom prst="ellipse">
            <a:avLst/>
          </a:prstGeom>
          <a:solidFill>
            <a:srgbClr val="B3402F"/>
          </a:solidFill>
          <a:ln w="12700">
            <a:solidFill>
              <a:srgbClr val="B3402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293608" y="19933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8293608" y="2651760"/>
            <a:ext cx="28529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복잡한 조건 검색이 제한적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8293608" y="3401568"/>
            <a:ext cx="28529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"부서=영업 AND 작성일&gt;2025"</a:t>
            </a:r>
            <a:endParaRPr lang="en-US" sz="1250" dirty="0"/>
          </a:p>
          <a:p>
            <a:pPr marL="0" indent="0">
              <a:lnSpc>
                <a:spcPts val="21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조건은 불편합니다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85800" y="4617720"/>
            <a:ext cx="10817352" cy="1188720"/>
          </a:xfrm>
          <a:prstGeom prst="roundRect">
            <a:avLst>
              <a:gd name="adj" fmla="val 3077"/>
            </a:avLst>
          </a:prstGeom>
          <a:solidFill>
            <a:srgbClr val="16243D"/>
          </a:solidFill>
          <a:ln w="12700">
            <a:solidFill>
              <a:srgbClr val="16243D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85800" y="4937760"/>
            <a:ext cx="10817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학습과 프로토타입 단계에서는 문제없습니다 — 실서비스로 갈 때 다시 검토하세요</a:t>
            </a:r>
            <a:endParaRPr lang="en-US" sz="1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IMPROVED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8차시 대비 좋아진 점 세 가지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691640"/>
            <a:ext cx="3401568" cy="2834640"/>
          </a:xfrm>
          <a:prstGeom prst="roundRect">
            <a:avLst>
              <a:gd name="adj" fmla="val 1290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78408" y="1965960"/>
            <a:ext cx="493776" cy="493776"/>
          </a:xfrm>
          <a:prstGeom prst="ellipse">
            <a:avLst/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78408" y="196596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978408" y="2651760"/>
            <a:ext cx="28529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번째 실행부터 즉시 시작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978408" y="3474720"/>
            <a:ext cx="28529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인덱스를 불러오므로</a:t>
            </a:r>
            <a:endParaRPr lang="en-US" sz="1250" dirty="0"/>
          </a:p>
          <a:p>
            <a:pPr marL="0" indent="0">
              <a:lnSpc>
                <a:spcPts val="21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임베딩 비용이 0입니다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43400" y="1691640"/>
            <a:ext cx="3401568" cy="2834640"/>
          </a:xfrm>
          <a:prstGeom prst="roundRect">
            <a:avLst>
              <a:gd name="adj" fmla="val 1290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36008" y="1965960"/>
            <a:ext cx="493776" cy="493776"/>
          </a:xfrm>
          <a:prstGeom prst="ellipse">
            <a:avLst/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636008" y="196596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636008" y="2651760"/>
            <a:ext cx="28529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관련 없으면 LLM을 부르지 않음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4636008" y="3474720"/>
            <a:ext cx="28529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임계값 미달이면 바로 종료</a:t>
            </a:r>
            <a:endParaRPr lang="en-US" sz="1250" dirty="0"/>
          </a:p>
          <a:p>
            <a:pPr marL="0" indent="0">
              <a:lnSpc>
                <a:spcPts val="21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비용 절약 + 환각 차단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001000" y="1691640"/>
            <a:ext cx="3401568" cy="2834640"/>
          </a:xfrm>
          <a:prstGeom prst="roundRect">
            <a:avLst>
              <a:gd name="adj" fmla="val 1290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93608" y="1965960"/>
            <a:ext cx="493776" cy="493776"/>
          </a:xfrm>
          <a:prstGeom prst="ellipse">
            <a:avLst/>
          </a:prstGeom>
          <a:solidFill>
            <a:srgbClr val="D2891F"/>
          </a:solidFill>
          <a:ln w="12700">
            <a:solidFill>
              <a:srgbClr val="D2891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293608" y="196596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8293608" y="2651760"/>
            <a:ext cx="28529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근거의 신뢰도가 숫자로 보임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8293608" y="3474720"/>
            <a:ext cx="28529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답이 이상할 때</a:t>
            </a:r>
            <a:endParaRPr lang="en-US" sz="1250" dirty="0"/>
          </a:p>
          <a:p>
            <a:pPr marL="0" indent="0">
              <a:lnSpc>
                <a:spcPts val="21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관련도부터 확인하면 됩니다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85800" y="4754880"/>
            <a:ext cx="10817352" cy="1143000"/>
          </a:xfrm>
          <a:prstGeom prst="roundRect">
            <a:avLst>
              <a:gd name="adj" fmla="val 3200"/>
            </a:avLst>
          </a:prstGeom>
          <a:solidFill>
            <a:srgbClr val="16243D"/>
          </a:solidFill>
          <a:ln w="12700">
            <a:solidFill>
              <a:srgbClr val="16243D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85800" y="5052060"/>
            <a:ext cx="10817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하루에 실험을 열 번 하느냐, 백 번 하느냐의 차이입니다</a:t>
            </a:r>
            <a:endParaRPr lang="en-US" sz="1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TROUBLESHOOTING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자주 겪는 문제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691640"/>
            <a:ext cx="10817352" cy="603504"/>
          </a:xfrm>
          <a:prstGeom prst="roundRect">
            <a:avLst>
              <a:gd name="adj" fmla="val 6061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51560" y="1691640"/>
            <a:ext cx="4114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불러올 때 오류가 난다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303520" y="1691640"/>
            <a:ext cx="365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CED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806440" y="1691640"/>
            <a:ext cx="5120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역직렬화 허용 옵션을 빠뜨렸습니다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85800" y="2404872"/>
            <a:ext cx="10817352" cy="603504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51560" y="2404872"/>
            <a:ext cx="4114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불러왔는데 검색 결과가 이상하다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303520" y="2404872"/>
            <a:ext cx="365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CED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5806440" y="2404872"/>
            <a:ext cx="5120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B340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인덱싱 때와 다른 임베딩 모델을 썼습니다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85800" y="3118104"/>
            <a:ext cx="10817352" cy="603504"/>
          </a:xfrm>
          <a:prstGeom prst="roundRect">
            <a:avLst>
              <a:gd name="adj" fmla="val 6061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051560" y="3118104"/>
            <a:ext cx="4114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문서를 추가했는데 다음 실행에 없다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5303520" y="3118104"/>
            <a:ext cx="365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CED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806440" y="3118104"/>
            <a:ext cx="5120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B340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추가 후 저장을 안 했습니다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85800" y="3831336"/>
            <a:ext cx="10817352" cy="603504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051560" y="3831336"/>
            <a:ext cx="4114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점수가 낮아 관련 없다고 판단했다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5303520" y="3831336"/>
            <a:ext cx="365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CED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5806440" y="3831336"/>
            <a:ext cx="5120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with_score는 거리입니다. relevance_scores를 쓰세요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85800" y="4544568"/>
            <a:ext cx="10817352" cy="603504"/>
          </a:xfrm>
          <a:prstGeom prst="roundRect">
            <a:avLst>
              <a:gd name="adj" fmla="val 6061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051560" y="4544568"/>
            <a:ext cx="4114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chunk_size를 바꿨는데 결과가 그대로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5303520" y="4544568"/>
            <a:ext cx="365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CED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5806440" y="4544568"/>
            <a:ext cx="5120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기존 인덱스를 불러왔습니다. 강제 재생성하세요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85800" y="5257800"/>
            <a:ext cx="10817352" cy="603504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051560" y="5257800"/>
            <a:ext cx="4114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인덱스 폴더가 지워졌다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5303520" y="5257800"/>
            <a:ext cx="365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CED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5806440" y="5257800"/>
            <a:ext cx="5120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재생성하면 됩니다. 원본 문서만 있으면 복구 가능합니다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RECORD IT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인덱스와 설정을 함께 기록하기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371600"/>
            <a:ext cx="10817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시간이 지나면 "이 인덱스가 어떤 설정으로 만들어졌더라?"를 잊게 됩니다.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85800" y="1783080"/>
            <a:ext cx="10817352" cy="2011680"/>
          </a:xfrm>
          <a:prstGeom prst="roundRect">
            <a:avLst>
              <a:gd name="adj" fmla="val 1818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143000" y="2011680"/>
            <a:ext cx="9902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인덱스 폴더에 함께 남길 것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2514600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원본 문서 경로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6035040" y="2514600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임베딩 모델명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1325880" y="2898648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chunk_size · overlap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6035040" y="2898648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조각 개수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3282696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생성 일시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6035040" y="3282696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비고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85800" y="4023360"/>
            <a:ext cx="10817352" cy="1965960"/>
          </a:xfrm>
          <a:prstGeom prst="roundRect">
            <a:avLst>
              <a:gd name="adj" fmla="val 1860"/>
            </a:avLst>
          </a:prstGeom>
          <a:solidFill>
            <a:srgbClr val="FCF3E2"/>
          </a:solidFill>
          <a:ln w="12700">
            <a:solidFill>
              <a:srgbClr val="FCF3E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143000" y="4251960"/>
            <a:ext cx="9902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이게 중요한가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1143000" y="4709160"/>
            <a:ext cx="99029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600"/>
              </a:lnSpc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14차시에서 여러 설정으로 실험을 하게 됩니다. 인덱스가 여러 개 생기는데,</a:t>
            </a:r>
            <a:endParaRPr lang="en-US" sz="135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기록이 없으면 어느 게 어떤 설정인지 알 수 없습니다.</a:t>
            </a:r>
            <a:endParaRPr lang="en-US" sz="135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작은 메모 파일 하나만 남겨도 나중에 큰 도움이 됩니다.</a:t>
            </a:r>
            <a:endParaRPr lang="en-US" sz="13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CHECKLIST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이번 차시 체크리스트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719072"/>
            <a:ext cx="5257800" cy="3840480"/>
          </a:xfrm>
          <a:prstGeom prst="roundRect">
            <a:avLst>
              <a:gd name="adj" fmla="val 952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88136" y="201168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개념 이해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088136" y="2651760"/>
            <a:ext cx="44805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0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 전용 저장소가 필요한 이유를 두 가지로 말한다</a:t>
            </a:r>
            <a:endParaRPr lang="en-US" sz="1250" dirty="0"/>
          </a:p>
          <a:p>
            <a:pPr marL="0" indent="0">
              <a:lnSpc>
                <a:spcPts val="30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 인덱스를 도서관 비유로 설명할 수 있다</a:t>
            </a:r>
            <a:endParaRPr lang="en-US" sz="1250" dirty="0"/>
          </a:p>
          <a:p>
            <a:pPr marL="0" indent="0">
              <a:lnSpc>
                <a:spcPts val="30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 ANN이 무엇을 타협하는지 안다</a:t>
            </a:r>
            <a:endParaRPr lang="en-US" sz="1250" dirty="0"/>
          </a:p>
          <a:p>
            <a:pPr marL="0" indent="0">
              <a:lnSpc>
                <a:spcPts val="30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 두 점수 함수의 차이를 안다</a:t>
            </a:r>
            <a:endParaRPr lang="en-US" sz="1250" dirty="0"/>
          </a:p>
          <a:p>
            <a:pPr marL="0" indent="0">
              <a:lnSpc>
                <a:spcPts val="30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 저장소 종류와 선택 기준을 대략 안다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45352" y="1719072"/>
            <a:ext cx="5257800" cy="3840480"/>
          </a:xfrm>
          <a:prstGeom prst="roundRect">
            <a:avLst>
              <a:gd name="adj" fmla="val 952"/>
            </a:avLst>
          </a:prstGeom>
          <a:solidFill>
            <a:srgbClr val="FCF3E2"/>
          </a:solidFill>
          <a:ln w="12700">
            <a:solidFill>
              <a:srgbClr val="FCF3E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647688" y="201168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실습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6647688" y="2651760"/>
            <a:ext cx="44805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6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 인덱스를 만들고 디스크에 저장했다</a:t>
            </a:r>
            <a:endParaRPr lang="en-US" sz="125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 껐다 켠 뒤 불러오기에 성공했다</a:t>
            </a:r>
            <a:endParaRPr lang="en-US" sz="125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 있으면 로드/없으면 생성 함수를 만들었다</a:t>
            </a:r>
            <a:endParaRPr lang="en-US" sz="125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 점수를 포함한 검색으로 확인했다</a:t>
            </a:r>
            <a:endParaRPr lang="en-US" sz="125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 임계값으로 저품질 결과를 걸러냈다</a:t>
            </a:r>
            <a:endParaRPr lang="en-US" sz="125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 문서를 추가하고 다시 저장해봤다</a:t>
            </a:r>
            <a:endParaRPr lang="en-US" sz="12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ASSIGNMENT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이번 차시 과제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691640"/>
            <a:ext cx="3401568" cy="2971800"/>
          </a:xfrm>
          <a:prstGeom prst="roundRect">
            <a:avLst>
              <a:gd name="adj" fmla="val 1231"/>
            </a:avLst>
          </a:prstGeom>
          <a:solidFill>
            <a:srgbClr val="FCF3E2"/>
          </a:solidFill>
          <a:ln w="12700">
            <a:solidFill>
              <a:srgbClr val="FCF3E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78408" y="1993392"/>
            <a:ext cx="493776" cy="493776"/>
          </a:xfrm>
          <a:prstGeom prst="ellipse">
            <a:avLst/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78408" y="199339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978408" y="2697480"/>
            <a:ext cx="28529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비용 절감 확인</a:t>
            </a:r>
            <a:endParaRPr lang="en-US" sz="1550" dirty="0"/>
          </a:p>
        </p:txBody>
      </p:sp>
      <p:sp>
        <p:nvSpPr>
          <p:cNvPr id="8" name="Text 6"/>
          <p:cNvSpPr txBox="1"/>
          <p:nvPr/>
        </p:nvSpPr>
        <p:spPr>
          <a:xfrm>
            <a:off x="978408" y="3474720"/>
            <a:ext cx="285292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최초 생성 시간과 두 번째 로드 시간을</a:t>
            </a:r>
            <a:endParaRPr lang="en-US" sz="1250" dirty="0"/>
          </a:p>
          <a:p>
            <a:pPr marL="0" indent="0">
              <a:lnSpc>
                <a:spcPts val="21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각각 재서 표로 비교하세요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43400" y="1691640"/>
            <a:ext cx="3401568" cy="2971800"/>
          </a:xfrm>
          <a:prstGeom prst="roundRect">
            <a:avLst>
              <a:gd name="adj" fmla="val 1231"/>
            </a:avLst>
          </a:prstGeom>
          <a:solidFill>
            <a:srgbClr val="FCF3E2"/>
          </a:solidFill>
          <a:ln w="12700">
            <a:solidFill>
              <a:srgbClr val="FCF3E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36008" y="1993392"/>
            <a:ext cx="493776" cy="493776"/>
          </a:xfrm>
          <a:prstGeom prst="ellipse">
            <a:avLst/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636008" y="199339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636008" y="2697480"/>
            <a:ext cx="28529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임계값 검증</a:t>
            </a:r>
            <a:endParaRPr lang="en-US" sz="1550" dirty="0"/>
          </a:p>
        </p:txBody>
      </p:sp>
      <p:sp>
        <p:nvSpPr>
          <p:cNvPr id="13" name="Text 11"/>
          <p:cNvSpPr txBox="1"/>
          <p:nvPr/>
        </p:nvSpPr>
        <p:spPr>
          <a:xfrm>
            <a:off x="4636008" y="3474720"/>
            <a:ext cx="285292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답할 수 있는데 못 찾는 경우와</a:t>
            </a:r>
            <a:endParaRPr lang="en-US" sz="1250" dirty="0"/>
          </a:p>
          <a:p>
            <a:pPr marL="0" indent="0">
              <a:lnSpc>
                <a:spcPts val="21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관련 없는데 답하는 경우가 없는지 확인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001000" y="1691640"/>
            <a:ext cx="3401568" cy="2971800"/>
          </a:xfrm>
          <a:prstGeom prst="roundRect">
            <a:avLst>
              <a:gd name="adj" fmla="val 1231"/>
            </a:avLst>
          </a:prstGeom>
          <a:solidFill>
            <a:srgbClr val="FCF3E2"/>
          </a:solidFill>
          <a:ln w="12700">
            <a:solidFill>
              <a:srgbClr val="FCF3E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93608" y="1993392"/>
            <a:ext cx="493776" cy="493776"/>
          </a:xfrm>
          <a:prstGeom prst="ellipse">
            <a:avLst/>
          </a:prstGeom>
          <a:solidFill>
            <a:srgbClr val="D2891F"/>
          </a:solidFill>
          <a:ln w="12700">
            <a:solidFill>
              <a:srgbClr val="D2891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293608" y="199339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8293608" y="2697480"/>
            <a:ext cx="28529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문서 추가 실습</a:t>
            </a:r>
            <a:endParaRPr lang="en-US" sz="1550" dirty="0"/>
          </a:p>
        </p:txBody>
      </p:sp>
      <p:sp>
        <p:nvSpPr>
          <p:cNvPr id="18" name="Text 16"/>
          <p:cNvSpPr txBox="1"/>
          <p:nvPr/>
        </p:nvSpPr>
        <p:spPr>
          <a:xfrm>
            <a:off x="8293608" y="3474720"/>
            <a:ext cx="285292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새 문서를 하나 더 넣고 추가한 뒤</a:t>
            </a:r>
            <a:endParaRPr lang="en-US" sz="1250" dirty="0"/>
          </a:p>
          <a:p>
            <a:pPr marL="0" indent="0">
              <a:lnSpc>
                <a:spcPts val="21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 내용에 대한 질문이 답변되는지 확인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85800" y="4892040"/>
            <a:ext cx="10817352" cy="1051560"/>
          </a:xfrm>
          <a:prstGeom prst="roundRect">
            <a:avLst>
              <a:gd name="adj" fmla="val 3478"/>
            </a:avLst>
          </a:prstGeom>
          <a:solidFill>
            <a:srgbClr val="16243D"/>
          </a:solidFill>
          <a:ln w="12700">
            <a:solidFill>
              <a:srgbClr val="16243D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85800" y="5143500"/>
            <a:ext cx="10817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2번에서 문제가 있으면 값을 조정하고 그 이유를 기록하세요</a:t>
            </a:r>
            <a:endParaRPr lang="en-US" sz="1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NEXT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차시 미리보기 — 11차시 Retriever 기초 실습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417320"/>
            <a:ext cx="10817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지금까지는 저장소 함수를 직접 불렀습니다. 저장소를 바꾸면 코드를 다 고쳐야 합니다.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85800" y="2011680"/>
            <a:ext cx="2416302" cy="1554480"/>
          </a:xfrm>
          <a:prstGeom prst="roundRect">
            <a:avLst>
              <a:gd name="adj" fmla="val 2353"/>
            </a:avLst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58952" y="2384755"/>
            <a:ext cx="226999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Retriever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40664" y="2882189"/>
            <a:ext cx="230657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어떤 저장소든 동일하게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184398" y="2688336"/>
            <a:ext cx="219456" cy="201168"/>
          </a:xfrm>
          <a:prstGeom prst="rightArrow">
            <a:avLst/>
          </a:prstGeom>
          <a:solidFill>
            <a:srgbClr val="C8CEDA"/>
          </a:solidFill>
          <a:ln w="12700">
            <a:solidFill>
              <a:srgbClr val="C8CED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86150" y="2011680"/>
            <a:ext cx="2416302" cy="1554480"/>
          </a:xfrm>
          <a:prstGeom prst="roundRect">
            <a:avLst>
              <a:gd name="adj" fmla="val 2353"/>
            </a:avLst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559302" y="2384755"/>
            <a:ext cx="226999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Top-K 실험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3541014" y="2882189"/>
            <a:ext cx="230657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정답률과 노이즈 비교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984748" y="2688336"/>
            <a:ext cx="219456" cy="201168"/>
          </a:xfrm>
          <a:prstGeom prst="rightArrow">
            <a:avLst/>
          </a:prstGeom>
          <a:solidFill>
            <a:srgbClr val="C8CEDA"/>
          </a:solidFill>
          <a:ln w="12700">
            <a:solidFill>
              <a:srgbClr val="C8CED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86500" y="2011680"/>
            <a:ext cx="2416302" cy="1554480"/>
          </a:xfrm>
          <a:prstGeom prst="roundRect">
            <a:avLst>
              <a:gd name="adj" fmla="val 2353"/>
            </a:avLst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359652" y="2384755"/>
            <a:ext cx="226999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MMR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341364" y="2882189"/>
            <a:ext cx="230657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중복 없이 다양하게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785098" y="2688336"/>
            <a:ext cx="219456" cy="201168"/>
          </a:xfrm>
          <a:prstGeom prst="rightArrow">
            <a:avLst/>
          </a:prstGeom>
          <a:solidFill>
            <a:srgbClr val="C8CEDA"/>
          </a:solidFill>
          <a:ln w="12700">
            <a:solidFill>
              <a:srgbClr val="C8CED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086850" y="2011680"/>
            <a:ext cx="2416302" cy="1554480"/>
          </a:xfrm>
          <a:prstGeom prst="roundRect">
            <a:avLst>
              <a:gd name="adj" fmla="val 2353"/>
            </a:avLst>
          </a:prstGeom>
          <a:solidFill>
            <a:srgbClr val="D2891F"/>
          </a:solidFill>
          <a:ln w="12700">
            <a:solidFill>
              <a:srgbClr val="D2891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160002" y="2384755"/>
            <a:ext cx="226999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문맥 조립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9141714" y="2882189"/>
            <a:ext cx="230657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LLM에 넘길 형태로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85800" y="3977640"/>
            <a:ext cx="10817352" cy="1691640"/>
          </a:xfrm>
          <a:prstGeom prst="roundRect">
            <a:avLst>
              <a:gd name="adj" fmla="val 2162"/>
            </a:avLst>
          </a:prstGeom>
          <a:solidFill>
            <a:srgbClr val="FCF3E2"/>
          </a:solidFill>
          <a:ln w="12700">
            <a:solidFill>
              <a:srgbClr val="FCF3E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143000" y="4224528"/>
            <a:ext cx="9902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여기서 만든 retriever가 24차시 Retriever Node의 원형이 됩니다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1143000" y="4709160"/>
            <a:ext cx="99029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검색을 하나의 독립된 부품으로 감싸두면, 나중에 그래프 구조로 옮길 때 그대로 쓸 수 있습니다.</a:t>
            </a:r>
            <a:endParaRPr lang="en-US" sz="13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624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1828800"/>
            <a:ext cx="2468880" cy="3108960"/>
          </a:xfrm>
          <a:prstGeom prst="roundRect">
            <a:avLst>
              <a:gd name="adj" fmla="val 1481"/>
            </a:avLst>
          </a:prstGeom>
          <a:solidFill>
            <a:srgbClr val="24365C"/>
          </a:solidFill>
          <a:ln w="12700">
            <a:solidFill>
              <a:srgbClr val="2436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418320" y="2331720"/>
            <a:ext cx="1737360" cy="118872"/>
          </a:xfrm>
          <a:prstGeom prst="rect">
            <a:avLst/>
          </a:prstGeom>
          <a:solidFill>
            <a:srgbClr val="5B7FBD"/>
          </a:solidFill>
          <a:ln w="12700">
            <a:solidFill>
              <a:srgbClr val="5B7FB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418320" y="2788920"/>
            <a:ext cx="1737360" cy="118872"/>
          </a:xfrm>
          <a:prstGeom prst="rect">
            <a:avLst/>
          </a:prstGeom>
          <a:solidFill>
            <a:srgbClr val="5B7FBD"/>
          </a:solidFill>
          <a:ln w="12700">
            <a:solidFill>
              <a:srgbClr val="5B7FB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418320" y="3246120"/>
            <a:ext cx="1737360" cy="118872"/>
          </a:xfrm>
          <a:prstGeom prst="rect">
            <a:avLst/>
          </a:prstGeom>
          <a:solidFill>
            <a:srgbClr val="5B7FBD"/>
          </a:solidFill>
          <a:ln w="12700">
            <a:solidFill>
              <a:srgbClr val="5B7FB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418320" y="3703320"/>
            <a:ext cx="1737360" cy="118872"/>
          </a:xfrm>
          <a:prstGeom prst="rect">
            <a:avLst/>
          </a:prstGeom>
          <a:solidFill>
            <a:srgbClr val="5B7FBD"/>
          </a:solidFill>
          <a:ln w="12700">
            <a:solidFill>
              <a:srgbClr val="5B7FB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418320" y="4160520"/>
            <a:ext cx="1188720" cy="118872"/>
          </a:xfrm>
          <a:prstGeom prst="rect">
            <a:avLst/>
          </a:prstGeom>
          <a:solidFill>
            <a:srgbClr val="D2891F"/>
          </a:solidFill>
          <a:ln w="12700">
            <a:solidFill>
              <a:srgbClr val="D2891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1572768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마무리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2084832"/>
            <a:ext cx="79552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6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기다리는 1분과</a:t>
            </a:r>
            <a:endParaRPr lang="en-US" sz="3600" dirty="0"/>
          </a:p>
          <a:p>
            <a:pPr marL="0" indent="0">
              <a:lnSpc>
                <a:spcPts val="46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즉시 시작하는 차이</a:t>
            </a:r>
            <a:endParaRPr lang="en-US" sz="36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3794760"/>
            <a:ext cx="7955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600"/>
              </a:lnSpc>
              <a:buNone/>
            </a:pPr>
            <a:r>
              <a:rPr lang="en-US" sz="1400" dirty="0">
                <a:solidFill>
                  <a:srgbClr val="9FB2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내용 중 가장 실용적인 것은 저장과 불러오기입니다. 별것 아닌 것 같지만,</a:t>
            </a:r>
            <a:endParaRPr lang="en-US" sz="140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400" dirty="0">
                <a:solidFill>
                  <a:srgbClr val="9FB2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이것 하나로 개발 속도가 완전히 달라집니다. 8차시 코드로는 테스트 한 번에 1분씩 기다렸습니다.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4846320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그리고 임계값으로 저품질 검색을 걸러낸 것도 오늘의 수확입니다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5266944"/>
            <a:ext cx="7955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7F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"모르면 모른다고 답하는 시스템"에 한 걸음 더 다가갔습니다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85800" y="5897880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E92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11차시에서 만나요.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1583</Words>
  <Application>Microsoft Office PowerPoint</Application>
  <PresentationFormat>사용자 지정</PresentationFormat>
  <Paragraphs>362</Paragraphs>
  <Slides>21</Slides>
  <Notes>21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21</vt:i4>
      </vt:variant>
    </vt:vector>
  </HeadingPairs>
  <TitlesOfParts>
    <vt:vector size="22" baseType="lpstr">
      <vt:lpstr>Office Theme</vt:lpstr>
      <vt:lpstr>슬라이드 1</vt:lpstr>
      <vt:lpstr>슬라이드 2</vt:lpstr>
      <vt:lpstr>슬라이드 3</vt:lpstr>
      <vt:lpstr>슬라이드 4</vt:lpstr>
      <vt:lpstr>슬라이드 5</vt:lpstr>
      <vt:lpstr>슬라이드 6</vt:lpstr>
      <vt:lpstr>슬라이드 7</vt:lpstr>
      <vt:lpstr>슬라이드 8</vt:lpstr>
      <vt:lpstr>슬라이드 9</vt:lpstr>
      <vt:lpstr>슬라이드 10</vt:lpstr>
      <vt:lpstr>슬라이드 11</vt:lpstr>
      <vt:lpstr>슬라이드 12</vt:lpstr>
      <vt:lpstr>슬라이드 13</vt:lpstr>
      <vt:lpstr>슬라이드 14</vt:lpstr>
      <vt:lpstr>슬라이드 15</vt:lpstr>
      <vt:lpstr>슬라이드 16</vt:lpstr>
      <vt:lpstr>슬라이드 17</vt:lpstr>
      <vt:lpstr>슬라이드 18</vt:lpstr>
      <vt:lpstr>슬라이드 19</vt:lpstr>
      <vt:lpstr>슬라이드 20</vt:lpstr>
      <vt:lpstr>슬라이드 21</vt:lpstr>
    </vt:vector>
  </TitlesOfParts>
  <Company>PptxGenJS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LangGraph 10차시 벡터저장소 이해</dc:title>
  <dc:subject>PptxGenJS Presentation</dc:subject>
  <dc:creator>이창현</dc:creator>
  <cp:lastModifiedBy>Lenovo</cp:lastModifiedBy>
  <cp:revision>1</cp:revision>
  <dcterms:created xsi:type="dcterms:W3CDTF">2026-09-15T01:23:06Z</dcterms:created>
  <dcterms:modified xsi:type="dcterms:W3CDTF">2026-09-15T08:15:56Z</dcterms:modified>
</cp:coreProperties>
</file>