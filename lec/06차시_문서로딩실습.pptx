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6차시 문서 로딩 실습입니다. 오늘은 RAG 5단계 중 첫 번째인 수집(Ingestion)을 다룹니다. 화려하진 않지만 실무 RAG 실패의 상당수가 이 단계에서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목표 6가지입니다. 파란 카드 3개는 개념, 회색 카드 3개는 실전 대응입니다.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3차시에서 배운 RAG 5단계를 상기시켜 주세요. 오늘은 맨 앞, 수집 단계만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요리 비유로 직관을 만들어 줍니다. 재료가 품질의 상한선이라는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모두 현장에서 자주 나오는 증상입니다. 특히 ③ 스캔 PDF는 며칠 뒤에야 발견되는 경우가 많습니다.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오늘 강의의 핵심 논리입니다. 오염은 뒤로 전파되고, 뒤에서는 복구되지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용어는 빠르게 훑고 지나가되, Document / page_content / metadata 세 개는 다음 슬라이드에서 자세히 다룬다고 예고하세요.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중요한 그림입니다. Document는 두 칸짜리 상자다 — 이 이미지 하나만 남겨도 성공입니다.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초보자가 가장 많이 지나치는 부분이 metadata입니다. 출처 표시가 곧 신뢰라는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외울 필요는 없습니다. 확장자에 맞는 로더를 고르고, 읽은 결과를 눈으로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차이 때문에 PDF는 페이지 단위 출처 표시가 가능합니다. page가 0부터인 것은 실습에서 반드시 걸리는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실무에서 가장 많이 당하는 함정입니다. 수강생에게 직접 겪은 적 있는지 물어보면 반응이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코드 자체는 교재에 있습니다. 여기서는 무엇을 왜 확인하는지 세 가지만 기억하게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metadata는 로딩 시점에만 손쉽게 붙일 수 있습니다. 나중에 붙이려면 전체를 다시 읽어야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사내 문서에는 대외비 표시, 쪽번호, 반복 푸터가 거의 항상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번에 전체 폴더를 돌리다 실패하는 사례가 많습니다. 작게 시작하라고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질문이 나오면 이 표로 돌아오세요. 대부분 여기서 해결됩니다.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로더를 이것저것 바꿔보며 시간을 버리는 경우가 많습니다. 원본 확보가 가장 빠른 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교재에 있습니다. 여기서는 세 가지 책임을 한 함수로 묶었다는 구조만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체크리스트는 과제 제출 기준이기도 합니다. 화면에 띄워두고 하나씩 확인하게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리포트는 표 형태로 제출받으면 확인이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Document 목록이 다음 차시의 입력이 됩니다. 자연스럽게 이어진다는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짧게. 검증 습관 하나만 남기고 끝내세요.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6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로딩 실습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RAG의 첫 관문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읽어들인 텍스트의 품질이 RAG 전체의 상한선을 결정합니다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394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로딩이 첫 단추인가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Ingestion이 RAG 5단계에서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차지하는 위치를 이해한다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394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형식별로 문서 불러오기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TXT · PDF · Markdown을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읽어본다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394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객체 구조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page_content와 metadata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칸의 의미를 파악한다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394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metadata로 출처 붙이기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 근거를 표시할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준비를 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394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 결과 검증하기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제대로 읽혔는지 확인하는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익힌다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394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문제 해결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깨짐 · 스캔 PDF를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다룰지 배운다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배우는 곳은 RAG 5단계의 맨 앞입니다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8592" y="2286000"/>
            <a:ext cx="1883664" cy="1645920"/>
          </a:xfrm>
          <a:prstGeom prst="roundRect">
            <a:avLst>
              <a:gd name="adj" fmla="val 5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8592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18592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84552" y="3008376"/>
            <a:ext cx="219456" cy="201168"/>
          </a:xfrm>
          <a:prstGeom prst="rightArrow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6304" y="2286000"/>
            <a:ext cx="1883664" cy="1645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6304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86304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52264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54016" y="2286000"/>
            <a:ext cx="1883664" cy="1645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4016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154016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19976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1728" y="2286000"/>
            <a:ext cx="1883664" cy="1645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21728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421728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87688" y="30083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89440" y="2286000"/>
            <a:ext cx="1883664" cy="1645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89440" y="270662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89440" y="323697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8592" y="18745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자리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600200"/>
          </a:xfrm>
          <a:prstGeom prst="roundRect">
            <a:avLst>
              <a:gd name="adj" fmla="val 514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4700016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단계가 무너지면 뒤 단계는 손댈 수 없습니다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138928"/>
            <a:ext cx="99056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알고리즘을 아무리 정교하게 다듬어도, 애초에 깨진 텍스트를 찾아올 뿐입니다.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품질 문제는 반드시 로딩 단계에서 잡아야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하필 첫 단계에 시간을 쓸까?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요리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999232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아무리 훌륭한 셰프여도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썩은 재료로는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요리를 만들 수 없습니다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095" y="1719072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2143" y="2084832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32143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90511" y="21579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650431" y="2999232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아무리 좋은 GPT를 써도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읽어들인 텍스트가 깨져 있으면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답변이 나올 수 없습니다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16352"/>
            <a:ext cx="304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85800" y="475488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10235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RAG의 품질은 문서 로딩 품질을 절대 넘지 못합니다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로딩을 대충 하면 벌어지는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920240"/>
            <a:ext cx="438912" cy="43891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965960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전부 깨짐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542032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 가격은 100,000원입니다"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"?????? ??? 100,000?????"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323697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인코딩을 지정하지 않아서 생깁니다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627632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1920240"/>
            <a:ext cx="438912" cy="43891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624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41464" y="1965960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뒤죽박죽 섞임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2542032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가격표의 숫자와 항목이 뒤엉켜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"제품A 제품B 10000 20000"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323697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숫자가 어느 제품 가격인지 알 수 없습니다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41648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4334256"/>
            <a:ext cx="438912" cy="43891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81912" y="4379976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PDF는 빈 텍스트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4956048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겉보기엔 글자지만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사실은 한 장의 사진입니다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5650992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읽어도 아무 글자가 나오지 않습니다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5352" y="4041648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6248" y="4334256"/>
            <a:ext cx="438912" cy="43891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41464" y="4379976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머리말 · 쪽번호 혼입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6574536" y="4956048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페이지마다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"㈜한국주식회사 대외비 - 3 -"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74536" y="5650992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검색할 때 노이즈가 됩니다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문제는 나중 단계에서 고칠 수 없습니다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3204" y="2377440"/>
            <a:ext cx="1783080" cy="1207008"/>
          </a:xfrm>
          <a:prstGeom prst="roundRect">
            <a:avLst>
              <a:gd name="adj" fmla="val 6818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3204" y="276148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81148" y="2880360"/>
            <a:ext cx="237744" cy="201168"/>
          </a:xfrm>
          <a:prstGeom prst="rightArrow">
            <a:avLst/>
          </a:prstGeom>
          <a:solidFill>
            <a:srgbClr val="D9A79C"/>
          </a:solidFill>
          <a:ln w="12700">
            <a:solidFill>
              <a:srgbClr val="D9A7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3756" y="2377440"/>
            <a:ext cx="1783080" cy="1207008"/>
          </a:xfrm>
          <a:prstGeom prst="roundRect">
            <a:avLst>
              <a:gd name="adj" fmla="val 6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73756" y="276148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911700" y="2880360"/>
            <a:ext cx="237744" cy="201168"/>
          </a:xfrm>
          <a:prstGeom prst="rightArrow">
            <a:avLst/>
          </a:prstGeom>
          <a:solidFill>
            <a:srgbClr val="D9A79C"/>
          </a:solidFill>
          <a:ln w="12700">
            <a:solidFill>
              <a:srgbClr val="D9A7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4308" y="2377440"/>
            <a:ext cx="1783080" cy="1207008"/>
          </a:xfrm>
          <a:prstGeom prst="roundRect">
            <a:avLst>
              <a:gd name="adj" fmla="val 6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4308" y="276148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2252" y="2880360"/>
            <a:ext cx="237744" cy="201168"/>
          </a:xfrm>
          <a:prstGeom prst="rightArrow">
            <a:avLst/>
          </a:prstGeom>
          <a:solidFill>
            <a:srgbClr val="D9A79C"/>
          </a:solidFill>
          <a:ln w="12700">
            <a:solidFill>
              <a:srgbClr val="D9A7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4860" y="2377440"/>
            <a:ext cx="1783080" cy="1207008"/>
          </a:xfrm>
          <a:prstGeom prst="roundRect">
            <a:avLst>
              <a:gd name="adj" fmla="val 6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4860" y="276148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72804" y="2880360"/>
            <a:ext cx="237744" cy="201168"/>
          </a:xfrm>
          <a:prstGeom prst="rightArrow">
            <a:avLst/>
          </a:prstGeom>
          <a:solidFill>
            <a:srgbClr val="D9A79C"/>
          </a:solidFill>
          <a:ln w="12700">
            <a:solidFill>
              <a:srgbClr val="D9A7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5412" y="2377440"/>
            <a:ext cx="1783080" cy="1207008"/>
          </a:xfrm>
          <a:prstGeom prst="roundRect">
            <a:avLst>
              <a:gd name="adj" fmla="val 6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5412" y="276148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43204" y="1993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깨진 텍스트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73756" y="3785616"/>
            <a:ext cx="8174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깨진 채로 그대로 흘러갑니다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315968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9848" y="4572000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접근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" y="4983480"/>
            <a:ext cx="4489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이상하니 검색 알고리즘을 계속 손본다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원인은 그곳에 없습니다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48095" y="4315968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32143" y="4572000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올바른 접근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32143" y="4983480"/>
            <a:ext cx="4489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읽어들인 텍스트부터 눈으로 확인한다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로딩 단계에서 잡아야 합니다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820095" cy="676656"/>
          </a:xfrm>
          <a:prstGeom prst="roundRect">
            <a:avLst>
              <a:gd name="adj" fmla="val 1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01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80136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문서를 읽어 프로그램이 다룰 수 있는 텍스트로 바꾸는 단계. RAG 5단계 중 첫 번째입니다.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20095" cy="676656"/>
          </a:xfrm>
          <a:prstGeom prst="roundRect">
            <a:avLst>
              <a:gd name="adj" fmla="val 1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9464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형식에 맞게 문서를 읽어주는 도구. 형식마다 전용 로더가 있습니다.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63824"/>
            <a:ext cx="10820095" cy="676656"/>
          </a:xfrm>
          <a:prstGeom prst="roundRect">
            <a:avLst>
              <a:gd name="adj" fmla="val 1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337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337560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LangChain이 문서 한 조각을 담는 표준 상자. 본문과 부가정보 두 칸으로 되어 있습니다.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931920"/>
            <a:ext cx="10820095" cy="676656"/>
          </a:xfrm>
          <a:prstGeom prst="roundRect">
            <a:avLst>
              <a:gd name="adj" fmla="val 1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105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105656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안의 실제 텍스트 내용.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700016"/>
            <a:ext cx="10820095" cy="676656"/>
          </a:xfrm>
          <a:prstGeom prst="roundRect">
            <a:avLst>
              <a:gd name="adj" fmla="val 1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873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873752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경로 · 페이지 번호 같은 부가정보. 출처 표시에 쓰입니다.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468112"/>
            <a:ext cx="10820095" cy="676656"/>
          </a:xfrm>
          <a:prstGeom prst="roundRect">
            <a:avLst>
              <a:gd name="adj" fmla="val 1216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5641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564184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속 글자를 텍스트로 바꾸는 기술. 스캔 PDF에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— 모든 것의 기본 단위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LangChain에서 문서를 읽으면, 어떤 형식이든 Document 객체의 목록이 나옵니다.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669280" cy="3749040"/>
          </a:xfrm>
          <a:prstGeom prst="roundRect">
            <a:avLst>
              <a:gd name="adj" fmla="val 219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267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92608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31821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547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글자 — 본문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434340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459943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9651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BEB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꼬리표 — 어느 파일 몇 페이지에서 왔는지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2011680"/>
            <a:ext cx="4693615" cy="1600200"/>
          </a:xfrm>
          <a:prstGeom prst="roundRect">
            <a:avLst>
              <a:gd name="adj" fmla="val 514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59752" y="2322576"/>
            <a:ext cx="3998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 는 앞으로 이렇게 쓰입니다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2779776"/>
            <a:ext cx="399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7차시에서 분할하고, 8차시에서 임베딩하고,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최종적으로 LLM에 넘길 대상입니다.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4160520"/>
            <a:ext cx="4693615" cy="1600200"/>
          </a:xfrm>
          <a:prstGeom prst="roundRect">
            <a:avLst>
              <a:gd name="adj" fmla="val 514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59752" y="4471416"/>
            <a:ext cx="3998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 는 출처의 근거가 됩니다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4928616"/>
            <a:ext cx="3998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답변이 어느 문서에서 나왔는가"를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말할 수 있게 해주는 유일한 정보입니다.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METADATA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metadata가 없을 때 vs 있을 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370332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920240"/>
            <a:ext cx="420624" cy="420624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9568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 없이 답변하면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2596896"/>
            <a:ext cx="45262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1016" y="2788920"/>
            <a:ext cx="4087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7일 이내에 신청하셔야 합니다."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56616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:  "그거 어디에 나온 얘기예요?"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:  "…"  (모릅니다)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신뢰할 수 없는 시스템이 됩니다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8095" y="1627632"/>
            <a:ext cx="5257800" cy="3703320"/>
          </a:xfrm>
          <a:prstGeom prst="roundRect">
            <a:avLst>
              <a:gd name="adj" fmla="val 222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5567" y="1920240"/>
            <a:ext cx="420624" cy="42062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5567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44207" y="19568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metadata가 있으면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3855" y="2596896"/>
            <a:ext cx="45262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3311" y="2688336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7일 이내에 신청하셔야 합니다.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(출처 : 이용약관.pdf 12페이지)"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50431" y="356616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원문을 확인할 수 있습니다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틀렸을 때 어디를 고칠지 알 수 있습니다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실무에서 쓸 수 있는 시스템이 됩니다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로딩 단계에서 metadata를 반드시 확인하고, 필요하면 직접 정보를 추가해두어야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형식별 로더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0820095" cy="457200"/>
          </a:xfrm>
          <a:prstGeom prst="roundRect">
            <a:avLst>
              <a:gd name="adj" fmla="val 18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72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알아둘 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.txt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TextLoader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17627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인코딩을 지정하지 않으면 한글이 깨집니다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651760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798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.pdf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PyPDFLoader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798064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단위로 나뉩니다. 스캔본은 텍스트가 없습니다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273552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419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.md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UnstructuredMarkdownLoader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419856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같은 제목 구조를 살릴 수 있습니다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3895344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.docx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Docx2txtLoader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4041648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단순 텍스트로 평탄화됩니다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517136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.csv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CSVLoader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466344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행이 하나의 Document가 됩니다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5138928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285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5285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DirectoryLoader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528523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패턴으로 대상 확장자를 지정해야 합니다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760720"/>
            <a:ext cx="10820095" cy="548640"/>
          </a:xfrm>
          <a:prstGeom prst="roundRect">
            <a:avLst>
              <a:gd name="adj" fmla="val 1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907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웹페이지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606040" y="5907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WebBaseLoader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989320" y="5907024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· 메뉴 같은 불필요한 요소가 함께 들어옵니다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IMPORTANT DIFFERENCE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TXT와 PDF는 Document 개수가 다릅니다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TXT 파일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920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통째로 하나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2587752"/>
            <a:ext cx="1463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307238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notice</a:t>
            </a:r>
            <a:endParaRPr lang="en-US" sz="12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.txt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0360" y="3218688"/>
            <a:ext cx="731520" cy="201168"/>
          </a:xfrm>
          <a:prstGeom prst="rightArrow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2587752"/>
            <a:ext cx="1737360" cy="1463040"/>
          </a:xfrm>
          <a:prstGeom prst="roundRect">
            <a:avLst>
              <a:gd name="adj" fmla="val 5625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017520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5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48095" y="1627632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3855" y="1901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파일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28455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페이지마다 하나씩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96735" y="2587752"/>
            <a:ext cx="1463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6735" y="307238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</a:t>
            </a:r>
            <a:endParaRPr lang="en-US" sz="12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.pdf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42655" y="3218688"/>
            <a:ext cx="731520" cy="201168"/>
          </a:xfrm>
          <a:prstGeom prst="rightArrow">
            <a:avLst/>
          </a:prstGeom>
          <a:solidFill>
            <a:srgbClr val="D9B478"/>
          </a:solidFill>
          <a:ln w="12700">
            <a:solidFill>
              <a:srgbClr val="D9B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47327" y="2432304"/>
            <a:ext cx="1737360" cy="1463040"/>
          </a:xfrm>
          <a:prstGeom prst="roundRect">
            <a:avLst>
              <a:gd name="adj" fmla="val 5625"/>
            </a:avLst>
          </a:prstGeom>
          <a:solidFill>
            <a:srgbClr val="EBC790"/>
          </a:solidFill>
          <a:ln w="12700">
            <a:solidFill>
              <a:srgbClr val="EBC7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48495" y="2578608"/>
            <a:ext cx="1737360" cy="1463040"/>
          </a:xfrm>
          <a:prstGeom prst="roundRect">
            <a:avLst>
              <a:gd name="adj" fmla="val 5625"/>
            </a:avLst>
          </a:prstGeom>
          <a:solidFill>
            <a:srgbClr val="EBC790"/>
          </a:solidFill>
          <a:ln w="12700">
            <a:solidFill>
              <a:srgbClr val="EBC7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9663" y="2724912"/>
            <a:ext cx="1737360" cy="1463040"/>
          </a:xfrm>
          <a:prstGeom prst="roundRect">
            <a:avLst>
              <a:gd name="adj" fmla="val 5625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9663" y="3145536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</a:t>
            </a:r>
            <a:endParaRPr lang="en-US" sz="15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10820095" cy="12344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02352"/>
            <a:ext cx="621792" cy="62179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02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892808" y="50840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번호는 0부터 시작합니다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892808" y="5468112"/>
            <a:ext cx="9219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A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보는 "1페이지"는 코드에서 page = 0 입니다.  사용자에게 출처를 보여줄 때는 +1 해주는 것이 친절합니다.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TRAP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PDF 함정 — 왜 검증이 필요한가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0284" y="1664208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1180" y="1956816"/>
            <a:ext cx="438912" cy="43891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118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8108" y="2002536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보인다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9468" y="2651760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회사에서 받은 PDF를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열어보면 글자가 잘 보입니다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73756" y="2546604"/>
            <a:ext cx="228600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8076" y="1664208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8972" y="1956816"/>
            <a:ext cx="438912" cy="43891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89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25900" y="2002536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77260" y="2651760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읽어서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만들었습니다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1548" y="2546604"/>
            <a:ext cx="228600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5868" y="1664208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6764" y="1956816"/>
            <a:ext cx="438912" cy="43891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66764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3692" y="2002536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나온다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5052" y="2651760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물어도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"자료에 없습니다"만 나옵니다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89340" y="2546604"/>
            <a:ext cx="228600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63660" y="1664208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4556" y="195681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74556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41484" y="2002536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알게 된다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492844" y="2651760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BEB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PDF는 종이를 스캔한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BEB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사진이었습니다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96512"/>
            <a:ext cx="10820095" cy="1783080"/>
          </a:xfrm>
          <a:prstGeom prst="roundRect">
            <a:avLst>
              <a:gd name="adj" fmla="val 461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눈에는 글자, 컴퓨터에게는 이미지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846320"/>
            <a:ext cx="99056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page_content가 텅 비어 있지만, 화면으로는 아무 이상이 없어 보입니다.</a:t>
            </a:r>
            <a:endParaRPr lang="en-US" sz="14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검증하지 않으면 이 사실을 며칠 뒤에야 발견하게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읽었으면 반드시 확인합니다 — 세 가지 점검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6004" y="1664208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0464" y="2121408"/>
            <a:ext cx="731520" cy="73152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80464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4604" y="3127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페이지가 있는가?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60324" y="37124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거의 없는 페이지가</a:t>
            </a:r>
            <a:endParaRPr lang="en-US" sz="13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있다면</a:t>
            </a:r>
            <a:endParaRPr lang="en-US" sz="13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PDF를 의심합니다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5628" y="1664208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0088" y="2121408"/>
            <a:ext cx="731520" cy="73152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0088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4228" y="3127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수가 상식적인가?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9948" y="37124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12페이지 문서인데</a:t>
            </a:r>
            <a:endParaRPr lang="en-US" sz="13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전체가 300자라면</a:t>
            </a:r>
            <a:endParaRPr lang="en-US" sz="13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뭔가 잘못된 것입니다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5252" y="1664208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79712" y="2121408"/>
            <a:ext cx="731520" cy="7315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79712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3852" y="3127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읽어봤는가?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9572" y="37124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확실한 방법입니다</a:t>
            </a:r>
            <a:endParaRPr lang="en-US" sz="13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검사가 통과해도</a:t>
            </a:r>
            <a:endParaRPr lang="en-US" sz="135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직접 읽어보세요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48640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번째가 가장 중요합니다. 자동 검사는 눈을 대신하지 못합니다.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 다듬기 — 무엇을 더 붙이고, 어디에 쓰나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3611880"/>
          </a:xfrm>
          <a:prstGeom prst="roundRect">
            <a:avLst>
              <a:gd name="adj" fmla="val 22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938528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로더가 기본으로 주는 것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069848" y="2450592"/>
            <a:ext cx="448970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78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 — 파일 경로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69848" y="3090672"/>
            <a:ext cx="448970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3218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— 페이지 번호 (0부터)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3877056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직접 더합니다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69848" y="4370832"/>
            <a:ext cx="4489704" cy="347472"/>
          </a:xfrm>
          <a:prstGeom prst="roundRect">
            <a:avLst>
              <a:gd name="adj" fmla="val 2368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44074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filename · page_no — 사람이 읽는 형태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69848" y="4773168"/>
            <a:ext cx="4489704" cy="347472"/>
          </a:xfrm>
          <a:prstGeom prst="roundRect">
            <a:avLst>
              <a:gd name="adj" fmla="val 2368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8097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category · dept — 문서 분류 정보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8095" y="1627632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2143" y="1956816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32143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17359" y="19933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표시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50431" y="256032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"인사규정.pdf 1페이지" 처럼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끝에 근거를 붙일 때 씁니다.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48095" y="3547872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32143" y="3877056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2143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17359" y="39136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검색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50431" y="4480560"/>
            <a:ext cx="4453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"인사규정 문서에서만 검색해줘" 같은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필터링에 씁니다. (11차시에서 배웁니다)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53212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넣어두면 나중에 아주 유용합니다.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잡음은 로딩 직후에 지웁니다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933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9848" y="2560320"/>
            <a:ext cx="416966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07592" y="2743200"/>
            <a:ext cx="36941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㈜한국주식회사 대외비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제3조 (환불) 상품 수령 후 7일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이내에 환불을 신청할 수 있다.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- 3 -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61304" y="3108960"/>
            <a:ext cx="822960" cy="310896"/>
          </a:xfrm>
          <a:prstGeom prst="rightArrow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8135" y="1737360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33895" y="19933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52183" y="2560320"/>
            <a:ext cx="416966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89927" y="274320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제3조 (환불) 상품 수령 후 7일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이내에 환불을 신청할 수 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074920"/>
            <a:ext cx="10820095" cy="9144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330952"/>
            <a:ext cx="99971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머리말 · 쪽번호가 매 페이지 반복되면 검색 노이즈가 됩니다. 로딩 직후에 지워두면 이후 단계가 깨끗해집니다.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전체를 읽을 때 주의할 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파일 하나가 아니라 폴더 전체를 다루는 경우가 많습니다.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20095" cy="1243584"/>
          </a:xfrm>
          <a:prstGeom prst="roundRect">
            <a:avLst>
              <a:gd name="adj" fmla="val 66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40280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01368" y="2148840"/>
            <a:ext cx="9265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하나가 깨지면 전체가 멈출 수 있습니다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2587752"/>
            <a:ext cx="9265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오류를 건너뛰는 옵션을 켜두면 문제 파일만 지나칩니다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392424"/>
            <a:ext cx="10820095" cy="1243584"/>
          </a:xfrm>
          <a:prstGeom prst="roundRect">
            <a:avLst>
              <a:gd name="adj" fmla="val 661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758184"/>
            <a:ext cx="512064" cy="512064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758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01368" y="3666744"/>
            <a:ext cx="9265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많으면 시간이 오래 걸립니다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801368" y="4105656"/>
            <a:ext cx="9265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파일 2~3개로 테스트한 뒤 대상을 늘리세요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910328"/>
            <a:ext cx="10820095" cy="1243584"/>
          </a:xfrm>
          <a:prstGeom prst="roundRect">
            <a:avLst>
              <a:gd name="adj" fmla="val 66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527608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276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801368" y="5184648"/>
            <a:ext cx="9265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형식이 섞여 있으면 로더를 나눠 실행하세요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801368" y="5623560"/>
            <a:ext cx="9265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PDF는 PDF끼리, TXT는 TXT끼리 읽고 나중에 합칩니다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문제와 해결법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10820095" cy="457200"/>
          </a:xfrm>
          <a:prstGeom prst="roundRect">
            <a:avLst>
              <a:gd name="adj" fmla="val 18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해결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066544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??? 또는 깨진 문자로 나옴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258568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인코딩을 utf-8로 지정. 그래도 안 되면 cp949를 시도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79776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PDF를 읽었는데 page_content가 비어 있음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971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이미지 PDF. OCR로 텍스트를 먼저 추출해야 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493008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pypdf 모듈을 찾을 수 없다는 오류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68503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패키지를 설치하면 해결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06240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숫자가 뒤죽박죽 섞임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398264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표 추출의 한계. 표만 따로 CSV로 준비하는 편이 나음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919472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" y="5111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페이지 같은 문구가 반복됨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5111496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 직후 문자열 치환 · 정규식으로 제거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632704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8408" y="5824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파일은 있는데 찾을 수 없다는 오류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5824728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위치 기준의 상대 경로 문제. 절대 경로로 확인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PDF를 만났다면 — 세 가지 선택지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page_content가 비어 있는 PDF는 텍스트가 아니라 이미지입니다. 로더를 바꿔도 해결되지 않습니다.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83664"/>
            <a:ext cx="10820095" cy="1298448"/>
          </a:xfrm>
          <a:prstGeom prst="roundRect">
            <a:avLst>
              <a:gd name="adj" fmla="val 633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249424"/>
            <a:ext cx="585216" cy="58521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22494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파일을 다시 요청한다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231136"/>
            <a:ext cx="4099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워드나 한글 원본이 있다면 그것을 쓰세요.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이 방법이 가장 빠르고 정확합니다.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456432"/>
            <a:ext cx="10820095" cy="1298448"/>
          </a:xfrm>
          <a:prstGeom prst="roundRect">
            <a:avLst>
              <a:gd name="adj" fmla="val 633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" y="3822192"/>
            <a:ext cx="585216" cy="58521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8136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7124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편집 프로그램의 OCR을 쓴다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803904"/>
            <a:ext cx="4099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PDF 편집기에 대부분 내장되어 있습니다.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분량이 많지 않다면 충분합니다.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820095" cy="1298448"/>
          </a:xfrm>
          <a:prstGeom prst="roundRect">
            <a:avLst>
              <a:gd name="adj" fmla="val 633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136" y="5394960"/>
            <a:ext cx="585216" cy="58521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8136" y="5394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5285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OCR 라이브러리를 쓴다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5376672"/>
            <a:ext cx="4099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자동화는 가능하지만 한글 정확도는 낮은 편입니다.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반드시 눈으로 검수해야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결과물 — 읽기 · 정리 · 검증을 하나로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2640" y="2057400"/>
            <a:ext cx="3017520" cy="2057400"/>
          </a:xfrm>
          <a:prstGeom prst="roundRect">
            <a:avLst>
              <a:gd name="adj" fmla="val 4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640" y="25146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276960" y="319125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형식에 맞는 로더로</a:t>
            </a:r>
            <a:endParaRPr lang="en-US" sz="13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목록을 만든다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20744" y="2985516"/>
            <a:ext cx="365760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87088" y="2057400"/>
            <a:ext cx="3017520" cy="2057400"/>
          </a:xfrm>
          <a:prstGeom prst="roundRect">
            <a:avLst>
              <a:gd name="adj" fmla="val 4000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7088" y="25146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4861408" y="319125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잡음을 지우고</a:t>
            </a:r>
            <a:endParaRPr lang="en-US" sz="13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metadata를 보강한다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05192" y="2985516"/>
            <a:ext cx="365760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71536" y="2057400"/>
            <a:ext cx="3017520" cy="2057400"/>
          </a:xfrm>
          <a:prstGeom prst="roundRect">
            <a:avLst>
              <a:gd name="adj" fmla="val 4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71536" y="25146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8445856" y="319125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페이지와 글자 수를</a:t>
            </a:r>
            <a:endParaRPr lang="en-US" sz="13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확인하고 결과를 알린다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617720"/>
            <a:ext cx="10820095" cy="1417320"/>
          </a:xfrm>
          <a:prstGeom prst="roundRect">
            <a:avLst>
              <a:gd name="adj" fmla="val 580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882896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앞으로는 이 한 단계를 거친 뒤에 다음 차시로 넘어갑니다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321808"/>
            <a:ext cx="9905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문서를 다루든 같은 방식으로 읽고, 정리하고, 검증합니다.  15차시에서 색인을 만들 때 이 결과를 그대로 이어받습니다.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56816"/>
            <a:ext cx="475488" cy="47548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1993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2688336"/>
            <a:ext cx="4416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Ingestion이 RAG 5단계 중 첫 번째임을 안다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6424" y="3383280"/>
            <a:ext cx="4416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Document가 page_content와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metadata로 이루어짐을 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" y="4078224"/>
            <a:ext cx="4416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metadata가 출처 표시에 왜 필요한지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설명할 수 있다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" y="4773168"/>
            <a:ext cx="4416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TXT는 1개, PDF는 페이지마다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Document가 생김을 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8095" y="1627632"/>
            <a:ext cx="5257800" cy="3794760"/>
          </a:xfrm>
          <a:prstGeom prst="roundRect">
            <a:avLst>
              <a:gd name="adj" fmla="val 216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2143" y="1956816"/>
            <a:ext cx="475488" cy="47548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2143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35647" y="1993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68719" y="2688336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한글 텍스트를 깨짐 없이 읽었다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68719" y="3145536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PDF를 읽고 페이지 수를 확인했다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68719" y="3602736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page_content와 metadata를 직접 출력해봤다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68719" y="4059936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빈 페이지 검증을 실행했다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68719" y="4517136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metadata에 파일명과 페이지 번호를 추가했다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68719" y="4974336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읽기 · 정리 · 검증 함수를 완성했다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20095" cy="1353312"/>
          </a:xfrm>
          <a:prstGeom prst="roundRect">
            <a:avLst>
              <a:gd name="adj" fmla="val 60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" y="2139696"/>
            <a:ext cx="585216" cy="585216"/>
          </a:xfrm>
          <a:prstGeom prst="ellipse">
            <a:avLst/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6424" y="21396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11096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문서로 실습하기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11096" y="2505456"/>
            <a:ext cx="9174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문서나 관심 있는 PDF를 하나 골라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읽고 결과를 확인하세요.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364992"/>
            <a:ext cx="10820095" cy="1353312"/>
          </a:xfrm>
          <a:prstGeom prst="roundRect">
            <a:avLst>
              <a:gd name="adj" fmla="val 60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" y="3767328"/>
            <a:ext cx="585216" cy="58521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06424" y="3767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11096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 리포트 작성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11096" y="4133088"/>
            <a:ext cx="9174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파일명과 형식 · 총 페이지 수 / 총 글자 수 · 빈 페이지 유무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반복 잡음 문구 여부 · 첫 페이지 앞 200자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992624"/>
            <a:ext cx="10820095" cy="1353312"/>
          </a:xfrm>
          <a:prstGeom prst="roundRect">
            <a:avLst>
              <a:gd name="adj" fmla="val 60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" y="5394960"/>
            <a:ext cx="585216" cy="585216"/>
          </a:xfrm>
          <a:prstGeom prst="ellipse">
            <a:avLst/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6424" y="5394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11096" y="5285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찾아보기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11096" y="5760720"/>
            <a:ext cx="9174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스캔 PDF나 인코딩이 다른 파일을 읽어보고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증상이 나오는지 기록해두세요.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7차시 텍스트 분할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읽어들인 문서는 너무 깁니다. 12페이지 PDF를 통째로 LLM에 넣을 수는 없습니다.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286000" cy="2423160"/>
          </a:xfrm>
          <a:prstGeom prst="roundRect">
            <a:avLst>
              <a:gd name="adj" fmla="val 36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89864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문서</a:t>
            </a:r>
            <a:endParaRPr lang="en-US" sz="16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12페이지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54680" y="3063240"/>
            <a:ext cx="777240" cy="201168"/>
          </a:xfrm>
          <a:prstGeom prst="rightArrow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441448"/>
            <a:ext cx="822960" cy="694944"/>
          </a:xfrm>
          <a:prstGeom prst="roundRect">
            <a:avLst>
              <a:gd name="adj" fmla="val 1184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2441448"/>
            <a:ext cx="822960" cy="694944"/>
          </a:xfrm>
          <a:prstGeom prst="roundRect">
            <a:avLst>
              <a:gd name="adj" fmla="val 1184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2441448"/>
            <a:ext cx="822960" cy="694944"/>
          </a:xfrm>
          <a:prstGeom prst="roundRect">
            <a:avLst>
              <a:gd name="adj" fmla="val 1184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3310128"/>
            <a:ext cx="822960" cy="694944"/>
          </a:xfrm>
          <a:prstGeom prst="roundRect">
            <a:avLst>
              <a:gd name="adj" fmla="val 1184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3310128"/>
            <a:ext cx="822960" cy="694944"/>
          </a:xfrm>
          <a:prstGeom prst="roundRect">
            <a:avLst>
              <a:gd name="adj" fmla="val 1184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310128"/>
            <a:ext cx="822960" cy="694944"/>
          </a:xfrm>
          <a:prstGeom prst="roundRect">
            <a:avLst>
              <a:gd name="adj" fmla="val 1184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조각들 (chunk)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1965960"/>
            <a:ext cx="4144975" cy="530352"/>
          </a:xfrm>
          <a:prstGeom prst="roundRect">
            <a:avLst>
              <a:gd name="adj" fmla="val 155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53528" y="210312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잘라야 하는가 — 컨텍스트 창의 한계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60920" y="2606040"/>
            <a:ext cx="4144975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53528" y="274320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— 얼마나 크게 자를 것인가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3246120"/>
            <a:ext cx="4144975" cy="530352"/>
          </a:xfrm>
          <a:prstGeom prst="roundRect">
            <a:avLst>
              <a:gd name="adj" fmla="val 155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53528" y="338328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chunk_overlap — 왜 겹쳐야 하는가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3886200"/>
            <a:ext cx="4144975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3528" y="402336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중간에 끊기는 문제 해결하기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937760"/>
            <a:ext cx="10820095" cy="1097280"/>
          </a:xfrm>
          <a:prstGeom prst="roundRect">
            <a:avLst>
              <a:gd name="adj" fmla="val 7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266944"/>
            <a:ext cx="108200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분할을 잘하면 검색의 절반은 성공한 것입니다.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286000"/>
            <a:ext cx="1737360" cy="109728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43200"/>
            <a:ext cx="1737360" cy="109728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00400"/>
            <a:ext cx="1737360" cy="109728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657600"/>
            <a:ext cx="1737360" cy="109728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14800"/>
            <a:ext cx="1097280" cy="109728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745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읽은 다음에는</a:t>
            </a:r>
            <a:endParaRPr lang="en-US" sz="4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눈으로 확인하기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8BA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내용은 화려하지 않습니다. 파일을 읽는 것뿐이니까요.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8BA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실무에서 RAG 프로젝트가 실패하는 원인의 상당수가 바로 이 단계에 있습니다.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8BA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제대로 안 읽혔는데 그걸 모른 채 검색만 계속 손보는 경우가 정말 많습니다.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006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습관 하나만 몸에 붙여도 앞으로 수십 시간을 아낄 수 있습니다.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8064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차시에서 만나요.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1978</Words>
  <Application>Microsoft Office PowerPoint</Application>
  <PresentationFormat>사용자 지정</PresentationFormat>
  <Paragraphs>414</Paragraphs>
  <Slides>23</Slides>
  <Notes>23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6 차시: 문서 로딩 실습</dc:title>
  <dc:subject>PptxGenJS Presentation</dc:subject>
  <dc:creator>이창현</dc:creator>
  <cp:lastModifiedBy>lch</cp:lastModifiedBy>
  <cp:revision>1</cp:revision>
  <dcterms:created xsi:type="dcterms:W3CDTF">2026-09-14T03:36:06Z</dcterms:created>
  <dcterms:modified xsi:type="dcterms:W3CDTF">2026-09-14T08:16:50Z</dcterms:modified>
</cp:coreProperties>
</file>