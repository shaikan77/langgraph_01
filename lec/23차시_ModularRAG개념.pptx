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0" d="100"/>
          <a:sy n="60" d="100"/>
        </p:scale>
        <p:origin x="-78" y="-10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3부의 첫 차시입니다. 오늘은 코드를 쓰지 않고 설계를 그립니다.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오늘은 설계 사고를 잡는 차시입니다.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잘 돌아가지만 실무에 투입하면 곧 벽에 부딪힙니다.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14차시에서 남긴 숙제를 3부에서 풉니다.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그 '규격'이 오늘 배울 State 인터페이스입니다.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계약이라는 개념이 오늘의 핵심입니다.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각 모듈이 '무엇을 하지 않는가'가 더 중요합니다.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표를 인쇄해서 3부 내내 옆에 두게 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규칙 ③이 가장 자주 깨집니다.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분리가 나중에 정책 변경을 쉽게 만듭니다.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지금 다 이해하지 않아도 된다고 안심시켜 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결석했다면 반드시 해당 차시 실습을 먼저 하라고 안내하세요.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팀 작업 이득은 실무 경험이 있으면 크게 와닿습니다.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모듈화가 만능이 아니라는 균형 감각이 중요합니다.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무조건 복잡하게 만드는 것이 답이 아니라는 점을 강조하세요.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설계를 먼저 그려보게 하면 3부 전체가 훨씬 쉬워집니다.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오늘은 설계만 해도 충분합니다.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순서에도 이유가 있다는 점을 알려주세요.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계약이라는 개념을 다시 한 번 짚고 마칩니다.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4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417320"/>
            <a:ext cx="2148840" cy="2834640"/>
          </a:xfrm>
          <a:prstGeom prst="roundRect">
            <a:avLst>
              <a:gd name="adj" fmla="val 1702"/>
            </a:avLst>
          </a:prstGeom>
          <a:solidFill>
            <a:srgbClr val="24365C"/>
          </a:solidFill>
          <a:ln w="12700">
            <a:solidFill>
              <a:srgbClr val="2436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1737360"/>
            <a:ext cx="2148840" cy="2834640"/>
          </a:xfrm>
          <a:prstGeom prst="roundRect">
            <a:avLst>
              <a:gd name="adj" fmla="val 1702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72600" y="2057400"/>
            <a:ext cx="2148840" cy="2834640"/>
          </a:xfrm>
          <a:prstGeom prst="roundRect">
            <a:avLst>
              <a:gd name="adj" fmla="val 1702"/>
            </a:avLst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92640" y="2514600"/>
            <a:ext cx="150876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92640" y="2898648"/>
            <a:ext cx="150876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92640" y="3282696"/>
            <a:ext cx="150876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92640" y="3666744"/>
            <a:ext cx="100584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5087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7F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실습으로 배우는 LangGraph : 내 손으로 RAG 시스템 만들기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1938528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 23 차시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32304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Modular RAG 개념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310128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5B7F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부품으로 나누는가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4160520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2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3부의 시작 — 설계 사고를 먼저 익힙니다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576072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E9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40차시 학습 교재   |   강사 이창현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LEARNING GOALS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차시에서 배우는 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27632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" y="1938528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78408" y="19385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78408" y="2615184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덩어리의 한계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78408" y="299923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실무에서 어디서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벽에 부딪히는지 안다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627632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36008" y="1938528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36008" y="19385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636008" y="2615184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3+2 모듈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636008" y="299923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모듈의 역할을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구분한다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01000" y="1627632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93608" y="1938528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93608" y="19385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293608" y="2615184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모듈 간 계약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93608" y="299923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State 기준으로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인터페이스를 정한다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" y="4041648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78408" y="4352544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78408" y="43525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78408" y="5029200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3부 전체 그림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78408" y="5413248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11개 차시에서 무엇을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만들지 파악한다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43400" y="4041648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36008" y="4352544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636008" y="43525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636008" y="5029200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모듈화의 이득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636008" y="5413248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측정·교체·협업이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가능해진다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001000" y="4041648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93608" y="4352544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93608" y="43525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293608" y="5029200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흔한 오해 걷기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293608" y="5413248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모듈화의 비용도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본다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THE LIMIT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22차시 시스템이 못 하는 것들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45920"/>
            <a:ext cx="10817352" cy="777240"/>
          </a:xfrm>
          <a:prstGeom prst="roundRect">
            <a:avLst>
              <a:gd name="adj" fmla="val 4706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45920"/>
            <a:ext cx="10817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구조 :  START → retrieve ─ 자료있음 → generate → END   /   자료없음 → fallback → END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2606040"/>
            <a:ext cx="10817352" cy="566928"/>
          </a:xfrm>
          <a:prstGeom prst="roundRect">
            <a:avLst>
              <a:gd name="adj" fmla="val 6452"/>
            </a:avLst>
          </a:prstGeom>
          <a:solidFill>
            <a:srgbClr val="F6E2DE"/>
          </a:solidFill>
          <a:ln w="12700">
            <a:solidFill>
              <a:srgbClr val="F6E2D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1560" y="260604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606040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생성된 답변이 맞는지 확인하지 않습니다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080760" y="260604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근거에 없는 내용이 섞여도 그대로 내보냅니다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3282696"/>
            <a:ext cx="10817352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51560" y="3282696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3282696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답이 부실해도 다시 시도하지 않습니다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080760" y="3282696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번 만든 답이 최종입니다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3959352"/>
            <a:ext cx="10817352" cy="566928"/>
          </a:xfrm>
          <a:prstGeom prst="roundRect">
            <a:avLst>
              <a:gd name="adj" fmla="val 6452"/>
            </a:avLst>
          </a:prstGeom>
          <a:solidFill>
            <a:srgbClr val="F6E2DE"/>
          </a:solidFill>
          <a:ln w="12700">
            <a:solidFill>
              <a:srgbClr val="F6E2D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51560" y="3959352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600200" y="3959352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검색이 실패하면 바로 포기합니다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080760" y="3959352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질문을 바꿔 다시 찾아볼 수 있는데도요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5800" y="4636008"/>
            <a:ext cx="10817352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51560" y="4636008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600200" y="4636008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종류를 구분하지 않습니다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080760" y="4636008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"안녕하세요"에도 문서를 검색해 비용을 씁니다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5800" y="5312664"/>
            <a:ext cx="10817352" cy="566928"/>
          </a:xfrm>
          <a:prstGeom prst="roundRect">
            <a:avLst>
              <a:gd name="adj" fmla="val 6452"/>
            </a:avLst>
          </a:prstGeom>
          <a:solidFill>
            <a:srgbClr val="F6E2DE"/>
          </a:solidFill>
          <a:ln w="12700">
            <a:solidFill>
              <a:srgbClr val="F6E2D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51560" y="5312664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600200" y="5312664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단계가 느린지 측정할 수 없습니다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6080760" y="5312664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시간만 보입니다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THE REMAINING 10%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14차시에서 못 고친 그 10%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10817352" cy="1417320"/>
          </a:xfrm>
          <a:prstGeom prst="roundRect">
            <a:avLst>
              <a:gd name="adj" fmla="val 2581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43000" y="1901952"/>
            <a:ext cx="9902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14차시에서 정답률을 60% → 90%로 올렸습니다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2359152"/>
            <a:ext cx="9902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그런데 나머지 10%는 끝내 못 고쳤습니다.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85800" y="3291840"/>
            <a:ext cx="5257800" cy="1600200"/>
          </a:xfrm>
          <a:prstGeom prst="roundRect">
            <a:avLst>
              <a:gd name="adj" fmla="val 2286"/>
            </a:avLst>
          </a:prstGeom>
          <a:solidFill>
            <a:srgbClr val="F6E2DE"/>
          </a:solidFill>
          <a:ln w="12700">
            <a:solidFill>
              <a:srgbClr val="F6E2D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88136" y="35204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"반품하고 싶은데 언제까지?"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088136" y="4005072"/>
            <a:ext cx="4453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실패 — 표현 차이</a:t>
            </a: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30차시 질의 재작성으로 해결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45352" y="3291840"/>
            <a:ext cx="5257800" cy="1600200"/>
          </a:xfrm>
          <a:prstGeom prst="roundRect">
            <a:avLst>
              <a:gd name="adj" fmla="val 2286"/>
            </a:avLst>
          </a:prstGeom>
          <a:solidFill>
            <a:srgbClr val="F6E2DE"/>
          </a:solidFill>
          <a:ln w="12700">
            <a:solidFill>
              <a:srgbClr val="F6E2D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47688" y="35204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"택배비 누가 내나요?"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647688" y="4005072"/>
            <a:ext cx="4453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문맥 부족 — 조건이 잘림</a:t>
            </a: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33차시 재순위로 해결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5074920"/>
            <a:ext cx="10817352" cy="914400"/>
          </a:xfrm>
          <a:prstGeom prst="roundRect">
            <a:avLst>
              <a:gd name="adj" fmla="val 4000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525780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"파라미터 튜닝으로는 한계입니다. 3부의 구조적 개선이 필요합니다" — 그 3부가 지금입니다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WHY MODULES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붙어 있으면 vs 나누면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10817352" cy="548640"/>
          </a:xfrm>
          <a:prstGeom prst="roundRect">
            <a:avLst>
              <a:gd name="adj" fmla="val 6667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7373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모듈이 붙어 있으면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989320" y="1737360"/>
            <a:ext cx="4599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모듈로 나누면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85800" y="2340864"/>
            <a:ext cx="10817352" cy="548640"/>
          </a:xfrm>
          <a:prstGeom prst="roundRect">
            <a:avLst>
              <a:gd name="adj" fmla="val 666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2340864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검색만 개선하려 해도 전체를 건드림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989320" y="2340864"/>
            <a:ext cx="4599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모듈만 교체하면 됨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294436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부분이 성능을 깎는지 모름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989320" y="2944368"/>
            <a:ext cx="4599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모듈별로 시간·정확도 측정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" y="3547872"/>
            <a:ext cx="10817352" cy="548640"/>
          </a:xfrm>
          <a:prstGeom prst="roundRect">
            <a:avLst>
              <a:gd name="adj" fmla="val 666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51560" y="354787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단계를 넣으려면 구조를 다시 짬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989320" y="3547872"/>
            <a:ext cx="4599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노드를 끼워 넣기만 하면 됨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4151376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팀에서 나눠 작업하기 어려움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989320" y="4151376"/>
            <a:ext cx="4599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모듈 단위로 담당 분배 가능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85800" y="4754880"/>
            <a:ext cx="10817352" cy="548640"/>
          </a:xfrm>
          <a:prstGeom prst="roundRect">
            <a:avLst>
              <a:gd name="adj" fmla="val 666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51560" y="47548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A안·B안을 비교하기 번거로움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989320" y="4754880"/>
            <a:ext cx="4599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모듈만 갈아 끼워 A/B 테스트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85800" y="4892040"/>
            <a:ext cx="10817352" cy="1097280"/>
          </a:xfrm>
          <a:prstGeom prst="roundRect">
            <a:avLst>
              <a:gd name="adj" fmla="val 3333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143000" y="5047488"/>
            <a:ext cx="9902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자동차를 부품으로 만드는 이유와 같습니다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5449824"/>
            <a:ext cx="9902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엔진과 브레이크를 통째로 주조하면 패드 하나 갈려고 엔진을 내려야 합니다. 그래서 규격을 정합니다.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KEY TERMS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용어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6420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66420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Modular RAG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114800" y="166420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단계를 독립 부품으로 만들고 그래프로 조립하는 설계 방식.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239572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239572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Retriever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114800" y="239572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확보만 책임지는 모듈.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312724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51560" y="312724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Generator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114800" y="312724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답변 작성만 책임지는 모듈.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385876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51560" y="385876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Verifier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114800" y="385876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답변 품질 판정만 책임지는 모듈.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459028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1560" y="459028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Router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114800" y="459028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 결과를 보고 다음 흐름을 정하는 분기 함수.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" y="532180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51560" y="532180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인터페이스(계약)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114800" y="532180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모듈이 State에서 무엇을 읽고 무엇을 쓰는지 정한 약속.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THREE CORE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모듈 세 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45920"/>
            <a:ext cx="3401568" cy="3520440"/>
          </a:xfrm>
          <a:prstGeom prst="roundRect">
            <a:avLst>
              <a:gd name="adj" fmla="val 1075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78408" y="1874520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Retriever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78408" y="2286000"/>
            <a:ext cx="2852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찾는다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78408" y="2670048"/>
            <a:ext cx="2852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질문에 맞는 근거를 확보하는 책임만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978408" y="3401568"/>
            <a:ext cx="28529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답변 품질은 신경 쓰지 않습니다</a:t>
            </a:r>
            <a:endParaRPr lang="en-US" sz="12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좋은 근거와 그 신뢰도만 남깁니다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78408" y="4343400"/>
            <a:ext cx="2852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재검색할지는 Router가 정합니다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3400" y="1645920"/>
            <a:ext cx="3401568" cy="3520440"/>
          </a:xfrm>
          <a:prstGeom prst="roundRect">
            <a:avLst>
              <a:gd name="adj" fmla="val 1075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36008" y="1874520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Generator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636008" y="2286000"/>
            <a:ext cx="2852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만든다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636008" y="2670048"/>
            <a:ext cx="2852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주어진 근거로 답변을 작성하는 책임만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636008" y="3401568"/>
            <a:ext cx="28529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근거를 더 찾아오지 않습니다</a:t>
            </a:r>
            <a:endParaRPr lang="en-US" sz="12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부실하면 부실하다고 신고합니다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636008" y="4343400"/>
            <a:ext cx="2852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못 하겠으면 못 하겠다고 말하는 것이 역할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001000" y="1645920"/>
            <a:ext cx="3401568" cy="3520440"/>
          </a:xfrm>
          <a:prstGeom prst="roundRect">
            <a:avLst>
              <a:gd name="adj" fmla="val 1075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93608" y="1874520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Verifier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293608" y="2286000"/>
            <a:ext cx="2852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검사한다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293608" y="2670048"/>
            <a:ext cx="2852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답변이 근거에 부합하는지 판정만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8293608" y="3401568"/>
            <a:ext cx="28529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답변을 직접 고치지 않습니다</a:t>
            </a:r>
            <a:endParaRPr lang="en-US" sz="12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통과 여부와 이유만 남깁니다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293608" y="4343400"/>
            <a:ext cx="2852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판정과 수정을 분리해야 기준을 개선할 수 있습니다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85800" y="5349240"/>
            <a:ext cx="10817352" cy="658368"/>
          </a:xfrm>
          <a:prstGeom prst="roundRect">
            <a:avLst>
              <a:gd name="adj" fmla="val 5556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5349240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보조 모듈 둘 — Rewriter (30차시, 질문을 고쳐 재검색)   ·   Fallback (31차시, 정직한 마무리)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THE CONTRACT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모듈 간 계약 — 3부 전체의 설계도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10817352" cy="512064"/>
          </a:xfrm>
          <a:prstGeom prst="roundRect">
            <a:avLst>
              <a:gd name="adj" fmla="val 714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691640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모듈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2423160" y="1691640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읽는 State 키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4983480" y="1691640"/>
            <a:ext cx="4069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쓰는 State 키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9281160" y="1691640"/>
            <a:ext cx="1581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책임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85800" y="2258568"/>
            <a:ext cx="10817352" cy="512064"/>
          </a:xfrm>
          <a:prstGeom prst="roundRect">
            <a:avLst>
              <a:gd name="adj" fmla="val 714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1560" y="2258568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Retriever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2423160" y="2258568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query, top_k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983480" y="2258568"/>
            <a:ext cx="4069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documents, scores, retrieval_ok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9281160" y="2258568"/>
            <a:ext cx="1581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확보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825496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Generator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2423160" y="2825496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documents, question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983480" y="2825496"/>
            <a:ext cx="4069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answer, insufficient, has_citation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9281160" y="2825496"/>
            <a:ext cx="1581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답변 작성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85800" y="3392424"/>
            <a:ext cx="10817352" cy="512064"/>
          </a:xfrm>
          <a:prstGeom prst="roundRect">
            <a:avLst>
              <a:gd name="adj" fmla="val 714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51560" y="3392424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Verifier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2423160" y="3392424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answer, documents, question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4983480" y="3392424"/>
            <a:ext cx="4069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grade, reason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9281160" y="3392424"/>
            <a:ext cx="1581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 판정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3959352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Rewriter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2423160" y="3959352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question, retries, reason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4983480" y="3959352"/>
            <a:ext cx="4069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query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9281160" y="3959352"/>
            <a:ext cx="1581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질의 개선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85800" y="4526280"/>
            <a:ext cx="10817352" cy="512064"/>
          </a:xfrm>
          <a:prstGeom prst="roundRect">
            <a:avLst>
              <a:gd name="adj" fmla="val 714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51560" y="4526280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Fallback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2423160" y="4526280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question, reason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4983480" y="4526280"/>
            <a:ext cx="4069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answer, grade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9281160" y="4526280"/>
            <a:ext cx="1581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안전한 마무리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85800" y="5212080"/>
            <a:ext cx="10817352" cy="822960"/>
          </a:xfrm>
          <a:prstGeom prst="roundRect">
            <a:avLst>
              <a:gd name="adj" fmla="val 4444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85800" y="5212080"/>
            <a:ext cx="10817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표만 지키면 모듈을 자유롭게 교체할 수 있습니다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THREE RULES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계약을 지키는 세 가지 규칙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10817352" cy="1097280"/>
          </a:xfrm>
          <a:prstGeom prst="roundRect">
            <a:avLst>
              <a:gd name="adj" fmla="val 3333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2057400"/>
            <a:ext cx="548640" cy="548640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965960" y="192938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남의 키는 쓰지 않는다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394960" y="1929384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Generator가 documents를 수정하면 안 됩니다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965960" y="2368296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읽기만 합니다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" y="3063240"/>
            <a:ext cx="10817352" cy="1097280"/>
          </a:xfrm>
          <a:prstGeom prst="roundRect">
            <a:avLst>
              <a:gd name="adj" fmla="val 3333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3337560"/>
            <a:ext cx="548640" cy="548640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97280" y="3337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965960" y="320954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자기 키는 반드시 쓴다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394960" y="3209544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Verifier가 grade를 안 채우면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965960" y="3648456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Router가 판단할 수 없습니다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85800" y="4343400"/>
            <a:ext cx="10817352" cy="1097280"/>
          </a:xfrm>
          <a:prstGeom prst="roundRect">
            <a:avLst>
              <a:gd name="adj" fmla="val 3333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97280" y="4617720"/>
            <a:ext cx="548640" cy="548640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97280" y="4617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965960" y="448970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흐름 결정은 하지 않는다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394960" y="4489704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모듈은 결과만 남깁니다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1965960" y="4928616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"다음에 어디로"는 Router의 일입니다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85800" y="5623560"/>
            <a:ext cx="10817352" cy="548640"/>
          </a:xfrm>
          <a:prstGeom prst="roundRect">
            <a:avLst>
              <a:gd name="adj" fmla="val 6667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562356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규칙이 깨지면 모듈화의 의미가 사라집니다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JUDGE vs DECIDE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모듈이 흐름을 결정하면 안 되나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5257800" cy="2606040"/>
          </a:xfrm>
          <a:prstGeom prst="roundRect">
            <a:avLst>
              <a:gd name="adj" fmla="val 1404"/>
            </a:avLst>
          </a:prstGeom>
          <a:solidFill>
            <a:srgbClr val="F6E2DE"/>
          </a:solidFill>
          <a:ln w="12700">
            <a:solidFill>
              <a:srgbClr val="F6E2D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" y="196596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Verifier가 직접 재호출한다면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88136" y="2468880"/>
            <a:ext cx="4453128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25880" y="24688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"검증 실패하면 직접 generate를 다시 호출"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1088136" y="3154680"/>
            <a:ext cx="4453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재시도 횟수를 어디서 세죠?</a:t>
            </a:r>
            <a:endParaRPr lang="en-US" sz="1250" dirty="0"/>
          </a:p>
          <a:p>
            <a:pPr marL="0" indent="0">
              <a:lnSpc>
                <a:spcPts val="23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재검색으로 바꾸려면 Verifier를 고쳐야 합니다</a:t>
            </a:r>
            <a:endParaRPr lang="en-US" sz="1250" dirty="0"/>
          </a:p>
          <a:p>
            <a:pPr marL="0" indent="0">
              <a:lnSpc>
                <a:spcPts val="23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Verifier를 단독 테스트할 수 없습니다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45352" y="1737360"/>
            <a:ext cx="5257800" cy="2606040"/>
          </a:xfrm>
          <a:prstGeom prst="roundRect">
            <a:avLst>
              <a:gd name="adj" fmla="val 1404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47688" y="196596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판정과 결정을 분리하면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647688" y="2468880"/>
            <a:ext cx="4453128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85432" y="252374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Verifier — "이 답변은 근거 부족입니다" (판정)</a:t>
            </a:r>
            <a:endParaRPr lang="en-US" sz="10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Router — "그럼 재검색으로 보내자" (결정)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647688" y="3154680"/>
            <a:ext cx="44531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en-US" sz="12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나중에 정책이 바뀌어도</a:t>
            </a:r>
            <a:endParaRPr lang="en-US" sz="1250" dirty="0"/>
          </a:p>
          <a:p>
            <a:pPr marL="0" indent="0">
              <a:lnSpc>
                <a:spcPts val="2300"/>
              </a:lnSpc>
              <a:buNone/>
            </a:pPr>
            <a:r>
              <a:rPr lang="en-US" sz="12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Router만 고치면 됩니다.</a:t>
            </a:r>
            <a:endParaRPr lang="en-US" sz="1250" dirty="0"/>
          </a:p>
          <a:p>
            <a:pPr marL="0" indent="0">
              <a:lnSpc>
                <a:spcPts val="2300"/>
              </a:lnSpc>
              <a:buNone/>
            </a:pPr>
            <a:endParaRPr lang="en-US" sz="1250" dirty="0"/>
          </a:p>
          <a:p>
            <a:pPr marL="0" indent="0">
              <a:lnSpc>
                <a:spcPts val="2300"/>
              </a:lnSpc>
              <a:buNone/>
            </a:pPr>
            <a:r>
              <a:rPr lang="en-US" sz="12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Verifier는 그대로 재사용됩니다.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85800" y="4617720"/>
            <a:ext cx="10817352" cy="1143000"/>
          </a:xfrm>
          <a:prstGeom prst="roundRect">
            <a:avLst>
              <a:gd name="adj" fmla="val 3200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491490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판정하는 자와 결정하는 자를 나눕니다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FINAL SHAPE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3부에서 완성할 최종 구조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45920"/>
            <a:ext cx="10817352" cy="2331720"/>
          </a:xfrm>
          <a:prstGeom prst="roundRect">
            <a:avLst>
              <a:gd name="adj" fmla="val 156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25880" y="1783080"/>
            <a:ext cx="9692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START → retrieve ──────────┐</a:t>
            </a:r>
            <a:endParaRPr lang="en-US" sz="10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       │              │ 검색 실패</a:t>
            </a:r>
            <a:endParaRPr lang="en-US" sz="10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       │ 검색 성공      ↓</a:t>
            </a:r>
            <a:endParaRPr lang="en-US" sz="10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       ↓           rewrite ──→ (재검색) ──→ retrieve</a:t>
            </a:r>
            <a:endParaRPr lang="en-US" sz="10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   generate                          ↑</a:t>
            </a:r>
            <a:endParaRPr lang="en-US" sz="10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       ↓                             │ 재검색 필요</a:t>
            </a:r>
            <a:endParaRPr lang="en-US" sz="10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    verify ─────────────────────────┘</a:t>
            </a:r>
            <a:endParaRPr lang="en-US" sz="10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       ├─ pass ────→ END        ├─ retry ───→ bump ──→ generate</a:t>
            </a:r>
            <a:endParaRPr lang="en-US" sz="10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       └─ giveup ──→ fallback ──→ END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4160520"/>
            <a:ext cx="10817352" cy="1828800"/>
          </a:xfrm>
          <a:prstGeom prst="roundRect">
            <a:avLst>
              <a:gd name="adj" fmla="val 2000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3000" y="4389120"/>
            <a:ext cx="9902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 6개, 분기 2개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4864608"/>
            <a:ext cx="9902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이것이 실무에서 가장 널리 쓰이는 Modular RAG 형태입니다.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복잡하게 만들 수도 있지만, 대부분의 문제는 이 구조로 해결됩니다.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지금은 이해하지 않아도 됩니다 — 33차시까지 이 형태로 커집니다.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3부 로드맵 — 매 차시 노드를 하나씩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481328"/>
            <a:ext cx="10817352" cy="347472"/>
          </a:xfrm>
          <a:prstGeom prst="roundRect">
            <a:avLst>
              <a:gd name="adj" fmla="val 10526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48132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148132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Modular RAG 개념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577840" y="1481328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 사고 (오늘)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1883664"/>
            <a:ext cx="10817352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" y="1883664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188366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Retriever Node 분리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577840" y="1883664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신뢰도를 State에 기록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2286000"/>
            <a:ext cx="10817352" cy="347472"/>
          </a:xfrm>
          <a:prstGeom prst="roundRect">
            <a:avLst>
              <a:gd name="adj" fmla="val 10526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51560" y="228600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828800" y="22860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Generator Node 분리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577840" y="228600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부족 자가신고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2688336"/>
            <a:ext cx="10817352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1560" y="2688336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828800" y="268833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Verifier Node 설계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577840" y="2688336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답변 품질 판정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" y="3090672"/>
            <a:ext cx="10817352" cy="347472"/>
          </a:xfrm>
          <a:prstGeom prst="roundRect">
            <a:avLst>
              <a:gd name="adj" fmla="val 10526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51560" y="309067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828800" y="309067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Modular RAG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577840" y="3090672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+ 재생성 루프 — 마일스톤 3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5800" y="3493008"/>
            <a:ext cx="10817352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51560" y="349300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828800" y="349300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Conditional Edge 이해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577840" y="3493008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분기 설계 원리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85800" y="3895344"/>
            <a:ext cx="10817352" cy="347472"/>
          </a:xfrm>
          <a:prstGeom prst="roundRect">
            <a:avLst>
              <a:gd name="adj" fmla="val 10526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51560" y="3895344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29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1828800" y="389534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Conditional Edge 실습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5577840" y="3895344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유형별 라우팅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85800" y="4297680"/>
            <a:ext cx="10817352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51560" y="429768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1828800" y="42976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질의 재작성 · 재검색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5577840" y="429768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실패 극복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85800" y="4700016"/>
            <a:ext cx="10817352" cy="347472"/>
          </a:xfrm>
          <a:prstGeom prst="roundRect">
            <a:avLst>
              <a:gd name="adj" fmla="val 10526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051560" y="4700016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31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1828800" y="470001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예외 처리 설계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5577840" y="4700016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오류에도 안전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85800" y="5102352"/>
            <a:ext cx="10817352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051560" y="510235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1828800" y="510235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고도화 Modular RAG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5577840" y="5102352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통합 — 마일스톤 4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85800" y="5504688"/>
            <a:ext cx="10817352" cy="347472"/>
          </a:xfrm>
          <a:prstGeom prst="roundRect">
            <a:avLst>
              <a:gd name="adj" fmla="val 10526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1051560" y="550468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33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1828800" y="550468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Modular RAG 최적화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5577840" y="5504688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속도 · 비용 · 재순위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685800" y="5989320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3부는 누적식입니다 — 매 차시 결과물이 다음 차시의 입력이 됩니다. 한 차시를 빠뜨리면 다음이 막힙니다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THE BENEFITS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모듈화의 진짜 이득 네 가지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5257800" cy="1783080"/>
          </a:xfrm>
          <a:prstGeom prst="roundRect">
            <a:avLst>
              <a:gd name="adj" fmla="val 2051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9848" y="1965960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69848" y="196596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728216" y="1965960"/>
            <a:ext cx="3931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모듈별 측정이 가능해진다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088136" y="260604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: 질문 → 답변 3.2초, 어디가 느린지 모름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1088136" y="297180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분리 후 : retrieve 9% · generate 66% · verify 25%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45352" y="1691640"/>
            <a:ext cx="5257800" cy="1783080"/>
          </a:xfrm>
          <a:prstGeom prst="roundRect">
            <a:avLst>
              <a:gd name="adj" fmla="val 2051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29400" y="1965960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29400" y="196596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287768" y="1965960"/>
            <a:ext cx="3931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부분 교체가 쉬워진다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6647688" y="260604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검색을 하이브리드로 바꾸려면 한 줄만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647688" y="297180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계약만 같으면 나머지는 손대지 않습니다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85800" y="3657600"/>
            <a:ext cx="5257800" cy="1783080"/>
          </a:xfrm>
          <a:prstGeom prst="roundRect">
            <a:avLst>
              <a:gd name="adj" fmla="val 2051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9848" y="3931920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69848" y="393192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728216" y="3931920"/>
            <a:ext cx="3931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작업이 가능해진다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1088136" y="457200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A는 검색, B는 프롬프트, C는 검증 개선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1088136" y="493776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계약만 지키면 서로 충돌하지 않습니다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45352" y="3657600"/>
            <a:ext cx="5257800" cy="1783080"/>
          </a:xfrm>
          <a:prstGeom prst="roundRect">
            <a:avLst>
              <a:gd name="adj" fmla="val 2051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29400" y="3931920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629400" y="393192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287768" y="3931920"/>
            <a:ext cx="3931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실패를 격리할 수 있다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6647688" y="457200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Verifier에서 에러가 나도 앞 결과는 State에 있음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647688" y="493776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검증만 건너뛰고 답변을 내보낼 수 있습니다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85800" y="5623560"/>
            <a:ext cx="10817352" cy="548640"/>
          </a:xfrm>
          <a:prstGeom prst="roundRect">
            <a:avLst>
              <a:gd name="adj" fmla="val 6667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85800" y="562356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덩어리 코드였다면 세 명이 같은 함수를 고치다 매일 충돌합니다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MISCONCEPTIONS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흔한 오해 걷어내기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10817352" cy="73152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69164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444752" y="169164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모듈로 나누면 성능이 자동으로 좋아진다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532120" y="169164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성능이 아니라 '개선 가능성'이 좋아집니다. 측정과 튜닝은 따로 해야 합니다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2532888"/>
            <a:ext cx="10817352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" y="2532888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444752" y="2532888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모듈을 잘게 나눌수록 좋다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532120" y="2532888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지나치게 쪼개면 State가 복잡해집니다. 3~6개가 실무의 적정선입니다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3374136"/>
            <a:ext cx="10817352" cy="73152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51560" y="337413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444752" y="3374136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Verifier가 답변도 고쳐주면 좋겠다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532120" y="3374136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판정과 수정은 분리합니다. 그래야 판정 기준을 따로 개선할 수 있습니다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4215384"/>
            <a:ext cx="10817352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1560" y="4215384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444752" y="4215384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모듈이 많을수록 정교한 시스템이다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532120" y="4215384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 없는 모듈은 비용과 지연만 늘립니다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" y="5056632"/>
            <a:ext cx="10817352" cy="73152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51560" y="505663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444752" y="5056632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Modular RAG는 특정 라이브러리 이름이다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532120" y="5056632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 패턴입니다. LangGraph 없이도 같은 원리로 만들 수 있습니다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THE COST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모듈화는 공짜가 아닙니다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3401568" cy="2286000"/>
          </a:xfrm>
          <a:prstGeom prst="roundRect">
            <a:avLst>
              <a:gd name="adj" fmla="val 1600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" y="1993392"/>
            <a:ext cx="457200" cy="457200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78408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78408" y="2633472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코드가 길어집니다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78408" y="3127248"/>
            <a:ext cx="2852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15차시 40줄 → 3부에서 파일 6개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737360"/>
            <a:ext cx="3401568" cy="2286000"/>
          </a:xfrm>
          <a:prstGeom prst="roundRect">
            <a:avLst>
              <a:gd name="adj" fmla="val 1600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36008" y="1993392"/>
            <a:ext cx="457200" cy="457200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36008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636008" y="2633472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응답이 조금 느려집니다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636008" y="3127248"/>
            <a:ext cx="2852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노드가 LLM을 한 번 더 부릅니다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01000" y="1737360"/>
            <a:ext cx="3401568" cy="2286000"/>
          </a:xfrm>
          <a:prstGeom prst="roundRect">
            <a:avLst>
              <a:gd name="adj" fmla="val 1600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93608" y="1993392"/>
            <a:ext cx="457200" cy="457200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93608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293608" y="2633472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비용이 늘어납니다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93608" y="3127248"/>
            <a:ext cx="2852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재시도가 있으면 호출 횟수가 늘어납니다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85800" y="4251960"/>
            <a:ext cx="10817352" cy="1737360"/>
          </a:xfrm>
          <a:prstGeom prst="roundRect">
            <a:avLst>
              <a:gd name="adj" fmla="val 2105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143000" y="4462272"/>
            <a:ext cx="9902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판단이 필요합니다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4919472"/>
            <a:ext cx="99029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사내 FAQ 챗봇 → 22차시 구조로 충분할 수 있습니다</a:t>
            </a:r>
            <a:endParaRPr lang="en-US" sz="135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법률 · 의료 문서 QA → 검증이 반드시 필요합니다</a:t>
            </a:r>
            <a:endParaRPr lang="en-US" sz="1350" dirty="0"/>
          </a:p>
          <a:p>
            <a:pPr marL="0" indent="0">
              <a:lnSpc>
                <a:spcPts val="2400"/>
              </a:lnSpc>
              <a:buNone/>
            </a:pPr>
            <a:endParaRPr lang="en-US" sz="135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용도에 맞게 고르는 것도 설계 능력입니다.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DESIGN YOURS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실습 — 내 시스템 설계하기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371600"/>
            <a:ext cx="1081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오늘은 코드를 쓰지 않습니다. 대신 설계를 종이에 그려봅니다.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10817352" cy="914400"/>
          </a:xfrm>
          <a:prstGeom prst="roundRect">
            <a:avLst>
              <a:gd name="adj" fmla="val 4000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1984248"/>
            <a:ext cx="512064" cy="512064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19842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187452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답변이 틀리면 큰 문제가 되나요?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920240" y="2295144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 → Verifier 필수 / 아니오 → 생략 가능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" y="2834640"/>
            <a:ext cx="10817352" cy="914400"/>
          </a:xfrm>
          <a:prstGeom prst="roundRect">
            <a:avLst>
              <a:gd name="adj" fmla="val 4000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3035808"/>
            <a:ext cx="512064" cy="512064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97280" y="30358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920240" y="292608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사용자가 문서와 다른 말투로 물어보나요?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920240" y="3346704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 → Rewriter 필요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85800" y="3886200"/>
            <a:ext cx="10817352" cy="914400"/>
          </a:xfrm>
          <a:prstGeom prst="roundRect">
            <a:avLst>
              <a:gd name="adj" fmla="val 4000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7280" y="4087368"/>
            <a:ext cx="512064" cy="512064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97280" y="40873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920240" y="397764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인사나 잡담도 들어오나요?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920240" y="4398264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 → 분류 노드 필요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85800" y="4937760"/>
            <a:ext cx="10817352" cy="914400"/>
          </a:xfrm>
          <a:prstGeom prst="roundRect">
            <a:avLst>
              <a:gd name="adj" fmla="val 4000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97280" y="5138928"/>
            <a:ext cx="512064" cy="512064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97280" y="51389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Q4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920240" y="502920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오답 비용이 큰 분야인가요?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920240" y="5449824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 → 검증 기준을 늘리고 상한을 보수적으로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685800" y="5943600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필요한 모듈을 정하고, 계약표(읽는 키·쓰는 키)를 직접 채워보세요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CHECKLIST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차시 체크리스트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19072"/>
            <a:ext cx="5257800" cy="3840480"/>
          </a:xfrm>
          <a:prstGeom prst="roundRect">
            <a:avLst>
              <a:gd name="adj" fmla="val 95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" y="2011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이해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088136" y="2651760"/>
            <a:ext cx="4480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22차시 시스템의 한계 5가지를 말할 수 있다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3+2 모듈의 역할을 구분한다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모듈 간 계약이 무엇인지 안다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계약의 세 규칙을 말할 수 있다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판정과 결정을 분리하는 이유를 안다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모듈화의 비용도 함께 안다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45352" y="1719072"/>
            <a:ext cx="5257800" cy="3840480"/>
          </a:xfrm>
          <a:prstGeom prst="roundRect">
            <a:avLst>
              <a:gd name="adj" fmla="val 95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47688" y="2011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 실습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647688" y="2651760"/>
            <a:ext cx="4480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내 프로젝트에 필요한 모듈을 정했다</a:t>
            </a:r>
            <a:endParaRPr lang="en-US" sz="125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각 모듈의 읽는 키·쓰는 키를 적었다</a:t>
            </a:r>
            <a:endParaRPr lang="en-US" sz="125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최종 그래프 구조를 손으로 그려봤다</a:t>
            </a:r>
            <a:endParaRPr lang="en-US" sz="125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3부 로드맵에서 각 차시의 역할을 파악했다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NEXT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차시 미리보기 — 24차시 Retriever Node 분리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17320"/>
            <a:ext cx="1081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설계도를 그렸으니 이제 첫 번째 부품을 만듭니다. 검색부터 시작하는 이유가 있습니다.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2011680"/>
            <a:ext cx="3349752" cy="1554480"/>
          </a:xfrm>
          <a:prstGeom prst="roundRect">
            <a:avLst>
              <a:gd name="adj" fmla="val 235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58952" y="2384755"/>
            <a:ext cx="3203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State만으로 동작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40664" y="2882189"/>
            <a:ext cx="3240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독립 모듈로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7848" y="268833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19600" y="2011680"/>
            <a:ext cx="3349752" cy="1554480"/>
          </a:xfrm>
          <a:prstGeom prst="roundRect">
            <a:avLst>
              <a:gd name="adj" fmla="val 235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92752" y="2384755"/>
            <a:ext cx="3203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동적 옵션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474464" y="2882189"/>
            <a:ext cx="3240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중 k 조정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51648" y="268833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53400" y="2011680"/>
            <a:ext cx="3349752" cy="1554480"/>
          </a:xfrm>
          <a:prstGeom prst="roundRect">
            <a:avLst>
              <a:gd name="adj" fmla="val 2353"/>
            </a:avLst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6552" y="2384755"/>
            <a:ext cx="3203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 사유 구분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208264" y="2882189"/>
            <a:ext cx="3240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처방이 달라집니다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" y="3977640"/>
            <a:ext cx="10817352" cy="1691640"/>
          </a:xfrm>
          <a:prstGeom prst="roundRect">
            <a:avLst>
              <a:gd name="adj" fmla="val 216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43000" y="4224528"/>
            <a:ext cx="9902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RAG 문제의 70% 이상이 검색 단계에서 시작됩니다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4709160"/>
            <a:ext cx="9902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자주 손보는 곳을 가장 먼저 독립시킵니다.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그리고 실패 사유를 구분해두면 30차시 재검색의 길이 열립니다.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624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1828800"/>
            <a:ext cx="2468880" cy="3108960"/>
          </a:xfrm>
          <a:prstGeom prst="roundRect">
            <a:avLst>
              <a:gd name="adj" fmla="val 1481"/>
            </a:avLst>
          </a:prstGeom>
          <a:solidFill>
            <a:srgbClr val="24365C"/>
          </a:solidFill>
          <a:ln w="12700">
            <a:solidFill>
              <a:srgbClr val="2436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23317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27889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18320" y="32461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18320" y="37033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418320" y="4160520"/>
            <a:ext cx="1188720" cy="118872"/>
          </a:xfrm>
          <a:prstGeom prst="rect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57276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마무리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084832"/>
            <a:ext cx="7955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부품으로 나눈다는 것은</a:t>
            </a:r>
            <a:endParaRPr lang="en-US" sz="36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규격을 정한다는 뜻입니다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794760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400" dirty="0">
                <a:solidFill>
                  <a:srgbClr val="9FB2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코드는 한 줄도 쓰지 않았습니다. 대신 State 기준의 계약표를 만들었습니다.</a:t>
            </a:r>
            <a:endParaRPr lang="en-US" sz="14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400" dirty="0">
                <a:solidFill>
                  <a:srgbClr val="9FB2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표가 3부 11개 차시의 설계도입니다. 각 모듈은 이 약속만 지키면 됩니다.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484632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모듈은 결과만 남기고, 흐름은 Router가 정합니다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5266944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F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분리가 나중에 정책을 바꿀 때 값어치를 합니다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589788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E9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24차시에서 만나요.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1632</Words>
  <Application>Microsoft Office PowerPoint</Application>
  <PresentationFormat>사용자 지정</PresentationFormat>
  <Paragraphs>360</Paragraphs>
  <Slides>19</Slides>
  <Notes>19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0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LangGraph 23차시 Modular RAG 개념</dc:title>
  <dc:subject>PptxGenJS Presentation</dc:subject>
  <dc:creator>이창현</dc:creator>
  <cp:lastModifiedBy>lch</cp:lastModifiedBy>
  <cp:revision>1</cp:revision>
  <dcterms:created xsi:type="dcterms:W3CDTF">2026-09-17T10:52:28Z</dcterms:created>
  <dcterms:modified xsi:type="dcterms:W3CDTF">2026-09-17T10:54:32Z</dcterms:modified>
</cp:coreProperties>
</file>