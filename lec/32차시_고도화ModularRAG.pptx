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-96" y="-7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____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ko-KR"/>
  <c:roundedCorners val="1"/>
  <c:chart>
    <c:autoTitleDeleted val="1"/>
    <c:plotArea>
      <c:layout/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정답률(%)</c:v>
                </c:pt>
              </c:strCache>
            </c:strRef>
          </c:tx>
          <c:spPr>
            <a:ln w="38100" cap="flat">
              <a:solidFill>
                <a:srgbClr val="2F5597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2F5597"/>
              </a:solidFill>
              <a:ln w="9525" cap="flat">
                <a:solidFill>
                  <a:srgbClr val="2F5597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16243D"/>
                    </a:solidFill>
                    <a:latin typeface="맑은 고딕"/>
                  </a:defRPr>
                </a:pPr>
                <a:endParaRPr lang="ko-KR"/>
              </a:p>
            </c:txPr>
            <c:dLblPos val="t"/>
            <c:showVal val="1"/>
          </c:dLbls>
          <c:cat>
            <c:strRef>
              <c:f>Sheet1!$A$2:$A$7</c:f>
              <c:strCache>
                <c:ptCount val="6"/>
                <c:pt idx="0">
                  <c:v>8차시</c:v>
                </c:pt>
                <c:pt idx="1">
                  <c:v>16차시</c:v>
                </c:pt>
                <c:pt idx="2">
                  <c:v>22차시</c:v>
                </c:pt>
                <c:pt idx="3">
                  <c:v>27차시</c:v>
                </c:pt>
                <c:pt idx="4">
                  <c:v>29차시</c:v>
                </c:pt>
                <c:pt idx="5">
                  <c:v>32차시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</c:v>
                </c:pt>
                <c:pt idx="1">
                  <c:v>90</c:v>
                </c:pt>
                <c:pt idx="2">
                  <c:v>90</c:v>
                </c:pt>
                <c:pt idx="3">
                  <c:v>95</c:v>
                </c:pt>
                <c:pt idx="4">
                  <c:v>95</c:v>
                </c:pt>
                <c:pt idx="5">
                  <c:v>100</c:v>
                </c:pt>
              </c:numCache>
            </c:numRef>
          </c:val>
        </c:ser>
        <c:dLbls>
          <c:showVal val="1"/>
        </c:dLbls>
        <c:marker val="1"/>
        <c:axId val="64628608"/>
        <c:axId val="64630144"/>
      </c:lineChart>
      <c:catAx>
        <c:axId val="64628608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577"/>
                </a:solidFill>
                <a:latin typeface="맑은 고딕"/>
              </a:defRPr>
            </a:pPr>
            <a:endParaRPr lang="ko-KR"/>
          </a:p>
        </c:txPr>
        <c:crossAx val="64630144"/>
        <c:crosses val="autoZero"/>
        <c:auto val="1"/>
        <c:lblAlgn val="ctr"/>
        <c:lblOffset val="100"/>
        <c:noMultiLvlLbl val="1"/>
      </c:catAx>
      <c:valAx>
        <c:axId val="64630144"/>
        <c:scaling>
          <c:orientation val="minMax"/>
          <c:max val="110"/>
          <c:min val="40"/>
        </c:scaling>
        <c:axPos val="l"/>
        <c:majorGridlines>
          <c:spPr>
            <a:ln w="12700" cap="flat">
              <a:solidFill>
                <a:srgbClr val="EDEFF3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577"/>
                </a:solidFill>
                <a:latin typeface="맑은 고딕"/>
              </a:defRPr>
            </a:pPr>
            <a:endParaRPr lang="ko-KR"/>
          </a:p>
        </c:txPr>
        <c:crossAx val="646286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ko-KR"/>
  <c:roundedCorners val="1"/>
  <c:chart>
    <c:autoTitleDeleted val="1"/>
    <c:plotArea>
      <c:layout/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총시간(초)</c:v>
                </c:pt>
              </c:strCache>
            </c:strRef>
          </c:tx>
          <c:spPr>
            <a:solidFill>
              <a:srgbClr val="2F5597"/>
            </a:solidFill>
            <a:effectLst/>
          </c:spPr>
          <c:dLbls>
            <c:numFmt formatCode="0.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16243D"/>
                    </a:solidFill>
                    <a:latin typeface="맑은 고딕"/>
                  </a:defRPr>
                </a:pPr>
                <a:endParaRPr lang="ko-KR"/>
              </a:p>
            </c:txPr>
            <c:showVal val="1"/>
          </c:dLbls>
          <c:cat>
            <c:strRef>
              <c:f>Sheet1!$A$2:$A$6</c:f>
              <c:strCache>
                <c:ptCount val="5"/>
                <c:pt idx="0">
                  <c:v>generate</c:v>
                </c:pt>
                <c:pt idx="1">
                  <c:v>verify</c:v>
                </c:pt>
                <c:pt idx="2">
                  <c:v>rewrite</c:v>
                </c:pt>
                <c:pt idx="3">
                  <c:v>classify</c:v>
                </c:pt>
                <c:pt idx="4">
                  <c:v>retrieve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48.2</c:v>
                </c:pt>
                <c:pt idx="1">
                  <c:v>26.7</c:v>
                </c:pt>
                <c:pt idx="2">
                  <c:v>6.1</c:v>
                </c:pt>
                <c:pt idx="3">
                  <c:v>4.3</c:v>
                </c:pt>
                <c:pt idx="4">
                  <c:v>3.8</c:v>
                </c:pt>
              </c:numCache>
            </c:numRef>
          </c:val>
        </c:ser>
        <c:dLbls>
          <c:showVal val="1"/>
        </c:dLbls>
        <c:axId val="67051520"/>
        <c:axId val="67053056"/>
      </c:barChart>
      <c:catAx>
        <c:axId val="67051520"/>
        <c:scaling>
          <c:orientation val="maxMin"/>
        </c:scaling>
        <c:axPos val="l"/>
        <c:numFmt formatCode="General" sourceLinked="1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577"/>
                </a:solidFill>
                <a:latin typeface="맑은 고딕"/>
              </a:defRPr>
            </a:pPr>
            <a:endParaRPr lang="ko-KR"/>
          </a:p>
        </c:txPr>
        <c:crossAx val="67053056"/>
        <c:crosses val="autoZero"/>
        <c:auto val="1"/>
        <c:lblAlgn val="ctr"/>
        <c:lblOffset val="100"/>
        <c:noMultiLvlLbl val="1"/>
      </c:catAx>
      <c:valAx>
        <c:axId val="67053056"/>
        <c:scaling>
          <c:orientation val="minMax"/>
          <c:max val="55"/>
          <c:min val="0"/>
        </c:scaling>
        <c:axPos val="t"/>
        <c:majorGridlines>
          <c:spPr>
            <a:ln w="12700" cap="flat">
              <a:solidFill>
                <a:srgbClr val="EDEFF3"/>
              </a:solidFill>
              <a:prstDash val="solid"/>
              <a:round/>
            </a:ln>
          </c:spPr>
        </c:majorGridlines>
        <c:numFmt formatCode="General" sourceLinked="0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577"/>
                </a:solidFill>
                <a:latin typeface="맑은 고딕"/>
              </a:defRPr>
            </a:pPr>
            <a:endParaRPr lang="ko-KR"/>
          </a:p>
        </c:txPr>
        <c:crossAx val="67051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3부의 마지막 통합 차시입니다.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새 기능이 아니라 통합과 검증과 기록입니다.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23차시에서 '지금은 이해하지 않아도 된다'고 했던 그 그림입니다.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 bottom = 1.82+0.48+3.96 = 6.26 → 카드 6.05 겹침 확인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경로 커버리지가 오늘 새로 등장하는 테스트 개념입니다.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 초과 확인이 모든 분기의 첫 줄이라는 점을 짚어주세요.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질문이 어떤 경로를 타도록 설계됐는지 설명하세요.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커버리지 테스트는 버그를 찾을 뿐 아니라 불필요한 코드도 찾습니다.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대표이사 질문은 giveup이 정답입니다. 문서에 없으니까요.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14차시에서 배운 '측정 우선'이 여기서 전체 흐름으로 증명됩니다.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 bottom = 1.85+0.36+3.22 = 5.43 → 카드 5.30. 확인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과적합 개념을 가볍게 소개하는 자리입니다.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검색을 빠르게 만들어도 전체 시간은 4%밖에 안 줄어듭니다.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설정값 옆에 근거 차시를 적게 하세요. 포트폴리오에도 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31차시 '불확실성을 숨기지 않는다'와 같은 태도입니다.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통합 후 문제는 대부분 이 넷 중 하나입니다.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 두 줄은 상한 관련입니다.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모두 통과하면 마일스톤 4 달성입니다.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마일스톤 4 달성을 축하해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3부의 마지막 차시로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3부 완주를 축하하고 마칩니다.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32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고도화된 Modular RAG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3부의 결승선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23차시의 설계도가 오늘 실제 시스템이 됩니다 — 마일스톤 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통합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23~31차시 모듈을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그래프로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9개 노드 · 4개 분기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도는 것을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확인한다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회귀 테스트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동작을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검증한다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변화 측정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→ 22 → 27 → 32차시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발전을 본다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노드별 프로파일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어디가 병목인지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측정한다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아키텍처 문서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구조와 근거를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문서로 남긴다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FINAL SHAPE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완성할 시스템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10817352" cy="2606040"/>
          </a:xfrm>
          <a:prstGeom prst="roundRect">
            <a:avLst>
              <a:gd name="adj" fmla="val 140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700784"/>
            <a:ext cx="987552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→ ① classify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├ greeting / calc / scope  →  END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└ document  →  ② retrieve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      ├ ok        →  ③ generate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      ├ research  →  ⑥ rewrite  →  ② retrieve   (재검색 루프)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      └ giveup    →  ⑦ fallback  →  END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generate  →  ④ verify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      ├ pass      →  END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      ├ regen     →  ⑤ bump  →  ③ generate   (재생성 루프)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      ├ research  →  ⑥ rewrite</a:t>
            </a:r>
            <a:endParaRPr lang="en-US" sz="1050" dirty="0"/>
          </a:p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      └ giveup    →  ⑦ fallback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4389120"/>
            <a:ext cx="10817352" cy="1600200"/>
          </a:xfrm>
          <a:prstGeom prst="roundRect">
            <a:avLst>
              <a:gd name="adj" fmla="val 2286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4590288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개의 루프, 네 개의 분기, 세 개의 상한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502920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재생성 루프 (verify → bump → generate)  ·  재검색 루프 (rewrite → retrieve)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상한 — 재생성 2회 · 재검색 2회 · 전체 60초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 BUILT WHAT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노드는 어느 차시에서 왔나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0817352" cy="365760"/>
          </a:xfrm>
          <a:prstGeom prst="roundRect">
            <a:avLst>
              <a:gd name="adj" fmla="val 1000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1645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645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차시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903720" y="1645920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066544"/>
            <a:ext cx="10817352" cy="36576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0665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206654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classify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06654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29차시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2066544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유형 분류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4871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24871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4871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24차시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487168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확보 + 신뢰도 기록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2907792"/>
            <a:ext cx="10817352" cy="36576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" y="29077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965960" y="29077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29077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25차시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907792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작성 + 자가 점검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32841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965960" y="332841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verify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33284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26차시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3328416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판정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3749040"/>
            <a:ext cx="10817352" cy="36576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51560" y="3749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965960" y="3749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bump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892040" y="3749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27차시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3749040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재생성 카운터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41696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965960" y="416966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rewrite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892040" y="416966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30차시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903720" y="4169664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 재작성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85800" y="4590288"/>
            <a:ext cx="10817352" cy="36576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51560" y="45902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1965960" y="45902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fallback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4892040" y="45902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31차시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903720" y="4590288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계층화된 안내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1051560" y="50109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+3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1965960" y="501091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greeting · calc · scope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4892040" y="501091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29차시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6903720" y="5010912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단축 경로 응답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85800" y="5577840"/>
            <a:ext cx="10817352" cy="502920"/>
          </a:xfrm>
          <a:prstGeom prst="roundRect">
            <a:avLst>
              <a:gd name="adj" fmla="val 7273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85800" y="557784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차시 하나씩 만든 부품이 오늘 한자리에 모입니다 — 3부는 누적식이었습니다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642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6642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따로 만든 모듈을 하나의 시스템으로 합치는 작업.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39572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957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회귀 테스트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39572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후에도 기존 기능이 유지되는지 확인하는 테스트.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12724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12724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커버리지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12724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분기 경로가 최소 한 번씩 실행됐는지 확인하는 것.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85876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587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프로파일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85876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노드별 소요 시간과 호출 횟수를 정리한 자료.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59028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59028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아키텍처 문서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59028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구조와 설계 근거를 남긴 문서.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3218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3218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마일스톤 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53218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3부의 최종 결과물.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 ROUTERS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라우팅 함수 네 개 — 모두 같은 규칙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786384"/>
          </a:xfrm>
          <a:prstGeom prst="roundRect">
            <a:avLst>
              <a:gd name="adj" fmla="val 46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37360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classify 이후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3154680" y="1737360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greeting / calc / scope / document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921240" y="1737360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4갈래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651760"/>
            <a:ext cx="10817352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651760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 이후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2651760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초과 → 성공 → 재검색 상한 → low_score → 그 외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921240" y="2651760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3갈래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566160"/>
            <a:ext cx="10817352" cy="786384"/>
          </a:xfrm>
          <a:prstGeom prst="roundRect">
            <a:avLst>
              <a:gd name="adj" fmla="val 4651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566160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verify 이후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154680" y="3566160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초과 → 재생성 상한 → pass → giveup → research → 그 외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921240" y="3566160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4갈래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480560"/>
            <a:ext cx="10817352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480560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rewrite 이후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3154680" y="4480560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초과 → 그 외 재검색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921240" y="4480560"/>
            <a:ext cx="1005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2갈래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5440680"/>
            <a:ext cx="10817352" cy="640080"/>
          </a:xfrm>
          <a:prstGeom prst="roundRect">
            <a:avLst>
              <a:gd name="adj" fmla="val 5714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54864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안전장치(시간 · 상한)는 모두 맨 위 — 28차시 규칙이 네 곳에서 똑같이 지켜집니다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PATH COVERAGE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경로를 한 번씩 걸어보기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53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테스트의 핵심입니다. 각 경로를 대표하는 질문 일곱 개로 돌립니다.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755648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75564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안녕하세요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434840" y="175564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greeting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989320" y="1755648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classify → greeting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267712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26771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 * 3 + 45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26771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calc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267712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classify → calc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2779776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277977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날씨 어때요?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277977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scope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277977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classify → scope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3291840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329184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환불은 며칠 이내인가요?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32918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RAG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989320" y="329184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… → retrieve → generate → verify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3803904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1560" y="380390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반품하고 싶은데 언제까지?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434840" y="380390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재검색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3803904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… → retrieve → rewrite → retrieve → …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" y="4315968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1560" y="431596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환불 방법과 수수료는?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434840" y="431596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재생성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989320" y="4315968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… → verify → bump → generate → verify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5800" y="4828032"/>
            <a:ext cx="10817352" cy="438912"/>
          </a:xfrm>
          <a:prstGeom prst="roundRect">
            <a:avLst>
              <a:gd name="adj" fmla="val 833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51560" y="482803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대표이사가 누구인가요?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434840" y="482803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fallback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989320" y="4828032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… → rewrite → retrieve (×2) → fallback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85800" y="5440680"/>
            <a:ext cx="10817352" cy="640080"/>
          </a:xfrm>
          <a:prstGeom prst="roundRect">
            <a:avLst>
              <a:gd name="adj" fmla="val 5714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5440680"/>
            <a:ext cx="10817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— 10개 노드 모두 한 번 이상 방문  (retrieve 9회 · generate 5회 · rewrite 3회 · bump 1회 …)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DEAD CODE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미방문 노드가 있다면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2377440"/>
          </a:xfrm>
          <a:prstGeom prst="roundRect">
            <a:avLst>
              <a:gd name="adj" fmla="val 1538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가능성 ① 테스트 부족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560320"/>
            <a:ext cx="4453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경로를 타는 질문이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테스트에 없었을 뿐입니다.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케이스를 추가하세요.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257800" cy="2377440"/>
          </a:xfrm>
          <a:prstGeom prst="roundRect">
            <a:avLst>
              <a:gd name="adj" fmla="val 1538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가능성 ② 도달 불가능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560320"/>
            <a:ext cx="4453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조건으로도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노드에 갈 수 없습니다.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조건표를 다시 보세요.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443484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7320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도달 불가능한 노드는 죽은 코드입니다 — 어느 쪽인지 반드시 확인하세요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760720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28차시에서 예고한 "안 가본 길에 버그가 숨는다"가 바로 이것입니다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REGRESSION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12차시 질문 20개로 전체 회귀 테스트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475488"/>
          </a:xfrm>
          <a:prstGeom prst="roundRect">
            <a:avLst>
              <a:gd name="adj" fmla="val 769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환불은 며칠 이내인가요?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532120" y="169164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pass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12280" y="169164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재생성 0 · 재검색 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784080" y="169164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240280"/>
            <a:ext cx="10817352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224028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24028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반품하고 싶은데 언제까지?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532120" y="22402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pass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22402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재생성 0 · 재검색 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784080" y="224028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6.8초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2788920"/>
            <a:ext cx="10817352" cy="475488"/>
          </a:xfrm>
          <a:prstGeom prst="roundRect">
            <a:avLst>
              <a:gd name="adj" fmla="val 769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278892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27889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바꾸려면 택배비 누가?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532120" y="278892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pass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278892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재생성 0 · 재검색 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784080" y="27889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7.1초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3337560"/>
            <a:ext cx="10817352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333756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333756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환불 방법과 수수료는?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33375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pass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33375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재생성 1 · 재검색 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784080" y="333756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5.4초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3886200"/>
            <a:ext cx="10817352" cy="475488"/>
          </a:xfrm>
          <a:prstGeom prst="roundRect">
            <a:avLst>
              <a:gd name="adj" fmla="val 769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51560" y="388620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417320" y="388620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대표이사가 누구인가요?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532120" y="388620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giveup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812280" y="38862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재생성 0 · 재검색 2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784080" y="388620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8.9초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5800" y="4526280"/>
            <a:ext cx="2020824" cy="1417320"/>
          </a:xfrm>
          <a:prstGeom prst="roundRect">
            <a:avLst>
              <a:gd name="adj" fmla="val 2581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4681728"/>
            <a:ext cx="2020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20/20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530352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정답률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880360" y="4526280"/>
            <a:ext cx="2020824" cy="1417320"/>
          </a:xfrm>
          <a:prstGeom prst="roundRect">
            <a:avLst>
              <a:gd name="adj" fmla="val 258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880360" y="4681728"/>
            <a:ext cx="2020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17/20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2880360" y="530352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통과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074920" y="4526280"/>
            <a:ext cx="2020824" cy="1417320"/>
          </a:xfrm>
          <a:prstGeom prst="roundRect">
            <a:avLst>
              <a:gd name="adj" fmla="val 258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074920" y="4681728"/>
            <a:ext cx="2020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3건</a:t>
            </a:r>
            <a:endParaRPr lang="en-US" sz="2200" dirty="0"/>
          </a:p>
        </p:txBody>
      </p:sp>
      <p:sp>
        <p:nvSpPr>
          <p:cNvPr id="42" name="Text 40"/>
          <p:cNvSpPr txBox="1"/>
          <p:nvPr/>
        </p:nvSpPr>
        <p:spPr>
          <a:xfrm>
            <a:off x="5074920" y="530352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재생성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269480" y="4526280"/>
            <a:ext cx="2020824" cy="1417320"/>
          </a:xfrm>
          <a:prstGeom prst="roundRect">
            <a:avLst>
              <a:gd name="adj" fmla="val 258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269480" y="4681728"/>
            <a:ext cx="2020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5건</a:t>
            </a:r>
            <a:endParaRPr lang="en-US" sz="2200" dirty="0"/>
          </a:p>
        </p:txBody>
      </p:sp>
      <p:sp>
        <p:nvSpPr>
          <p:cNvPr id="45" name="Text 43"/>
          <p:cNvSpPr txBox="1"/>
          <p:nvPr/>
        </p:nvSpPr>
        <p:spPr>
          <a:xfrm>
            <a:off x="7269480" y="530352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재검색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9464040" y="4526280"/>
            <a:ext cx="2020824" cy="1417320"/>
          </a:xfrm>
          <a:prstGeom prst="roundRect">
            <a:avLst>
              <a:gd name="adj" fmla="val 258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464040" y="4681728"/>
            <a:ext cx="2020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4.6초</a:t>
            </a:r>
            <a:endParaRPr lang="en-US" sz="2200" dirty="0"/>
          </a:p>
        </p:txBody>
      </p:sp>
      <p:sp>
        <p:nvSpPr>
          <p:cNvPr id="48" name="Text 46"/>
          <p:cNvSpPr txBox="1"/>
          <p:nvPr/>
        </p:nvSpPr>
        <p:spPr>
          <a:xfrm>
            <a:off x="9464040" y="530352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JOURNEY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8차시부터 32차시까지 — 정답률의 변화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85800" y="1645920"/>
          <a:ext cx="65836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645920"/>
            <a:ext cx="3913632" cy="3017520"/>
          </a:xfrm>
          <a:prstGeom prst="roundRect">
            <a:avLst>
              <a:gd name="adj" fmla="val 121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55280" y="1874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단계의 기여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33172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→ 16  +30%p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튜닝 · 프롬프트, 비용 증가 없음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→ 22  변화 없음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그래프로 전환, 확장성 확보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→ 27  +5%p, 환각 0건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 → 32  +5%p, 어휘 불일치 해결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85800" y="484632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43000" y="5010912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개선은 비용 증가 없이 얻었습니다 — 파라미터 튜닝과 프롬프트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5413248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개선(27·30차시)은 남은 몇 %를 비용을 들여 해결한 것입니다. 순서가 중요합니다 — 싼 개선부터.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PRICE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정답률만 보면 안 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10817352" cy="384048"/>
          </a:xfrm>
          <a:prstGeom prst="roundRect">
            <a:avLst>
              <a:gd name="adj" fmla="val 9524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6420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차시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6642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166420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정답률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989320" y="16642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543800" y="16642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응답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281160" y="166420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호출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2103120"/>
            <a:ext cx="10817352" cy="384048"/>
          </a:xfrm>
          <a:prstGeom prst="roundRect">
            <a:avLst>
              <a:gd name="adj" fmla="val 952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21031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21031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RAG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160520" y="21031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21031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4건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543800" y="21031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2.0초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10312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1.0회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5420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25420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 완료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160520" y="254203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90%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989320" y="254203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2건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254203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2.1초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254203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1.0회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5800" y="2980944"/>
            <a:ext cx="10817352" cy="384048"/>
          </a:xfrm>
          <a:prstGeom prst="roundRect">
            <a:avLst>
              <a:gd name="adj" fmla="val 952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298094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783080" y="298094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RAG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160520" y="298094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90%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989320" y="298094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2건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543800" y="298094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2.1초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281160" y="298094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1.0회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341985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783080" y="341985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Modular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4160520" y="341985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95%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989320" y="34198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0건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543800" y="341985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4.3초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9281160" y="341985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2.4회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85800" y="3858768"/>
            <a:ext cx="10817352" cy="384048"/>
          </a:xfrm>
          <a:prstGeom prst="roundRect">
            <a:avLst>
              <a:gd name="adj" fmla="val 952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51560" y="385876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1783080" y="38587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라우팅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4160520" y="385876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95%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5989320" y="38587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0건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7543800" y="38587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3.4초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9281160" y="385876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1.9회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1051560" y="429768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1783080" y="42976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고도화 Modular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4160520" y="42976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5989320" y="42976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0건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7543800" y="42976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4.6초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9281160" y="42976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2.9회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685800" y="484632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143000" y="5010912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27차시에서 비용이 2.4배로 뛰었고, 29차시 라우팅이 그중 일부를 되돌렸습니다</a:t>
            </a:r>
            <a:endParaRPr lang="en-US" sz="1550" dirty="0"/>
          </a:p>
        </p:txBody>
      </p:sp>
      <p:sp>
        <p:nvSpPr>
          <p:cNvPr id="52" name="Text 50"/>
          <p:cNvSpPr txBox="1"/>
          <p:nvPr/>
        </p:nvSpPr>
        <p:spPr>
          <a:xfrm>
            <a:off x="1143000" y="5413248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 0건을 얻는 대가로 응답 시간이 두 배가 됐습니다. 이 비용을 줄이는 것이 33차시입니다.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 THE 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100%는 이 질문 세트에서만입니다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17352" cy="1280160"/>
          </a:xfrm>
          <a:prstGeom prst="roundRect">
            <a:avLst>
              <a:gd name="adj" fmla="val 2857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965960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20개 질문에 최적화된 결과입니다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450592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새로운 질문에는 다시 실패가 나옵니다. "내 테스트에서 100%"는 시작일 뿐입니다.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461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34~35차시에서 평가 방법론을 배웁니다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703320"/>
            <a:ext cx="3401568" cy="1463040"/>
          </a:xfrm>
          <a:prstGeom prst="roundRect">
            <a:avLst>
              <a:gd name="adj" fmla="val 25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393192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넓은 평가 데이터셋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443484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20개로는 부족합니다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3703320"/>
            <a:ext cx="3401568" cy="1463040"/>
          </a:xfrm>
          <a:prstGeom prst="roundRect">
            <a:avLst>
              <a:gd name="adj" fmla="val 25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36008" y="393192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정답률 외의 지표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443484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충실성 · 관련성 · 비용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01000" y="3703320"/>
            <a:ext cx="3401568" cy="1463040"/>
          </a:xfrm>
          <a:prstGeom prst="roundRect">
            <a:avLst>
              <a:gd name="adj" fmla="val 25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93608" y="393192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평가와 자동 평가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293608" y="443484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둘을 함께 씁니다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5394960"/>
            <a:ext cx="10817352" cy="640080"/>
          </a:xfrm>
          <a:prstGeom prst="roundRect">
            <a:avLst>
              <a:gd name="adj" fmla="val 5714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54406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질문으로 튜닝하고 같은 질문으로 평가하면, 점수는 오를 수밖에 없습니다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PROFILE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어디가 병목인가 — 노드별 소요 시간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85800" y="1645920"/>
          <a:ext cx="65836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645920"/>
            <a:ext cx="3913632" cy="3017520"/>
          </a:xfrm>
          <a:prstGeom prst="roundRect">
            <a:avLst>
              <a:gd name="adj" fmla="val 121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55280" y="1874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프로파일이 알려주는 것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33172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  55%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답변 길이 · 모델이 핵심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verify  30%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규칙 필터로 호출 자체를 줄임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  4%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검색 최적화는 효과 미미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" y="489204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51435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병목이 아닌 곳을 최적화하는 것은 낭비입니다 — 33차시는 이 자료로 시작합니다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ARCHITECTURE DOC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완성했으면 문서로 남깁니다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10817352" cy="384048"/>
          </a:xfrm>
          <a:prstGeom prst="roundRect">
            <a:avLst>
              <a:gd name="adj" fmla="val 9524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642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794760" y="1664208"/>
            <a:ext cx="6793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103120"/>
            <a:ext cx="10817352" cy="384048"/>
          </a:xfrm>
          <a:prstGeom prst="roundRect">
            <a:avLst>
              <a:gd name="adj" fmla="val 952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103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다이어그램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794760" y="2103120"/>
            <a:ext cx="6793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구조 이미지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5420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명세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2542032"/>
            <a:ext cx="6793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노드의 읽는 키 · 쓰는 키 · 책임 · 실패 시 동작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2980944"/>
            <a:ext cx="10817352" cy="384048"/>
          </a:xfrm>
          <a:prstGeom prst="roundRect">
            <a:avLst>
              <a:gd name="adj" fmla="val 952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29809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라우팅 규칙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2980944"/>
            <a:ext cx="6793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분기점별 조건표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4198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설정과 근거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3419856"/>
            <a:ext cx="6793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설정값과 그 값을 정한 차시 · 실험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3858768"/>
            <a:ext cx="10817352" cy="384048"/>
          </a:xfrm>
          <a:prstGeom prst="roundRect">
            <a:avLst>
              <a:gd name="adj" fmla="val 952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38587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지표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794760" y="3858768"/>
            <a:ext cx="6793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정답률 · 응답 시간 · 비용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297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알려진 한계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794760" y="4297680"/>
            <a:ext cx="6793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해결 못 한 문제들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84632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43000" y="4983480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설정과 근거 예시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5376672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 300 — 14차시 벤치마크   ·   MIN_SCORE 0.47 — 9차시 실측   ·   MAX_REWRITE 2 — 30차시 실험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KNOWN LIMITS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"알려진 한계"를 반드시 쓰세요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659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시스템의 한계 예시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514600"/>
            <a:ext cx="4453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표 데이터 검색 정확도가 낮음</a:t>
            </a:r>
            <a:endParaRPr lang="en-US" sz="135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부정문 구분이 어려움 (9차시)</a:t>
            </a:r>
            <a:endParaRPr lang="en-US" sz="135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여러 문서에 걸친 종합 질문 미지원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45352" y="1737360"/>
            <a:ext cx="5257800" cy="2606040"/>
          </a:xfrm>
          <a:prstGeom prst="roundRect">
            <a:avLst>
              <a:gd name="adj" fmla="val 140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19659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써야 하나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514600"/>
            <a:ext cx="4453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무엇을 못 하는지 아는 것이 실력입니다</a:t>
            </a:r>
            <a:endParaRPr lang="en-US" sz="135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다음 개선 방향이 명확해집니다</a:t>
            </a:r>
            <a:endParaRPr lang="en-US" sz="135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사용자 기대를 적절히 조정합니다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461772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9149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완벽하다고 쓴 문서는 신뢰받지 못합니다 — 40차시 발표에서도 이 항목이 평가됩니다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 IT DEGRADES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후 성능이 떨어졌다면 — 확인 순서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892808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928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783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오분류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783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질문이 scope나 greeting으로 갔는가?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20370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29차시 오분류 검사를 다시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770632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971800"/>
            <a:ext cx="530352" cy="530352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2971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28620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과도한 재작성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86207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재검색이 30% 넘게 발생하는가?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28269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임계값이 높습니다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849624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4050792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40507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394106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과잉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39410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pass 비율이 50% 미만인가?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436168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26차시 완화 방법 적용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928616"/>
            <a:ext cx="10817352" cy="932688"/>
          </a:xfrm>
          <a:prstGeom prst="roundRect">
            <a:avLst>
              <a:gd name="adj" fmla="val 392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5129784"/>
            <a:ext cx="530352" cy="530352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97280" y="51297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965960" y="502005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숨은 노드 오류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502005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로그에 node_error가 있는가?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54406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31차시 감싸개가 실패를 삼키는 중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98932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④가 가장 찾기 어렵습니다 — 31차시에서 말한 조용한 실패입니다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겪는 문제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재귀 한도 초과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169164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15000" y="1691640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재생성 · 재검색 상한이 모두 걸려 있고 맨 위인지 확인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404872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40487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rewrite ↔ retrieve 무한 반복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240487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715000" y="2404872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rewrite 노드가 횟수를 +1 반환하는지 확인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118104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11810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특정 노드가 한 번도 방문 안 됨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3118104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118104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도달 경로가 없거나 테스트 부족 — 조건표를 다시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831336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83133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정답률은 100%인데 너무 느림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3831336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715000" y="3831336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프로파일로 병목을 찾고 33차시 최적화 적용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544568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54456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재검색이 너무 자주 발생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4544568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715000" y="4544568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임계값이 높습니다. 24차시 방법으로 재조정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25780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525780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맵에서 키를 못 찾음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525780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715000" y="5257800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이름 상수를 모든 곳에서 재사용했는지 확인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· 검증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10개 노드를 하나의 그래프로 연결했다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4개 분기 함수가 모두 동작한다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두 루프의 상한이 각각 지켜진다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전체 타임아웃이 작동한다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경로 커버리지에서 미방문 노드가 없다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회귀 테스트 20문항을 통과했다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장애 시뮬레이션 5종을 통과했다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· 문서화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노드별 성능 프로파일을 측정했다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8 → 32차시 성능 변화표를 만들었다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구조 다이어그램을 저장했다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아키텍처 문서를 작성했다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알려진 한계를 정리했다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결과물에 태그를 달았다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MILESTONE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3부를 완주하셨습니다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0817352" cy="777240"/>
          </a:xfrm>
          <a:prstGeom prst="roundRect">
            <a:avLst>
              <a:gd name="adj" fmla="val 4706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 여러분의 RAG는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2606040"/>
            <a:ext cx="3401568" cy="1078992"/>
          </a:xfrm>
          <a:prstGeom prst="roundRect">
            <a:avLst>
              <a:gd name="adj" fmla="val 339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77063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유형을 판단해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17296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적절한 경로로 보내고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2606040"/>
            <a:ext cx="3401568" cy="1078992"/>
          </a:xfrm>
          <a:prstGeom prst="roundRect">
            <a:avLst>
              <a:gd name="adj" fmla="val 339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77063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확보하고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17296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신뢰도를 기록하고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01000" y="2606040"/>
            <a:ext cx="3401568" cy="1078992"/>
          </a:xfrm>
          <a:prstGeom prst="roundRect">
            <a:avLst>
              <a:gd name="adj" fmla="val 339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277063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안에서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317296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답변을 만들고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3840480"/>
            <a:ext cx="3401568" cy="1078992"/>
          </a:xfrm>
          <a:prstGeom prst="roundRect">
            <a:avLst>
              <a:gd name="adj" fmla="val 339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400507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심판이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440740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답변을 검증하고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43400" y="3840480"/>
            <a:ext cx="3401568" cy="1078992"/>
          </a:xfrm>
          <a:prstGeom prst="roundRect">
            <a:avLst>
              <a:gd name="adj" fmla="val 339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17720" y="400507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실패하면 다시 쓰거나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440740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찾고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01000" y="3840480"/>
            <a:ext cx="3401568" cy="1078992"/>
          </a:xfrm>
          <a:prstGeom prst="roundRect">
            <a:avLst>
              <a:gd name="adj" fmla="val 339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75320" y="400507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오류에도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440740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죽지 않습니다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5120640"/>
            <a:ext cx="10817352" cy="868680"/>
          </a:xfrm>
          <a:prstGeom prst="roundRect">
            <a:avLst>
              <a:gd name="adj" fmla="val 4211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2806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23차시에 그렸던 설계도가 이제 실제로 돌아갑니다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33차시 Modular RAG 최적화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완성했으니 이제 빠르고 싸게 만듭니다. 오늘 잰 프로파일이 출발점입니다.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우선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병목부터 본다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43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5930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호출 줄이기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54101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55%를 공략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47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965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티어링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34136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싼 모델로 검증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850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868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6000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캐싱 · 재순위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14171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빠르고 정확하게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97764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422452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 0건을 지키면서 비용을 되돌리는 것이 목표입니다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70916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27차시에서 2.4배로 뛴 비용, 32차시의 4.6초 응답.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품질을 유지한 채 이걸 얼마나 줄일 수 있는지 측정하며 개선합니다.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8483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설계도가</a:t>
            </a:r>
            <a:endParaRPr lang="en-US" sz="3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시스템이 되었습니다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23차시에 "지금은 이해하지 않아도 됩니다"라고 했던 그림을 오늘 직접 돌렸습니다.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차시 하나씩 만든 부품이 계약을 지켰기 때문에, 합쳤을 때 그대로 맞물렸습니다.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8463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100%라는 숫자에 멈추지 않고, 한계를 적어두었습니다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26694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못 하는지 아는 것이 실력입니다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마일스톤 4 달성을 축하합니다.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1812</Words>
  <Application>Microsoft Office PowerPoint</Application>
  <PresentationFormat>사용자 지정</PresentationFormat>
  <Paragraphs>440</Paragraphs>
  <Slides>21</Slides>
  <Notes>21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2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32차시 고도화된 Modular RAG</dc:title>
  <dc:subject>PptxGenJS Presentation</dc:subject>
  <dc:creator>이창현</dc:creator>
  <cp:lastModifiedBy>Lenovo</cp:lastModifiedBy>
  <cp:revision>1</cp:revision>
  <dcterms:created xsi:type="dcterms:W3CDTF">2026-09-22T01:16:14Z</dcterms:created>
  <dcterms:modified xsi:type="dcterms:W3CDTF">2026-09-22T02:01:06Z</dcterms:modified>
</cp:coreProperties>
</file>