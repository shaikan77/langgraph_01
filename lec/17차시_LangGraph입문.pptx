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2부의 시작입니다. 완전히 새로운 개념이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개념 위주입니다. 18~20차시에서 하나씩 깊이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순차적으로만 진행될 뿐이라는 점이 한계입니다.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 비유가 가장 직관적입니다.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익숙한 것에서 출발해야 새 개념이 쉽게 들어옵니다.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구분이 20차시에서 다시 강조됩니다.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18차시에서 State만 따로 한 차시를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21차시에서 이 순서를 몸에 익히게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20차시에서 조건부 Edge를 본격적으로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20·21차시에서 구조 확인 도구를 실제로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무조건 그래프가 좋은 것은 아니라는 균형도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 시나리오로 필요성을 체감시키세요.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수강생이 실제로 자주 묻는 질문들입니다.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실습까지 해본 사람만 18차시가 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설계의 중요성을 미리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개념을 한 번 더 정리하고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17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입문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Graph가 필요할까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길로만 가는 RAG에 갈림길을 놓습니다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RAG의 한계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조건 분기를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하는지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Graph란 무엇인가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점과 선으로 이루어진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이해한다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Node와 Edge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곳과 길을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노드들이 공유하는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메모판을 이해한다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그래프 만들기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구조를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돌려본다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분기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따라 다른 길로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만든다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LIMIT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16차시까지의 RAG, 뭐가 문제일까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07751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53105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질문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4398" y="23454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73736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9302" y="207751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41014" y="253105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 찾기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4748" y="23454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73736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9652" y="207751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처리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41364" y="253105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생성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85098" y="23454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73736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0002" y="207751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53105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전달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29184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간단하고 깔끔합니다. 하지만 현실은 조금 다릅니다.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10817352" cy="2286000"/>
          </a:xfrm>
          <a:prstGeom prst="roundRect">
            <a:avLst>
              <a:gd name="adj" fmla="val 16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391363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가지를 처리할 수 없습니다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나쁘면?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3708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진행해버립니다. 더 찾지 않습니다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불명확하면?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681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검색합니다. 되묻지 않습니다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992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틀렸으면?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9262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그냥 받습니다. 재생성하지 않습니다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303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곳을 찾아야 하면?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303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차례대로만 합니다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614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승인이 필요하면?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진행해버립니다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ROAD vs MANY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서울에서 부산 가는 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순차식 RAG — 한 길만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87168"/>
            <a:ext cx="445312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871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→ 대전 → 대구 → 부산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24612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경로만 가능합니다.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막혀도 돌아갈 수 없습니다.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— 여러 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87168"/>
            <a:ext cx="4453128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420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→ (교통 상황 확인)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├ 좋으면 : 고속도로 → 부산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└ 나쁘면 : 국도 → 부산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493008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조건에 따라 다르게 진행할 수 있습니다.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보고 길을 고릅니다.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분기 · 루프 · 병렬 처리 · 사람 개입 — Graph가 해결하는 것들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IS EVERYWHERE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Graph는 이미 주변에 가득합니다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3063240"/>
          </a:xfrm>
          <a:prstGeom prst="roundRect">
            <a:avLst>
              <a:gd name="adj" fmla="val 119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659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2450592"/>
            <a:ext cx="2816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= 교차로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78408" y="2980944"/>
            <a:ext cx="2816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980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= 도로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58444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"강남역에서 종로3가로?" — 여러 경로가 있습니다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01568" cy="3063240"/>
          </a:xfrm>
          <a:prstGeom prst="roundRect">
            <a:avLst>
              <a:gd name="adj" fmla="val 119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19659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네트워크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36008" y="2450592"/>
            <a:ext cx="2816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= 사람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36008" y="2980944"/>
            <a:ext cx="2816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980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= 친구 관계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358444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친구도 볼 수 있습니다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1691640"/>
            <a:ext cx="3401568" cy="3063240"/>
          </a:xfrm>
          <a:prstGeom prst="roundRect">
            <a:avLst>
              <a:gd name="adj" fmla="val 119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3608" y="19659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93608" y="2450592"/>
            <a:ext cx="2816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= 작업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93608" y="2980944"/>
            <a:ext cx="28163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8200" y="2980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= 정보 흐름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358444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→ 품질 확인 → 좋으면 생성, 나쁘면 재검색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93776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1663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점(Node) + 선(Edge) = 그래프(Graph)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&amp; EDGE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곳과 가는 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— 일을 하는 곳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87168"/>
            <a:ext cx="4453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"검색 노드"는 검색을 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"LLM 노드"는 답변을 생성합니다.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"검증 노드"는 결과를 확인합니다.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하나의 작업만 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공장의 작업대처럼요.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— 다음은 어디로?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87168"/>
            <a:ext cx="4453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"검색이 끝났으니 LLM으로 가"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"답변했으니 검증으로 가"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"검증에서 나쁘면 다시 검색으로"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Edge는 다음 노드를 지정합니다.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작업용 컨베이어 벨트처럼요.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= 무엇을 할 것인가   ·   Edge = 어디로 갈 것인가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노드들이 공유하는 메모판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공책에 비유하면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14600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선생님이 공책에 적습니다.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선생님이 그걸 보고 추가로 적습니다.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 선생님이 진행 상황을 파악합니다.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선생님이 몇 명이든 공책은 하나입니다.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State가 그 공책입니다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14600"/>
            <a:ext cx="4453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: {질문}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노드 : 검색 결과를 추가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노드 : 답변을 추가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노드 : 최종 State를 읽어 전달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State는 계속 진화합니다.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몇 개든 주고받는 것은 State 하나뿐입니다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만드는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16302" cy="1600200"/>
          </a:xfrm>
          <a:prstGeom prst="roundRect">
            <a:avLst>
              <a:gd name="adj" fmla="val 228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58568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State 정의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770632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값이 오갈지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4398" y="25740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874520"/>
            <a:ext cx="2416302" cy="1600200"/>
          </a:xfrm>
          <a:prstGeom prst="roundRect">
            <a:avLst>
              <a:gd name="adj" fmla="val 228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9302" y="2258568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Node 함수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41014" y="2770632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작업을 함수로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4748" y="25740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874520"/>
            <a:ext cx="2416302" cy="1600200"/>
          </a:xfrm>
          <a:prstGeom prst="roundRect">
            <a:avLst>
              <a:gd name="adj" fmla="val 228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9652" y="2258568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Edge 연결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41364" y="2770632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시작·끝·순서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85098" y="25740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874520"/>
            <a:ext cx="2416302" cy="1600200"/>
          </a:xfrm>
          <a:prstGeom prst="roundRect">
            <a:avLst>
              <a:gd name="adj" fmla="val 2286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0002" y="2258568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컴파일 · 실행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770632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돌려보기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94760"/>
            <a:ext cx="10817352" cy="2194560"/>
          </a:xfrm>
          <a:prstGeom prst="roundRect">
            <a:avLst>
              <a:gd name="adj" fmla="val 1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0233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단계에서 하는 일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80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State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4480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키가 오갈지 미리 선언합니다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846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Node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846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받아 변경분을 돌려주는 함수를 만듭니다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212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Edge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5212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등록하고 순서대로 연결합니다. 시작점과 끝점을 꼭 지정합니다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577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실행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5577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컴파일한 뒤 초기 State를 넣으면 최종 State가 나옵니다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분기가 있는 그래프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"검색 결과가 좋으면 진행, 나쁘면 다시 검색" — 이렇게 만들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 →  검색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판단 함수가 State를 보고 경로를 고릅니다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5257800" cy="1554480"/>
          </a:xfrm>
          <a:prstGeom prst="roundRect">
            <a:avLst>
              <a:gd name="adj" fmla="val 235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8136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있다  →  "good"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79476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생성 노드로 진행합니다.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3063240"/>
            <a:ext cx="5257800" cy="1554480"/>
          </a:xfrm>
          <a:prstGeom prst="roundRect">
            <a:avLst>
              <a:gd name="adj" fmla="val 235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없다  →  "bad"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79476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검색 노드로 돌아갑니다. (루프)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함수는 보기만 하고, 움직이는 것은 LangGraph가 합니다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그림으로 볼 수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코드로는 안 보이는 것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14600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if문이 중첩된 함수를 읽으면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흐름을 머릿속으로 따라가야 합니다.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조건에서 어디로 가지?"를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짚어가며 확인해야 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그래프는 그려집니다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14600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그림이나 텍스트 도식으로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뽑아볼 수 있습니다.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연결이 빠진 노드가 있는지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확인됩니다.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읽는 것보다 그림 한 장이 빠릅니다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방식과 Graph 방식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190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RAG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71907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RAG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31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2311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(한 길)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231136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(여러 길)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처리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743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7432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55264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2552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3255264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767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처리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37673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376732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279392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279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42793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27939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7914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유연성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47914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791456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30352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303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재사용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5303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53035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쉬움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548640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48640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복잡도가 올라가는 대가로 유연성을 얻습니다 — 그래서 단순한 시스템에는 과할 수 있습니다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어떤 상황에서 필요한가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서비스 챗봇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87168"/>
            <a:ext cx="4453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"제품이 안 나와요!"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주문 상태 확인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배송 중이면 "곧 도착해요"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아니면 "반품 처리해드릴게요"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없으면 모든 상황을 하드코딩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있으면 조건만 추가하면 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문서 동시 검색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87168"/>
            <a:ext cx="4453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회사의 재정 상황은?"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여러 파일을 동시에 검색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결과 합치기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분석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없으면 하나씩만 가능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있으면 동시에 가능합니다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조건이 늘어날수록 그래프의 이점이 커집니다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566928" cy="56692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842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개수에 제한이 있나요?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468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제한은 없습니다. 다만 너무 많으면 복잡해지니 필요한 만큼만 만드세요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520440"/>
            <a:ext cx="566928" cy="56692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40156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Edge는 하나만 있나요?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8862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노드에서 여러 Edge가 나갈 수 있습니다. 그래서 그래프가 유연한 것입니다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937760"/>
            <a:ext cx="566928" cy="566928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81888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State가 너무 복잡하면요?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3035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간단하게 시작하세요. 필요한 필드만 추가하다 보면 자연스럽게 완성됩니다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Graph가 무엇인지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Node와 Edge의 차이를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State가 뭐 하는 건지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조건부 분기를 이해한다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1부 RAG의 한계 다섯 가지를 말할 수 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State를 정의해봤다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Node 함수를 만들어봤다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Graph를 구성해봤다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실제로 실행해봤다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그래프를 시각화해봤다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조건부 분기가 있는 그래프를 만들어봤다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18차시 State 이해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기초를 바탕으로 State를 깊이 들여다봅니다.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State의 흐름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사이를 어떻게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설계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키가 필요한가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반환 규칙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값만 돌려주기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덮어쓰지 않고 쌓기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설계가 곧 그래프 설계입니다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흔들리면 노드도 Edge도 전부 흔들립니다.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State를 먼저, 제대로 설계하고 시작합니다.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길로만 가던 RAG에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갈림길을 놓습니다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Graph는 새로운 마법이 아닙니다. 점과 선으로 흐름을 그리는 방식일 뿐입니다.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지도도, 친구 관계도, 우리가 만들 RAG도 전부 같은 구조입니다.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Node는 무엇을 할지, Edge는 어디로 갈지, State는 무엇을 주고받을지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가지가 2부 전체의 뼈대입니다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Office PowerPoint</Application>
  <PresentationFormat>사용자 지정</PresentationFormat>
  <Paragraphs>287</Paragraphs>
  <Slides>16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17차시 LangGraph 입문</dc:title>
  <dc:subject>PptxGenJS Presentation</dc:subject>
  <dc:creator>이창현</dc:creator>
  <cp:lastModifiedBy>Lenovo</cp:lastModifiedBy>
  <cp:revision>1</cp:revision>
  <dcterms:created xsi:type="dcterms:W3CDTF">2026-09-15T06:08:08Z</dcterms:created>
  <dcterms:modified xsi:type="dcterms:W3CDTF">2026-09-15T08:08:12Z</dcterms:modified>
</cp:coreProperties>
</file>