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차시입니다. 오늘은 코드를 짜지 않고 과정의 목표와 방향을 잡습니다. 40시간 뒤 무엇을 만들게 되는지 그려주세요.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개념 이해, 주황 카드는 과정 운영에 대한 내용입니다.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이론만 한다는 점을 미리 알려 수강생의 기대를 맞춰주세요.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단계를 분리해서 설명하세요. 이 구분이 앞으로 40시간의 뼈대가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생겼을 때 어느 칸을 의심해야 하는지가 실무 역량입니다.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환각이 왜 위험한지 — 겉보기에 그럴듯하다는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만들 결과물을 구체적으로 보여주는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이름만 익혀두면 됩니다. 각 용어는 해당 부에서 자세히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1부의 첫 차시입니다. 각 부 끝에 완성물이 나온다는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결과물을 구체적으로 그려주면 동기부여가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비중이 높다는 점, 그래서 직접 타이핑해야 한다는 점을 연결해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①과 ②를 강조하세요. 복사-붙여넣기로는 남는 게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무엇을 하는지 명확히 알려주고, 개인 생각 정리 시간을 실제로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체크리스트를 함께 읽으며 오늘 배운 것을 정리하세요.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차시로 자연스럽게 연결하고, 3차시부터 실습이라는 점을 다시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환영 메시지로 마무리합니다. 낯설어도 계속 따라오면 된다는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이해와 RAG 개요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40시간의 출발점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왜, 어떤 순서로 배우는지 먼저 정리합니다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과정의 정체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배우고 무엇을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만들게 되는지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개념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증강형 생성이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설명할 수 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RAG가 필요한 이유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언어모델의 한계를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3가지로 말할 수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40시간의 전체 흐름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부와 마일스톤의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파악한다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LangGraph를 쓰는 이유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그래프 구조로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설계하는지 이해한다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방법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과정을 제대로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따라가는 요령을 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40시간 여정의 출발점입니다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81605"/>
            <a:ext cx="24163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79038"/>
            <a:ext cx="2416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43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6150" y="2781605"/>
            <a:ext cx="24163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86150" y="3279038"/>
            <a:ext cx="2416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6500" y="2781605"/>
            <a:ext cx="24163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86500" y="3279038"/>
            <a:ext cx="2416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850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6850" y="2781605"/>
            <a:ext cx="24163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86850" y="3279038"/>
            <a:ext cx="2416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· 프로젝트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코드를 한 줄도 짜지 않습니다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175504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차시는 방향을 잡는 시간입니다. 무엇을 만드는지 모른 채 코드를 따라 치면 금방 길을 잃습니다.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실습은 3차시부터 시작하고, 개발 환경은 4차시에서 함께 준비합니다.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RAG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= 검색 + 생성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Retrieval-Augmented Generation · 우리말로 "검색 증강형 생성"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2560320"/>
          </a:xfrm>
          <a:prstGeom prst="roundRect">
            <a:avLst>
              <a:gd name="adj" fmla="val 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19456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267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(Retrieval)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3017520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관련된 문서를 내 데이터베이스에서 찾습니다.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회사의 2024년 매출은?"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회사 문서에서 매출 정보를 꺼내옵니다.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257800" cy="2560320"/>
          </a:xfrm>
          <a:prstGeom prst="roundRect">
            <a:avLst>
              <a:gd name="adj" fmla="val 142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194560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2267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(Generation)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3017520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정보를 바탕으로 AI가 답변을 씁니다.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복사해 붙이는 것이 아니라,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이해하고 설명하는 형태로 만들어냅니다.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92608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문서에서 찾고, 그 근거로만 답한다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FLOWS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하나가 답변이 되기까지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15845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1327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2432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01168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415845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91327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 찾기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201168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2415845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91327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조각 모으기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01168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2415845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91327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답변 작성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4516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201168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2415845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91327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출처와 함께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4904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칸이 40시간 내내 반복해서 등장합니다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29768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5720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칸이 무너지느냐에 따라 증상이 달라집니다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010912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잘못되면 → 엉뚱한 문서를 근거로 답합니다.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생성이 잘못되면 → 근거는 맞는데 답이 이상합니다.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과정은 단계를 나눠서 배우고, 단계별로 고치는 법을 익힙니다.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언어모델만으로는 안 되는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517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정보 없음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2724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데이터는 특정 시점까지만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존재합니다. 오늘의 뉴스나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정보를 모릅니다.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기밀 정보 모름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12724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회사 문서, 매뉴얼, FAQ 같은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정보는 전혀 알 수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거짓 답변 (환각)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12724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것을 마치 아는 것처럼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지어냅니다. 겉보기엔 그럴듯해서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위험합니다.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모두, 내 문서를 먼저 찾아서 보여주면 크게 줄어듭니다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제품 A의 반환 정책은?"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없이 물어보면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83464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일반적인 반환 정책만 알고 있습니다.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회사의 특별한 규정은 모릅니다.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그런데도 "보통 7일 이내입니다" 같이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있게 답합니다. 이것이 환각입니다.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RAG로 물어보면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83464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회사 문서에서 '제품 A 반환 정책'을 검색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찾은 정책 문서를 AI에게 근거로 제시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AI가 그 정책만 바탕으로 답변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출처까지 함께 보여줄 수 있습니다.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과정에서 만들 것이 바로 오른쪽 시스템입니다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6916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검색과 AI 답변을 결합하는 기술. 내 문서를 근거로 답하게 만듭니다.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70632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7706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77063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워크플로를 그래프 구조로 설계하는 프레임워크. 복잡한 흐름을 단순하게 만듭니다.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49624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84962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849624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검색·생성·검증 등으로 나누어 설계하는 방식. 각 부분을 따로 개선할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928616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92861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· Node · Edge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928616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그래프의 3가지 기본 요소. 데이터가 어디를 거쳐 어떻게 흐르는지 표현합니다.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40시간 강의 전체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6459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645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1645920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591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 RAG 기초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3591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1-15차시 (9시간)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3591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검색 기초 · AI 답변 생성 · 성능 개선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359152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1 : 기본 RAG 앱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723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 LangGraph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072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16-22차시 (7시간)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0723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구조 · 상태 관리 · 흐름 제어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072384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2 : RAG 그래프화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785616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7856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 Modular RAG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785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23-33차시 (11시간)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7856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분리 · 조건부 분기 · 예외 처리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785616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4 : 고도화된 RAG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498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  평가 · 프로젝트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498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34-40차시 (6시간)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44988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평가 · 미니프로젝트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4498848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5 : 포트폴리오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21208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1부만 15차시 — 기초를 단단히 다진 다음 그래프로 넘어갑니다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2-3주마다 하나씩 완성됩니다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85623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0063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6880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RAG 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2432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920240"/>
            <a:ext cx="185623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30063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76880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그래프화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920240"/>
            <a:ext cx="185623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230063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76880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분리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920240"/>
            <a:ext cx="185623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230063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76880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고도화된 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4516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920240"/>
            <a:ext cx="1856232" cy="1463040"/>
          </a:xfrm>
          <a:prstGeom prst="roundRect">
            <a:avLst>
              <a:gd name="adj" fmla="val 25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230063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76880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5661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완성물이 쌓이는 구조라, 중간에 멈춰도 손에 남는 것이 있습니다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10817352" cy="1828800"/>
          </a:xfrm>
          <a:prstGeom prst="roundRect">
            <a:avLst>
              <a:gd name="adj" fmla="val 2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4348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5 — 40시간 뒤 여러분의 결과물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89204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문서를 읽어 질문에 답하고, 출처를 함께 보여주고, 답이 부실하면 스스로 다시 검색하는 시스템.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면접에서 화면을 띄워놓고 설명할 수 있는 수준을 목표로 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THIS COURSE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과정의 5가지 특징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60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735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30 · 실습 70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88620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바로 코드를 짜봅니다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2560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5개의 마일스톤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36392" y="32735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2-3주마다 완성물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88620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성취감이 계속 이어집니다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2560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입문자 친화적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2735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기초면 충분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388620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1을 만드는 경험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92024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560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 난이도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32735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 것부터 차근차근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388620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포기할 일이 적습니다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6404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192024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38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560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완성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32735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면접에서 쓸 결과물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20072" y="388620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40시간의 증거가 남습니다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만든 것만 남습니다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LEARN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공부하세요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01952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01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복사하지 말고 직접 타이핑하세요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91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손가락이 기억합니다.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257800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01952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01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에러가 나면 먼저 스스로 디버깅해보세요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23591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찾아낸 원인은 오래 남습니다.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5257800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42900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29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내용을 다른 사람에게 설명해보세요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86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설명해보면 자신의 이해도가 드러납니다.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3154680"/>
            <a:ext cx="5257800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2900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429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차시 후 GitHub에 코드를 올리세요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251192" y="3886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포트폴리오가 저절로 쌓입니다.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강의를 듣는 시간보다, 손으로 고쳐본 시간이 실력이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ACTIVITY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차시의 학습 활동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차시는 이론만 다룹니다. 지금은 과정의 목표와 방향을 분명히 잡는 것이 중요합니다.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14884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청취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420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RAG의 개념과 필요성 이해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40시간 강의 로드맵 파악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본 과정의 특징 학습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14884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생각 정리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5420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 과정에서 배우고 싶은 것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원하는 최종 프로젝트 주제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나만의 학습 목표 설정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14884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환경 준비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5420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4차시에서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Python 설치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VSCode 설정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GitHub 계정 생성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실습은 3차시부터, 환경 설정은 4차시에서 함께 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RAG가 무엇인지 설명할 수 있다</a:t>
            </a:r>
            <a:endParaRPr lang="en-US" sz="135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일반 AI와 RAG의 차이를 3가지 말할 수 있다</a:t>
            </a:r>
            <a:endParaRPr lang="en-US" sz="135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검색과 생성 두 단계를 구분할 수 있다</a:t>
            </a:r>
            <a:endParaRPr lang="en-US" sz="135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환각이 왜 생기는지 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파악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40시간이 4부로 나뉜 것을 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각 부의 목표를 말할 수 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5개 마일스톤이 무엇인지 이해했다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원하는 최종 프로젝트 주제를 1-2개 생각했다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다음 차시부터 실습이 시작됨을 안다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2차시 생성형 AI와 RAG의 관계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ChatGPT는 무엇이고 RAG와는 어떤 관계인지, 그리고 RAG의 전체 흐름을 정리합니다.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15845"/>
            <a:ext cx="3349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입력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13278"/>
            <a:ext cx="334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자료 준비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9600" y="2415845"/>
            <a:ext cx="3349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19600" y="2913278"/>
            <a:ext cx="334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내용 찾기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3400" y="2415845"/>
            <a:ext cx="3349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3400" y="2913278"/>
            <a:ext cx="3349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만들기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88136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AI와 RAG의 관계를 정리하고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흐름을 머릿속에 그립니다.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7688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3차시부터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Python과 LangChain으로 직접 코드를 짭니다.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작동하는 RAG를 만들어봅니다.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40시간 뒤,</a:t>
            </a:r>
            <a:endParaRPr lang="en-US" sz="4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줄 아는 사람이 됩니다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과정은 입문자를 위해 만들어졌습니다. 처음에는 낯선 단어가 많을 수 있습니다.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차시마다 하나씩 쌓아 올리면, 끝에는 직접 만든 AI 시스템이 손에 남습니다.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방향을 잡았습니다. 다음은 손으로 만들 차례입니다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755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여정을 함께 시작합시다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사용자 지정</PresentationFormat>
  <Paragraphs>289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01차시 과정 이해와 RAG 개요</dc:title>
  <dc:subject>PptxGenJS Presentation</dc:subject>
  <dc:creator>이창현</dc:creator>
  <cp:lastModifiedBy>lch</cp:lastModifiedBy>
  <cp:revision>1</cp:revision>
  <dcterms:created xsi:type="dcterms:W3CDTF">2026-09-14T08:22:41Z</dcterms:created>
  <dcterms:modified xsi:type="dcterms:W3CDTF">2026-09-14T09:01:12Z</dcterms:modified>
</cp:coreProperties>
</file>