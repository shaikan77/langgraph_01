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5611"/>
    <p:restoredTop sz="94610"/>
  </p:normalViewPr>
  <p:slideViewPr>
    <p:cSldViewPr snapToGrid="0" snapToObjects="1">
      <p:cViewPr varScale="1">
        <p:scale>
          <a:sx n="64" d="100"/>
          <a:sy n="64" d="100"/>
        </p:scale>
        <p:origin x="-86" y="-451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1부의 마지막 차시입니다. 새 내용 대신 정리와 점검을 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오늘의 목적은 새로 배우는 것이 아니라 확인입니다.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조립할 재료가 확실해야 한다는 점을 강조하세요.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한 장으로 1부 전체를 조망하는 슬라이드입니다.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세 덩어리로 묶으면 기억하기 쉬워집니다.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오른쪽 차시 번호가 복습 안내입니다.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설명이 막히는 지점이 곧 모르는 지점입니다. 3단계를 꼭 시키세요.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막힌 지점 목록이 곧 복습 계획입니다.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혼자 답해보고 막히면 해당 차시로 돌아가게 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파일로 저장하고 커밋해두라고 당부하세요.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2부의 핵심 메시지입니다. 1부가 튼튼하면 2부는 어렵지 않습니다.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2부 6개 차시의 목적지를 미리 보여줍니다.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자산 항목이 체크 안 되면 3부에서 곤란해집니다.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요약 노트는 권장이지만 실제로 만들면 큰 도움이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1부 코드를 보관해두라고 꼭 말해주세요.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1부 완주를 축하하고 잠시 쉬어가게 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4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32520" y="1417320"/>
            <a:ext cx="2148840" cy="2834640"/>
          </a:xfrm>
          <a:prstGeom prst="roundRect">
            <a:avLst>
              <a:gd name="adj" fmla="val 1702"/>
            </a:avLst>
          </a:prstGeom>
          <a:solidFill>
            <a:srgbClr val="24365C"/>
          </a:solidFill>
          <a:ln w="12700">
            <a:solidFill>
              <a:srgbClr val="2436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052560" y="1737360"/>
            <a:ext cx="2148840" cy="2834640"/>
          </a:xfrm>
          <a:prstGeom prst="roundRect">
            <a:avLst>
              <a:gd name="adj" fmla="val 1702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372600" y="2057400"/>
            <a:ext cx="2148840" cy="2834640"/>
          </a:xfrm>
          <a:prstGeom prst="roundRect">
            <a:avLst>
              <a:gd name="adj" fmla="val 1702"/>
            </a:avLst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92640" y="2514600"/>
            <a:ext cx="1508760" cy="1005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92640" y="2898648"/>
            <a:ext cx="1508760" cy="1005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92640" y="3282696"/>
            <a:ext cx="1508760" cy="1005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692640" y="3666744"/>
            <a:ext cx="1005840" cy="1005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150876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B7F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실습으로 배우는 LangGraph : 내 손으로 RAG 시스템 만들기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1938528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 16 차시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2432304"/>
            <a:ext cx="7955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1부 종합정리</a:t>
            </a:r>
            <a:endParaRPr lang="en-US" sz="54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3310128"/>
            <a:ext cx="7955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5B7F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여기까지 확실히 다지고</a:t>
            </a:r>
            <a:endParaRPr lang="en-US" sz="340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4160520"/>
            <a:ext cx="7680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FB2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2부로 넘어가기 전 마지막 점검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576072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E92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40차시 학습 교재   |   강사 이창현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LEARNING GOALS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이번 차시에서 배우는 것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627632"/>
            <a:ext cx="3401568" cy="2084832"/>
          </a:xfrm>
          <a:prstGeom prst="roundRect">
            <a:avLst>
              <a:gd name="adj" fmla="val 1754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78408" y="1938528"/>
            <a:ext cx="493776" cy="493776"/>
          </a:xfrm>
          <a:prstGeom prst="ellipse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78408" y="193852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978408" y="2615184"/>
            <a:ext cx="2852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개념 총정리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978408" y="2999232"/>
            <a:ext cx="2852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1~15차시를 하나로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꿰어 정리한다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43400" y="1627632"/>
            <a:ext cx="3401568" cy="2084832"/>
          </a:xfrm>
          <a:prstGeom prst="roundRect">
            <a:avLst>
              <a:gd name="adj" fmla="val 1754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36008" y="1938528"/>
            <a:ext cx="493776" cy="493776"/>
          </a:xfrm>
          <a:prstGeom prst="ellipse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36008" y="193852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636008" y="2615184"/>
            <a:ext cx="2852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백지 재구성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636008" y="2999232"/>
            <a:ext cx="2852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자료 없이 파이프라인을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직접 그려본다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01000" y="1627632"/>
            <a:ext cx="3401568" cy="2084832"/>
          </a:xfrm>
          <a:prstGeom prst="roundRect">
            <a:avLst>
              <a:gd name="adj" fmla="val 1754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93608" y="1938528"/>
            <a:ext cx="493776" cy="493776"/>
          </a:xfrm>
          <a:prstGeom prst="ellipse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93608" y="193852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293608" y="2615184"/>
            <a:ext cx="2852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미니과제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293608" y="2999232"/>
            <a:ext cx="2852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 문서로 30분 안에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RAG를 만든다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85800" y="4041648"/>
            <a:ext cx="3401568" cy="2084832"/>
          </a:xfrm>
          <a:prstGeom prst="roundRect">
            <a:avLst>
              <a:gd name="adj" fmla="val 1754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78408" y="4352544"/>
            <a:ext cx="493776" cy="493776"/>
          </a:xfrm>
          <a:prstGeom prst="ellipse">
            <a:avLst/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78408" y="435254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978408" y="5029200"/>
            <a:ext cx="2852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약점 찾기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978408" y="5413248"/>
            <a:ext cx="2852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내가 어디서 막히는지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스스로 확인한다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343400" y="4041648"/>
            <a:ext cx="3401568" cy="2084832"/>
          </a:xfrm>
          <a:prstGeom prst="roundRect">
            <a:avLst>
              <a:gd name="adj" fmla="val 1754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36008" y="4352544"/>
            <a:ext cx="493776" cy="493776"/>
          </a:xfrm>
          <a:prstGeom prst="ellipse">
            <a:avLst/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636008" y="435254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4636008" y="5029200"/>
            <a:ext cx="2852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자산 점검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4636008" y="5413248"/>
            <a:ext cx="2852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앞으로 쓸 결과물이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잘 보관됐는지 본다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001000" y="4041648"/>
            <a:ext cx="3401568" cy="2084832"/>
          </a:xfrm>
          <a:prstGeom prst="roundRect">
            <a:avLst>
              <a:gd name="adj" fmla="val 1754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293608" y="4352544"/>
            <a:ext cx="493776" cy="493776"/>
          </a:xfrm>
          <a:prstGeom prst="ellipse">
            <a:avLst/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293608" y="435254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8293608" y="5029200"/>
            <a:ext cx="2852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2부 준비 진단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8293608" y="5413248"/>
            <a:ext cx="2852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넘어가도 될지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자가진단한다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WHY PAUSE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여기서 한 번 멈출까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719072"/>
            <a:ext cx="5257800" cy="2834640"/>
          </a:xfrm>
          <a:prstGeom prst="roundRect">
            <a:avLst>
              <a:gd name="adj" fmla="val 1290"/>
            </a:avLst>
          </a:prstGeom>
          <a:solidFill>
            <a:srgbClr val="F6E2DE"/>
          </a:solidFill>
          <a:ln w="12700">
            <a:solidFill>
              <a:srgbClr val="F6E2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69848" y="1993392"/>
            <a:ext cx="493776" cy="493776"/>
          </a:xfrm>
          <a:prstGeom prst="ellipse">
            <a:avLst/>
          </a:prstGeom>
          <a:solidFill>
            <a:srgbClr val="B3402F"/>
          </a:solidFill>
          <a:ln w="12700">
            <a:solidFill>
              <a:srgbClr val="B3402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69848" y="199339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728216" y="1993392"/>
            <a:ext cx="4023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흐릿한 상태로 2부에 가면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088136" y="2606040"/>
            <a:ext cx="445312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두 가지 새 개념이 동시에 겹칩니다</a:t>
            </a:r>
            <a:endParaRPr lang="en-US" sz="125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무엇을 그래프로 바꾸는지 감이 없습니다</a:t>
            </a:r>
            <a:endParaRPr lang="en-US" sz="125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RAG 문제인지 그래프 문제인지 모릅니다</a:t>
            </a:r>
            <a:endParaRPr lang="en-US" sz="125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2부 중반부터 급격히 어려워집니다</a:t>
            </a:r>
            <a:endParaRPr lang="en-US" sz="1250" dirty="0"/>
          </a:p>
          <a:p>
            <a:pPr marL="0" indent="0">
              <a:lnSpc>
                <a:spcPts val="2400"/>
              </a:lnSpc>
              <a:buNone/>
            </a:pPr>
            <a:endParaRPr lang="en-US" sz="125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결국 되돌아와서 1부를 복습하게 됩니다.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45352" y="1719072"/>
            <a:ext cx="5257800" cy="2834640"/>
          </a:xfrm>
          <a:prstGeom prst="roundRect">
            <a:avLst>
              <a:gd name="adj" fmla="val 1290"/>
            </a:avLst>
          </a:prstGeom>
          <a:solidFill>
            <a:srgbClr val="E8F3EE"/>
          </a:solidFill>
          <a:ln w="12700">
            <a:solidFill>
              <a:srgbClr val="E8F3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629400" y="1993392"/>
            <a:ext cx="493776" cy="493776"/>
          </a:xfrm>
          <a:prstGeom prst="ellipse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629400" y="199339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287768" y="1993392"/>
            <a:ext cx="4023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여기서 다지면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647688" y="2606040"/>
            <a:ext cx="445312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250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"지금 만든 ask()를 검색과 생성으로</a:t>
            </a:r>
            <a:endParaRPr lang="en-US" sz="125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250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나누는 거구나"</a:t>
            </a:r>
            <a:endParaRPr lang="en-US" sz="1250" dirty="0"/>
          </a:p>
          <a:p>
            <a:pPr marL="0" indent="0">
              <a:lnSpc>
                <a:spcPts val="2400"/>
              </a:lnSpc>
              <a:buNone/>
            </a:pPr>
            <a:endParaRPr lang="en-US" sz="125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250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"State는 그냥 지금 반환하는 딕셔너리구나"</a:t>
            </a:r>
            <a:endParaRPr lang="en-US" sz="1250" dirty="0"/>
          </a:p>
          <a:p>
            <a:pPr marL="0" indent="0">
              <a:lnSpc>
                <a:spcPts val="2400"/>
              </a:lnSpc>
              <a:buNone/>
            </a:pPr>
            <a:endParaRPr lang="en-US" sz="125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250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"조건 분기는 if문을 그래프로 옮긴 거구나"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85800" y="4800600"/>
            <a:ext cx="10817352" cy="1097280"/>
          </a:xfrm>
          <a:prstGeom prst="roundRect">
            <a:avLst>
              <a:gd name="adj" fmla="val 3333"/>
            </a:avLst>
          </a:prstGeom>
          <a:solidFill>
            <a:srgbClr val="16243D"/>
          </a:solidFill>
          <a:ln w="12700">
            <a:solidFill>
              <a:srgbClr val="16243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5800" y="5074920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2부는 새 RAG를 배우는 게 아니라, 지금 RAG를 다르게 조립하는 법입니다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THE MAP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1부 전체 지도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371600"/>
            <a:ext cx="10817352" cy="320040"/>
          </a:xfrm>
          <a:prstGeom prst="roundRect">
            <a:avLst>
              <a:gd name="adj" fmla="val 11429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60" y="137160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1~3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2011680" y="13716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개념과 구조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343400" y="137160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RAG가 무엇이고 왜 필요한지, 5단계 구조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85800" y="1746504"/>
            <a:ext cx="10817352" cy="32004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51560" y="1746504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4~5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2011680" y="1746504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환경과 도구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343400" y="1746504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가상환경 · LangChain 기본기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85800" y="2121408"/>
            <a:ext cx="10817352" cy="320040"/>
          </a:xfrm>
          <a:prstGeom prst="roundRect">
            <a:avLst>
              <a:gd name="adj" fmla="val 11429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51560" y="2121408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2011680" y="212140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문서 로딩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343400" y="2121408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Document 객체, metadata, 로딩 검증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85800" y="2496312"/>
            <a:ext cx="10817352" cy="32004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51560" y="2496312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2011680" y="249631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텍스트 분할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343400" y="2496312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chunk_size, overlap, separators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85800" y="2871216"/>
            <a:ext cx="10817352" cy="320040"/>
          </a:xfrm>
          <a:prstGeom prst="roundRect">
            <a:avLst>
              <a:gd name="adj" fmla="val 11429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051560" y="2871216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2011680" y="2871216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첫 RAG 실습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4343400" y="2871216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동작하는 최소 RAG 시스템 — 마일스톤 1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85800" y="3246120"/>
            <a:ext cx="10817352" cy="32004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051560" y="324612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2011680" y="32461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임베딩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4343400" y="324612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의미 좌표, 코사인 유사도, 임계값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85800" y="3621024"/>
            <a:ext cx="10817352" cy="320040"/>
          </a:xfrm>
          <a:prstGeom prst="roundRect">
            <a:avLst>
              <a:gd name="adj" fmla="val 11429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051560" y="3621024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2011680" y="3621024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벡터저장소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4343400" y="3621024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인덱스 저장·로드, 점수 해석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85800" y="3995928"/>
            <a:ext cx="10817352" cy="32004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1051560" y="3995928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2011680" y="399592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Retriever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4343400" y="3995928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MMR, Top-K 튜닝, 필터, 문맥 조립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685800" y="4370832"/>
            <a:ext cx="10817352" cy="320040"/>
          </a:xfrm>
          <a:prstGeom prst="roundRect">
            <a:avLst>
              <a:gd name="adj" fmla="val 11429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1051560" y="4370832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en-US" sz="1150" dirty="0"/>
          </a:p>
        </p:txBody>
      </p:sp>
      <p:sp>
        <p:nvSpPr>
          <p:cNvPr id="38" name="Text 36"/>
          <p:cNvSpPr txBox="1"/>
          <p:nvPr/>
        </p:nvSpPr>
        <p:spPr>
          <a:xfrm>
            <a:off x="2011680" y="437083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품질 문제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4343400" y="4370832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4대 실패 유형, 진단법, 실패 사례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685800" y="4745736"/>
            <a:ext cx="10817352" cy="32004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1051560" y="4745736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</a:t>
            </a:r>
            <a:endParaRPr lang="en-US" sz="1150" dirty="0"/>
          </a:p>
        </p:txBody>
      </p:sp>
      <p:sp>
        <p:nvSpPr>
          <p:cNvPr id="42" name="Text 40"/>
          <p:cNvSpPr txBox="1"/>
          <p:nvPr/>
        </p:nvSpPr>
        <p:spPr>
          <a:xfrm>
            <a:off x="2011680" y="4745736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프롬프트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4343400" y="4745736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4단 구조, 근거 제약, 인용, 과잉거부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685800" y="5120640"/>
            <a:ext cx="10817352" cy="320040"/>
          </a:xfrm>
          <a:prstGeom prst="roundRect">
            <a:avLst>
              <a:gd name="adj" fmla="val 11429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1051560" y="512064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</a:t>
            </a:r>
            <a:endParaRPr lang="en-US" sz="1150" dirty="0"/>
          </a:p>
        </p:txBody>
      </p:sp>
      <p:sp>
        <p:nvSpPr>
          <p:cNvPr id="46" name="Text 44"/>
          <p:cNvSpPr txBox="1"/>
          <p:nvPr/>
        </p:nvSpPr>
        <p:spPr>
          <a:xfrm>
            <a:off x="2011680" y="51206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성능 비교</a:t>
            </a:r>
            <a:endParaRPr lang="en-US" sz="1200" dirty="0"/>
          </a:p>
        </p:txBody>
      </p:sp>
      <p:sp>
        <p:nvSpPr>
          <p:cNvPr id="47" name="Text 45"/>
          <p:cNvSpPr txBox="1"/>
          <p:nvPr/>
        </p:nvSpPr>
        <p:spPr>
          <a:xfrm>
            <a:off x="4343400" y="512064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실험 설계, 기준선, 최적 조합 도출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685800" y="5495544"/>
            <a:ext cx="10817352" cy="32004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1051560" y="5495544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</a:t>
            </a:r>
            <a:endParaRPr lang="en-US" sz="1150" dirty="0"/>
          </a:p>
        </p:txBody>
      </p:sp>
      <p:sp>
        <p:nvSpPr>
          <p:cNvPr id="50" name="Text 48"/>
          <p:cNvSpPr txBox="1"/>
          <p:nvPr/>
        </p:nvSpPr>
        <p:spPr>
          <a:xfrm>
            <a:off x="2011680" y="5495544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앱 만들기</a:t>
            </a:r>
            <a:endParaRPr lang="en-US" sz="1200" dirty="0"/>
          </a:p>
        </p:txBody>
      </p:sp>
      <p:sp>
        <p:nvSpPr>
          <p:cNvPr id="51" name="Text 49"/>
          <p:cNvSpPr txBox="1"/>
          <p:nvPr/>
        </p:nvSpPr>
        <p:spPr>
          <a:xfrm>
            <a:off x="4343400" y="5495544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모듈 분리, 예외 처리, 인터페이스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THREE PHASES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흐름을 세 덩어리로 보면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828800"/>
            <a:ext cx="3349752" cy="1600200"/>
          </a:xfrm>
          <a:prstGeom prst="roundRect">
            <a:avLst>
              <a:gd name="adj" fmla="val 2286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58952" y="2212848"/>
            <a:ext cx="32034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1~8차시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740664" y="2724912"/>
            <a:ext cx="3240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일단 만든다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17848" y="2528316"/>
            <a:ext cx="219456" cy="201168"/>
          </a:xfrm>
          <a:prstGeom prst="rightArrow">
            <a:avLst/>
          </a:prstGeom>
          <a:solidFill>
            <a:srgbClr val="C8CEDA"/>
          </a:solidFill>
          <a:ln w="12700">
            <a:solidFill>
              <a:srgbClr val="C8CED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419600" y="1828800"/>
            <a:ext cx="3349752" cy="1600200"/>
          </a:xfrm>
          <a:prstGeom prst="roundRect">
            <a:avLst>
              <a:gd name="adj" fmla="val 2286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492752" y="2212848"/>
            <a:ext cx="32034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9~14차시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4474464" y="2724912"/>
            <a:ext cx="3240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잘 만든다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851648" y="2528316"/>
            <a:ext cx="219456" cy="201168"/>
          </a:xfrm>
          <a:prstGeom prst="rightArrow">
            <a:avLst/>
          </a:prstGeom>
          <a:solidFill>
            <a:srgbClr val="C8CEDA"/>
          </a:solidFill>
          <a:ln w="12700">
            <a:solidFill>
              <a:srgbClr val="C8CED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53400" y="1828800"/>
            <a:ext cx="3349752" cy="1600200"/>
          </a:xfrm>
          <a:prstGeom prst="roundRect">
            <a:avLst>
              <a:gd name="adj" fmla="val 2286"/>
            </a:avLst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6552" y="2212848"/>
            <a:ext cx="32034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15~16차시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8208264" y="2724912"/>
            <a:ext cx="3240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쓸 수 있게 만든다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85800" y="3749040"/>
            <a:ext cx="3401568" cy="1737360"/>
          </a:xfrm>
          <a:prstGeom prst="roundRect">
            <a:avLst>
              <a:gd name="adj" fmla="val 2105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78408" y="3977640"/>
            <a:ext cx="2852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일단 만든다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978408" y="4389120"/>
            <a:ext cx="28529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1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개념 이해 → 환경 구축 → 첫 RAG 완성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978408" y="5029200"/>
            <a:ext cx="2852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동작하는 것을 손에 넣는 단계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343400" y="3749040"/>
            <a:ext cx="3401568" cy="1737360"/>
          </a:xfrm>
          <a:prstGeom prst="roundRect">
            <a:avLst>
              <a:gd name="adj" fmla="val 2105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636008" y="3977640"/>
            <a:ext cx="2852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잘 만든다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4636008" y="4389120"/>
            <a:ext cx="28529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1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 정교화 → 실패 진단 → 측정하며 개선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4636008" y="5029200"/>
            <a:ext cx="2852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품질을 숫자로 올리는 단계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8001000" y="3749040"/>
            <a:ext cx="3401568" cy="1737360"/>
          </a:xfrm>
          <a:prstGeom prst="roundRect">
            <a:avLst>
              <a:gd name="adj" fmla="val 2105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293608" y="3977640"/>
            <a:ext cx="2852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쓸 수 있게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8293608" y="4389120"/>
            <a:ext cx="28529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1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구조 정리 → 예외 처리 → 종합 점검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8293608" y="5029200"/>
            <a:ext cx="2852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남에게 건넬 수 있게 하는 단계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THE ESSENTIAL FIVE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반드시 챙겨갈 다섯 가지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600200"/>
            <a:ext cx="10817352" cy="749808"/>
          </a:xfrm>
          <a:prstGeom prst="roundRect">
            <a:avLst>
              <a:gd name="adj" fmla="val 4878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51560" y="1728216"/>
            <a:ext cx="493776" cy="493776"/>
          </a:xfrm>
          <a:prstGeom prst="ellipse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51560" y="172821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737360" y="1655064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RAG 5단계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737360" y="2002536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수집 → 분할 → 임베딩 → 검색 → 생성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6126480" y="180136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앞 3개는 한 번, 뒤 2개는 매번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10058400" y="1801368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3·8차시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85800" y="2468880"/>
            <a:ext cx="10817352" cy="749808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51560" y="2596896"/>
            <a:ext cx="493776" cy="493776"/>
          </a:xfrm>
          <a:prstGeom prst="ellipse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51560" y="259689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737360" y="2523744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파라미터 3개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737360" y="2871216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chunk_size · overlap · Top-K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6126480" y="267004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셋이 품질의 대부분을 결정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10058400" y="2670048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7·11·14차시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85800" y="3337560"/>
            <a:ext cx="10817352" cy="749808"/>
          </a:xfrm>
          <a:prstGeom prst="roundRect">
            <a:avLst>
              <a:gd name="adj" fmla="val 4878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51560" y="3465576"/>
            <a:ext cx="493776" cy="493776"/>
          </a:xfrm>
          <a:prstGeom prst="ellipse">
            <a:avLst/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51560" y="346557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737360" y="3392424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진단의 기준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737360" y="3739896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"검색된 조각 안에 정답이 있는가?"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6126480" y="353872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있는데 틀렸다=생성 / 없다=검색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10058400" y="3538728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12차시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85800" y="4206240"/>
            <a:ext cx="10817352" cy="749808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51560" y="4334256"/>
            <a:ext cx="493776" cy="493776"/>
          </a:xfrm>
          <a:prstGeom prst="ellipse">
            <a:avLst/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051560" y="433425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1737360" y="4261104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프롬프트 필수 규칙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1737360" y="4608576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자료만 · 없으면 없다고 · 번호 표기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6126480" y="440740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단, 과하면 과잉 거부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10058400" y="4407408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13차시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85800" y="5074920"/>
            <a:ext cx="10817352" cy="749808"/>
          </a:xfrm>
          <a:prstGeom prst="roundRect">
            <a:avLst>
              <a:gd name="adj" fmla="val 4878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51560" y="5202936"/>
            <a:ext cx="493776" cy="493776"/>
          </a:xfrm>
          <a:prstGeom prst="ellipse">
            <a:avLst/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1051560" y="520293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⑤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1737360" y="5129784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측정하며 개선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1737360" y="5477256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기준선을 잡고 · 하나씩 바꾸고 · 기록</a:t>
            </a:r>
            <a:endParaRPr lang="en-US" sz="1150" dirty="0"/>
          </a:p>
        </p:txBody>
      </p:sp>
      <p:sp>
        <p:nvSpPr>
          <p:cNvPr id="37" name="Text 35"/>
          <p:cNvSpPr txBox="1"/>
          <p:nvPr/>
        </p:nvSpPr>
        <p:spPr>
          <a:xfrm>
            <a:off x="6126480" y="527608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"좋아진 것 같아요"는 근거가 아님</a:t>
            </a:r>
            <a:endParaRPr lang="en-US" sz="1150" dirty="0"/>
          </a:p>
        </p:txBody>
      </p:sp>
      <p:sp>
        <p:nvSpPr>
          <p:cNvPr id="38" name="Text 36"/>
          <p:cNvSpPr txBox="1"/>
          <p:nvPr/>
        </p:nvSpPr>
        <p:spPr>
          <a:xfrm>
            <a:off x="10058400" y="5276088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14차시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685800" y="5943600"/>
            <a:ext cx="10817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다섯 개가 흐릿하다면 잠시 멈추고 해당 차시를 복습하세요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BLANK PAGE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가장 확실한 복습법 — 자료를 덮고 그려보기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783080"/>
            <a:ext cx="3349752" cy="1508760"/>
          </a:xfrm>
          <a:prstGeom prst="roundRect">
            <a:avLst>
              <a:gd name="adj" fmla="val 2424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58952" y="2145182"/>
            <a:ext cx="32034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1단계  파이프라인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40664" y="2627986"/>
            <a:ext cx="3240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5분 · 그림으로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117848" y="2436876"/>
            <a:ext cx="219456" cy="201168"/>
          </a:xfrm>
          <a:prstGeom prst="rightArrow">
            <a:avLst/>
          </a:prstGeom>
          <a:solidFill>
            <a:srgbClr val="C8CEDA"/>
          </a:solidFill>
          <a:ln w="12700">
            <a:solidFill>
              <a:srgbClr val="C8CED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419600" y="1783080"/>
            <a:ext cx="3349752" cy="1508760"/>
          </a:xfrm>
          <a:prstGeom prst="roundRect">
            <a:avLst>
              <a:gd name="adj" fmla="val 2424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492752" y="2145182"/>
            <a:ext cx="32034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2단계  코드 뼈대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474464" y="2627986"/>
            <a:ext cx="3240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10분 · 주석만 보고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851648" y="2436876"/>
            <a:ext cx="219456" cy="201168"/>
          </a:xfrm>
          <a:prstGeom prst="rightArrow">
            <a:avLst/>
          </a:prstGeom>
          <a:solidFill>
            <a:srgbClr val="C8CEDA"/>
          </a:solidFill>
          <a:ln w="12700">
            <a:solidFill>
              <a:srgbClr val="C8CED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53400" y="1783080"/>
            <a:ext cx="3349752" cy="1508760"/>
          </a:xfrm>
          <a:prstGeom prst="roundRect">
            <a:avLst>
              <a:gd name="adj" fmla="val 2424"/>
            </a:avLst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6552" y="2145182"/>
            <a:ext cx="32034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3단계  구술 설명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8208264" y="2627986"/>
            <a:ext cx="3240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3분 · 소리 내어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85800" y="3520440"/>
            <a:ext cx="5257800" cy="2011680"/>
          </a:xfrm>
          <a:prstGeom prst="roundRect">
            <a:avLst>
              <a:gd name="adj" fmla="val 1818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88136" y="3749040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그림에 포함해야 할 것</a:t>
            </a:r>
            <a:endParaRPr lang="en-US" sz="1550" dirty="0"/>
          </a:p>
        </p:txBody>
      </p:sp>
      <p:sp>
        <p:nvSpPr>
          <p:cNvPr id="17" name="Text 15"/>
          <p:cNvSpPr txBox="1"/>
          <p:nvPr/>
        </p:nvSpPr>
        <p:spPr>
          <a:xfrm>
            <a:off x="1088136" y="4224528"/>
            <a:ext cx="44531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5단계의 이름과 순서</a:t>
            </a:r>
            <a:endParaRPr lang="en-US" sz="125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어디까지 준비 단계이고 어디부터 질의 단계인지</a:t>
            </a:r>
            <a:endParaRPr lang="en-US" sz="125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각 단계의 입력과 출력</a:t>
            </a:r>
            <a:endParaRPr lang="en-US" sz="125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각 단계의 주요 파라미터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245352" y="3520440"/>
            <a:ext cx="5257800" cy="2011680"/>
          </a:xfrm>
          <a:prstGeom prst="roundRect">
            <a:avLst>
              <a:gd name="adj" fmla="val 1818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647688" y="3749040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채점 기준</a:t>
            </a:r>
            <a:endParaRPr lang="en-US" sz="1550" dirty="0"/>
          </a:p>
        </p:txBody>
      </p:sp>
      <p:sp>
        <p:nvSpPr>
          <p:cNvPr id="20" name="Text 18"/>
          <p:cNvSpPr txBox="1"/>
          <p:nvPr/>
        </p:nvSpPr>
        <p:spPr>
          <a:xfrm>
            <a:off x="6647688" y="4224528"/>
            <a:ext cx="44531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3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함수 이름이 정확할 필요는 없습니다.</a:t>
            </a:r>
            <a:endParaRPr lang="en-US" sz="1250" dirty="0"/>
          </a:p>
          <a:p>
            <a:pPr marL="0" indent="0">
              <a:lnSpc>
                <a:spcPts val="23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순서로 무엇을 넣고 무엇이 나오는지가 중요합니다.</a:t>
            </a:r>
            <a:endParaRPr lang="en-US" sz="1250" dirty="0"/>
          </a:p>
          <a:p>
            <a:pPr marL="0" indent="0">
              <a:lnSpc>
                <a:spcPts val="2300"/>
              </a:lnSpc>
              <a:buNone/>
            </a:pPr>
            <a:endParaRPr lang="en-US" sz="1250" dirty="0"/>
          </a:p>
          <a:p>
            <a:pPr marL="0" indent="0">
              <a:lnSpc>
                <a:spcPts val="23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70% 이상 재현되면 2부로 넘어갈 준비 완료.</a:t>
            </a:r>
            <a:endParaRPr lang="en-US" sz="1250" dirty="0"/>
          </a:p>
          <a:p>
            <a:pPr marL="0" indent="0">
              <a:lnSpc>
                <a:spcPts val="23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50% 미만이면 8·15차시를 다시 보세요.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MINI PROJECT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1부의 최종 시험 — 새 문서로 30분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691640"/>
            <a:ext cx="5257800" cy="2926080"/>
          </a:xfrm>
          <a:prstGeom prst="roundRect">
            <a:avLst>
              <a:gd name="adj" fmla="val 1250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88136" y="1920240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필수 요건 6가지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1088136" y="2423160"/>
            <a:ext cx="445312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인덱스를 저장하고 두 번째부터 불러올 것</a:t>
            </a:r>
            <a:endParaRPr lang="en-US" sz="12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chunk_size · Top-K를 설정에서 조정할 것</a:t>
            </a:r>
            <a:endParaRPr lang="en-US" sz="12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답변에 출처를 함께 표시할 것</a:t>
            </a:r>
            <a:endParaRPr lang="en-US" sz="12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없는 질문에는 "확인할 수 없습니다"</a:t>
            </a:r>
            <a:endParaRPr lang="en-US" sz="12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검색 0건에도 앱이 종료되지 않을 것</a:t>
            </a:r>
            <a:endParaRPr lang="en-US" sz="12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반복 질문이 가능할 것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45352" y="1691640"/>
            <a:ext cx="5257800" cy="2926080"/>
          </a:xfrm>
          <a:prstGeom prst="roundRect">
            <a:avLst>
              <a:gd name="adj" fmla="val 1250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647688" y="1920240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시간 배분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6702552" y="245059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0~5분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8001000" y="245059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문서 준비 · 로딩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10195560" y="245059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6차시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702552" y="2779776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5~10분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8001000" y="2779776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분할 설정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10195560" y="2779776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7차시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702552" y="310896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10~15분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8001000" y="310896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인덱싱 · 저장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10195560" y="310896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10차시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6702552" y="3438144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15~20분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8001000" y="3438144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 · 임계값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10195560" y="343814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11차시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6702552" y="3767328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20~25분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8001000" y="3767328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프롬프트 · 답변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10195560" y="376732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13차시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6702552" y="409651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25~30분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8001000" y="409651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테스트 10개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10195560" y="409651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12차시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85800" y="4800600"/>
            <a:ext cx="10817352" cy="1097280"/>
          </a:xfrm>
          <a:prstGeom prst="roundRect">
            <a:avLst>
              <a:gd name="adj" fmla="val 3333"/>
            </a:avLst>
          </a:prstGeom>
          <a:solidFill>
            <a:srgbClr val="16243D"/>
          </a:solidFill>
          <a:ln w="12700">
            <a:solidFill>
              <a:srgbClr val="16243D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85800" y="5074920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완성하는 것이 아니라 어디서 막히는지 아는 것이 목적입니다</a:t>
            </a:r>
            <a:endParaRPr lang="en-US" sz="1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SELF-CHECK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2부로 넘어가도 될까 — 7가지 질문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691640"/>
            <a:ext cx="10817352" cy="512064"/>
          </a:xfrm>
          <a:prstGeom prst="roundRect">
            <a:avLst>
              <a:gd name="adj" fmla="val 7143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60" y="1691640"/>
            <a:ext cx="731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874520" y="1691640"/>
            <a:ext cx="7680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RAG 5단계를 순서대로 말하고 각 단계의 입출력을 설명하세요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9646920" y="1691640"/>
            <a:ext cx="1371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막히면 3차시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85800" y="2295144"/>
            <a:ext cx="10817352" cy="512064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51560" y="2295144"/>
            <a:ext cx="731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Q2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874520" y="2295144"/>
            <a:ext cx="7680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문서를 잘라야 하나요? 두 가지 이유를 대세요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9646920" y="2295144"/>
            <a:ext cx="1371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막히면 7차시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85800" y="2898648"/>
            <a:ext cx="10817352" cy="512064"/>
          </a:xfrm>
          <a:prstGeom prst="roundRect">
            <a:avLst>
              <a:gd name="adj" fmla="val 7143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51560" y="2898648"/>
            <a:ext cx="731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Q3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874520" y="2898648"/>
            <a:ext cx="7680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"환불"로 검색했는데 "반품" 문단이 나왔습니다. 왜죠?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9646920" y="2898648"/>
            <a:ext cx="1371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막히면 9차시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85800" y="3502152"/>
            <a:ext cx="10817352" cy="512064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51560" y="3502152"/>
            <a:ext cx="731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Q4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874520" y="3502152"/>
            <a:ext cx="7680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Top-K를 10으로 올렸더니 답이 나빠졌습니다. 왜죠?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9646920" y="3502152"/>
            <a:ext cx="1371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막히면 11차시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85800" y="4105656"/>
            <a:ext cx="10817352" cy="512064"/>
          </a:xfrm>
          <a:prstGeom prst="roundRect">
            <a:avLst>
              <a:gd name="adj" fmla="val 7143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051560" y="4105656"/>
            <a:ext cx="731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Q5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874520" y="4105656"/>
            <a:ext cx="7680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답변이 이상할 때 가장 먼저 무엇을 확인하나요?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9646920" y="4105656"/>
            <a:ext cx="1371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막히면 12차시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85800" y="4709160"/>
            <a:ext cx="10817352" cy="512064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051560" y="4709160"/>
            <a:ext cx="731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Q6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874520" y="4709160"/>
            <a:ext cx="7680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프롬프트 규칙을 너무 강하게 걸면 무슨 일이 생기나요?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9646920" y="4709160"/>
            <a:ext cx="1371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막히면 13차시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85800" y="5312664"/>
            <a:ext cx="10817352" cy="512064"/>
          </a:xfrm>
          <a:prstGeom prst="roundRect">
            <a:avLst>
              <a:gd name="adj" fmla="val 7143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051560" y="5312664"/>
            <a:ext cx="731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Q7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1874520" y="5312664"/>
            <a:ext cx="7680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"성능이 좋아졌어요"를 증명하려면 무엇이 필요한가요?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9646920" y="5312664"/>
            <a:ext cx="1371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막히면 14차시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685800" y="5897880"/>
            <a:ext cx="10817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자신 있게 답할 수 있는지 소리 내어 확인해보세요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YOUR ASSETS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1부에서 남긴 자산 — 2·3부에서 계속 씁니다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719072"/>
            <a:ext cx="10817352" cy="457200"/>
          </a:xfrm>
          <a:prstGeom prst="roundRect">
            <a:avLst>
              <a:gd name="adj" fmla="val 8000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60" y="1719072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자산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4526280" y="1719072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만든 차시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6720840" y="1719072"/>
            <a:ext cx="4005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어디에 쓰이나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85800" y="2231136"/>
            <a:ext cx="10817352" cy="45720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51560" y="2231136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동작하는 RAG 코드 4종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4526280" y="2231136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15차시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6720840" y="2231136"/>
            <a:ext cx="4005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22차시에서 그래프로 이식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27432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설정 파일 (근거 포함)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4526280" y="274320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14차시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6720840" y="2743200"/>
            <a:ext cx="4005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3부 전체에서 계속 사용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85800" y="3255264"/>
            <a:ext cx="10817352" cy="45720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51560" y="3255264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평가용 질문 20개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4526280" y="3255264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12차시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6720840" y="3255264"/>
            <a:ext cx="4005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27 · 32 · 34차시 성능 비교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1051560" y="376732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실패 사례 목록 10건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4526280" y="3767328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12차시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6720840" y="3767328"/>
            <a:ext cx="4005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 · 35차시 개선 대상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85800" y="4279392"/>
            <a:ext cx="10817352" cy="45720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051560" y="4279392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기준선 성능 기록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4526280" y="4279392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14차시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6720840" y="4279392"/>
            <a:ext cx="4005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모든 개선의 비교 기준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1051560" y="4791456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임계값 실측값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4526280" y="4791456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9차시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6720840" y="4791456"/>
            <a:ext cx="4005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24차시 Retriever Node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85800" y="5303520"/>
            <a:ext cx="10817352" cy="45720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051560" y="53035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프롬프트 v3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4526280" y="530352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13차시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6720840" y="5303520"/>
            <a:ext cx="4005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25차시 Generator Node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685800" y="5394960"/>
            <a:ext cx="10817352" cy="658368"/>
          </a:xfrm>
          <a:prstGeom prst="roundRect">
            <a:avLst>
              <a:gd name="adj" fmla="val 5556"/>
            </a:avLst>
          </a:prstGeom>
          <a:solidFill>
            <a:srgbClr val="F6E2DE"/>
          </a:solidFill>
          <a:ln w="12700">
            <a:solidFill>
              <a:srgbClr val="F6E2DE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85800" y="5394960"/>
            <a:ext cx="10817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B340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특히 평가용 질문 20개와 기준선 기록 — 없으면 34차시 평가 파트가 통째로 막힙니다</a:t>
            </a:r>
            <a:endParaRPr lang="en-US" sz="14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WHAT CHANGES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2부에서 무엇이 달라지나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719072"/>
            <a:ext cx="5257800" cy="2834640"/>
          </a:xfrm>
          <a:prstGeom prst="roundRect">
            <a:avLst>
              <a:gd name="adj" fmla="val 1290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88136" y="1965960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 (1부 방식)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088136" y="2468880"/>
            <a:ext cx="4453128" cy="100584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25880" y="256032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 → if문으로 분기 → 생성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줄로 쭉 흐릅니다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088136" y="3611880"/>
            <a:ext cx="44531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검증을 넣으려면 함수를 크게 뜯어야 합니다.</a:t>
            </a:r>
            <a:endParaRPr lang="en-US" sz="13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중첩이 깊어지고 읽기 어려워집니다.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45352" y="1719072"/>
            <a:ext cx="5257800" cy="2834640"/>
          </a:xfrm>
          <a:prstGeom prst="roundRect">
            <a:avLst>
              <a:gd name="adj" fmla="val 1290"/>
            </a:avLst>
          </a:prstGeom>
          <a:solidFill>
            <a:srgbClr val="E8F3EE"/>
          </a:solidFill>
          <a:ln w="12700">
            <a:solidFill>
              <a:srgbClr val="E8F3E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647688" y="1965960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2부 이후 (그래프 방식)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647688" y="2468880"/>
            <a:ext cx="4453128" cy="100584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885432" y="256032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START → retrieve → (자료 있나?)</a:t>
            </a:r>
            <a:endParaRPr lang="en-US" sz="11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├ yes → generate → END</a:t>
            </a:r>
            <a:endParaRPr lang="en-US" sz="11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└ no  → fallback → END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6647688" y="3611880"/>
            <a:ext cx="44531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300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노드를 추가하고 선만 다시 연결하면 됩니다.</a:t>
            </a:r>
            <a:endParaRPr lang="en-US" sz="13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300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검증·재시도·재검색을 자유롭게 끼웁니다.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85800" y="4800600"/>
            <a:ext cx="10817352" cy="1097280"/>
          </a:xfrm>
          <a:prstGeom prst="roundRect">
            <a:avLst>
              <a:gd name="adj" fmla="val 3333"/>
            </a:avLst>
          </a:prstGeom>
          <a:solidFill>
            <a:srgbClr val="16243D"/>
          </a:solidFill>
          <a:ln w="12700">
            <a:solidFill>
              <a:srgbClr val="16243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5800" y="5074920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State (공유 데이터) · Node (작업 단위) · Edge (연결선) 세 가지로 다시 조립합니다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2 ROADMAP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2부 로드맵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737360"/>
            <a:ext cx="10817352" cy="512064"/>
          </a:xfrm>
          <a:prstGeom prst="roundRect">
            <a:avLst>
              <a:gd name="adj" fmla="val 7143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60" y="1737360"/>
            <a:ext cx="1097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차시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2148840" y="1737360"/>
            <a:ext cx="2880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주제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5257800" y="1737360"/>
            <a:ext cx="54681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얻을 것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85800" y="2304288"/>
            <a:ext cx="10817352" cy="512064"/>
          </a:xfrm>
          <a:prstGeom prst="roundRect">
            <a:avLst>
              <a:gd name="adj" fmla="val 7143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51560" y="2304288"/>
            <a:ext cx="1097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17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2148840" y="2304288"/>
            <a:ext cx="2880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LangGraph 입문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5257800" y="2304288"/>
            <a:ext cx="54681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Chain과 Graph의 차이 이해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2871216"/>
            <a:ext cx="1097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2148840" y="2871216"/>
            <a:ext cx="2880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State 이해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5257800" y="2871216"/>
            <a:ext cx="54681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노드 간 데이터 공유 설계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85800" y="3438144"/>
            <a:ext cx="10817352" cy="512064"/>
          </a:xfrm>
          <a:prstGeom prst="roundRect">
            <a:avLst>
              <a:gd name="adj" fmla="val 7143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51560" y="3438144"/>
            <a:ext cx="1097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2148840" y="3438144"/>
            <a:ext cx="2880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Node 이해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5257800" y="3438144"/>
            <a:ext cx="54681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RAG를 노드로 쪼개기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1051560" y="4005072"/>
            <a:ext cx="1097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2148840" y="4005072"/>
            <a:ext cx="2880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Edge 이해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5257800" y="4005072"/>
            <a:ext cx="54681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조건 분기와 루프 설계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85800" y="4572000"/>
            <a:ext cx="10817352" cy="512064"/>
          </a:xfrm>
          <a:prstGeom prst="roundRect">
            <a:avLst>
              <a:gd name="adj" fmla="val 7143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051560" y="4572000"/>
            <a:ext cx="1097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21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2148840" y="4572000"/>
            <a:ext cx="2880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첫 LangGraph 실습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5257800" y="4572000"/>
            <a:ext cx="54681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작은 그래프 완성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1051560" y="5138928"/>
            <a:ext cx="1097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22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2148840" y="5138928"/>
            <a:ext cx="2880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RAG를 Graph로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5257800" y="5138928"/>
            <a:ext cx="54681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그래프 기반 RAG — 마일스톤 2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85800" y="5074920"/>
            <a:ext cx="10817352" cy="914400"/>
          </a:xfrm>
          <a:prstGeom prst="roundRect">
            <a:avLst>
              <a:gd name="adj" fmla="val 4000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85800" y="5074920"/>
            <a:ext cx="108173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1부에서 만든 RAG는 그대로 둡니다 — 22차시에서 그것을 그래프로 옮깁니다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CHECKLIST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이번 차시 체크리스트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719072"/>
            <a:ext cx="5257800" cy="3840480"/>
          </a:xfrm>
          <a:prstGeom prst="roundRect">
            <a:avLst>
              <a:gd name="adj" fmla="val 952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88136" y="20116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개념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088136" y="2651760"/>
            <a:ext cx="44805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RAG 5단계를 자료 없이 설명할 수 있다</a:t>
            </a:r>
            <a:endParaRPr lang="en-US" sz="12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준비 단계와 질의 단계를 구분한다</a:t>
            </a:r>
            <a:endParaRPr lang="en-US" sz="12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핵심 파라미터 3개의 역할을 안다</a:t>
            </a:r>
            <a:endParaRPr lang="en-US" sz="12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검색 문제와 생성 문제를 가려낼 수 있다</a:t>
            </a:r>
            <a:endParaRPr lang="en-US" sz="12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프롬프트 필수 규칙 3가지를 안다</a:t>
            </a:r>
            <a:endParaRPr lang="en-US" sz="12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측정 없이 개선을 주장하면 안 되는 이유를 안다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45352" y="1719072"/>
            <a:ext cx="5257800" cy="3840480"/>
          </a:xfrm>
          <a:prstGeom prst="roundRect">
            <a:avLst>
              <a:gd name="adj" fmla="val 952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647688" y="20116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 · 자산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647688" y="2651760"/>
            <a:ext cx="44805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백지에 파이프라인을 그려봤다</a:t>
            </a:r>
            <a:endParaRPr lang="en-US" sz="12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코드 뼈대를 70% 이상 재현했다</a:t>
            </a:r>
            <a:endParaRPr lang="en-US" sz="12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3분간 구술 설명을 해봤다</a:t>
            </a:r>
            <a:endParaRPr lang="en-US" sz="12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미니과제를 완수했다</a:t>
            </a:r>
            <a:endParaRPr lang="en-US" sz="12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평가용 질문 20개를 보관 중이다</a:t>
            </a:r>
            <a:endParaRPr lang="en-US" sz="12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실패 사례 10건을 보관 중이다</a:t>
            </a:r>
            <a:endParaRPr lang="en-US" sz="12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기준선 성능을 기록해뒀다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ASSIGNMENT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1부 마무리 과제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691640"/>
            <a:ext cx="5257800" cy="1783080"/>
          </a:xfrm>
          <a:prstGeom prst="roundRect">
            <a:avLst>
              <a:gd name="adj" fmla="val 2051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69848" y="1984248"/>
            <a:ext cx="493776" cy="493776"/>
          </a:xfrm>
          <a:prstGeom prst="ellipse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69848" y="198424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728216" y="1984248"/>
            <a:ext cx="3931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미니과제 완수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088136" y="2651760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 문서로 6가지 요건을</a:t>
            </a:r>
            <a:endParaRPr lang="en-US" sz="120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만족하는 RAG를 만드세요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45352" y="1691640"/>
            <a:ext cx="5257800" cy="1783080"/>
          </a:xfrm>
          <a:prstGeom prst="roundRect">
            <a:avLst>
              <a:gd name="adj" fmla="val 2051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629400" y="1984248"/>
            <a:ext cx="493776" cy="493776"/>
          </a:xfrm>
          <a:prstGeom prst="ellipse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629400" y="198424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287768" y="1984248"/>
            <a:ext cx="3931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복습 계획서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647688" y="2651760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막힌 지점을 정리하고</a:t>
            </a:r>
            <a:endParaRPr lang="en-US" sz="120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차시를 다시 볼지 적으세요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85800" y="3657600"/>
            <a:ext cx="5257800" cy="1783080"/>
          </a:xfrm>
          <a:prstGeom prst="roundRect">
            <a:avLst>
              <a:gd name="adj" fmla="val 2051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69848" y="3950208"/>
            <a:ext cx="493776" cy="493776"/>
          </a:xfrm>
          <a:prstGeom prst="ellipse">
            <a:avLst/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69848" y="395020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728216" y="3950208"/>
            <a:ext cx="3931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1부 요약 노트 1장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088136" y="4617720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A4 한 장에 5단계 그림 · 내가 정한 값</a:t>
            </a:r>
            <a:endParaRPr lang="en-US" sz="120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진단 순서 · 프롬프트 규칙을 정리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45352" y="3657600"/>
            <a:ext cx="5257800" cy="1783080"/>
          </a:xfrm>
          <a:prstGeom prst="roundRect">
            <a:avLst>
              <a:gd name="adj" fmla="val 2051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629400" y="3950208"/>
            <a:ext cx="493776" cy="493776"/>
          </a:xfrm>
          <a:prstGeom prst="ellipse">
            <a:avLst/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629400" y="395020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7287768" y="3950208"/>
            <a:ext cx="3931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커밋 정리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647688" y="4617720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"1부 완료" 태그를 달아두면</a:t>
            </a:r>
            <a:endParaRPr lang="en-US" sz="120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나중에 되돌아오기 좋습니다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85800" y="5623560"/>
            <a:ext cx="10817352" cy="548640"/>
          </a:xfrm>
          <a:prstGeom prst="roundRect">
            <a:avLst>
              <a:gd name="adj" fmla="val 6667"/>
            </a:avLst>
          </a:prstGeom>
          <a:solidFill>
            <a:srgbClr val="16243D"/>
          </a:solidFill>
          <a:ln w="12700">
            <a:solidFill>
              <a:srgbClr val="16243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85800" y="5623560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3번 요약 노트는 2·3부 실습 내내 옆에 두고 보게 됩니다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NEXT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차시 미리보기 — 17차시 LangGraph 입문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417320"/>
            <a:ext cx="10817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드디어 2부가 시작됩니다.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2011680"/>
            <a:ext cx="2416302" cy="1554480"/>
          </a:xfrm>
          <a:prstGeom prst="roundRect">
            <a:avLst>
              <a:gd name="adj" fmla="val 2353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58952" y="2384755"/>
            <a:ext cx="226999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 RAG의 한계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40664" y="2882189"/>
            <a:ext cx="23065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분기를 못 하나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184398" y="2688336"/>
            <a:ext cx="219456" cy="201168"/>
          </a:xfrm>
          <a:prstGeom prst="rightArrow">
            <a:avLst/>
          </a:prstGeom>
          <a:solidFill>
            <a:srgbClr val="C8CEDA"/>
          </a:solidFill>
          <a:ln w="12700">
            <a:solidFill>
              <a:srgbClr val="C8CED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86150" y="2011680"/>
            <a:ext cx="2416302" cy="1554480"/>
          </a:xfrm>
          <a:prstGeom prst="roundRect">
            <a:avLst>
              <a:gd name="adj" fmla="val 2353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559302" y="2384755"/>
            <a:ext cx="226999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Graph 구조란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541014" y="2882189"/>
            <a:ext cx="23065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지도 · 페이스북 비유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984748" y="2688336"/>
            <a:ext cx="219456" cy="201168"/>
          </a:xfrm>
          <a:prstGeom prst="rightArrow">
            <a:avLst/>
          </a:prstGeom>
          <a:solidFill>
            <a:srgbClr val="C8CEDA"/>
          </a:solidFill>
          <a:ln w="12700">
            <a:solidFill>
              <a:srgbClr val="C8CED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86500" y="2011680"/>
            <a:ext cx="2416302" cy="1554480"/>
          </a:xfrm>
          <a:prstGeom prst="roundRect">
            <a:avLst>
              <a:gd name="adj" fmla="val 2353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59652" y="2384755"/>
            <a:ext cx="226999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Node · Edge · State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341364" y="2882189"/>
            <a:ext cx="23065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가지 개념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785098" y="2688336"/>
            <a:ext cx="219456" cy="201168"/>
          </a:xfrm>
          <a:prstGeom prst="rightArrow">
            <a:avLst/>
          </a:prstGeom>
          <a:solidFill>
            <a:srgbClr val="C8CEDA"/>
          </a:solidFill>
          <a:ln w="12700">
            <a:solidFill>
              <a:srgbClr val="C8CED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086850" y="2011680"/>
            <a:ext cx="2416302" cy="1554480"/>
          </a:xfrm>
          <a:prstGeom prst="roundRect">
            <a:avLst>
              <a:gd name="adj" fmla="val 2353"/>
            </a:avLst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160002" y="2384755"/>
            <a:ext cx="226999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첫 그래프 실행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9141714" y="2882189"/>
            <a:ext cx="23065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설치하고 돌려보기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85800" y="3977640"/>
            <a:ext cx="10817352" cy="1691640"/>
          </a:xfrm>
          <a:prstGeom prst="roundRect">
            <a:avLst>
              <a:gd name="adj" fmla="val 2162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143000" y="4224528"/>
            <a:ext cx="9902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1부에서 만든 RAG는 그대로 둡니다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1143000" y="4709160"/>
            <a:ext cx="99029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17차시부터 21차시까지는 그래프 자체를 배우고, 22차시에서 우리 RAG를 옮깁니다.</a:t>
            </a:r>
            <a:endParaRPr lang="en-US" sz="13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그러니 지금 코드를 지우지 마세요.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624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1828800"/>
            <a:ext cx="2468880" cy="3108960"/>
          </a:xfrm>
          <a:prstGeom prst="roundRect">
            <a:avLst>
              <a:gd name="adj" fmla="val 1481"/>
            </a:avLst>
          </a:prstGeom>
          <a:solidFill>
            <a:srgbClr val="24365C"/>
          </a:solidFill>
          <a:ln w="12700">
            <a:solidFill>
              <a:srgbClr val="2436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418320" y="2331720"/>
            <a:ext cx="1737360" cy="118872"/>
          </a:xfrm>
          <a:prstGeom prst="rect">
            <a:avLst/>
          </a:prstGeom>
          <a:solidFill>
            <a:srgbClr val="5B7FBD"/>
          </a:solidFill>
          <a:ln w="12700">
            <a:solidFill>
              <a:srgbClr val="5B7FB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418320" y="2788920"/>
            <a:ext cx="1737360" cy="118872"/>
          </a:xfrm>
          <a:prstGeom prst="rect">
            <a:avLst/>
          </a:prstGeom>
          <a:solidFill>
            <a:srgbClr val="5B7FBD"/>
          </a:solidFill>
          <a:ln w="12700">
            <a:solidFill>
              <a:srgbClr val="5B7FB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418320" y="3246120"/>
            <a:ext cx="1737360" cy="118872"/>
          </a:xfrm>
          <a:prstGeom prst="rect">
            <a:avLst/>
          </a:prstGeom>
          <a:solidFill>
            <a:srgbClr val="5B7FBD"/>
          </a:solidFill>
          <a:ln w="12700">
            <a:solidFill>
              <a:srgbClr val="5B7FB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418320" y="3703320"/>
            <a:ext cx="1737360" cy="118872"/>
          </a:xfrm>
          <a:prstGeom prst="rect">
            <a:avLst/>
          </a:prstGeom>
          <a:solidFill>
            <a:srgbClr val="5B7FBD"/>
          </a:solidFill>
          <a:ln w="12700">
            <a:solidFill>
              <a:srgbClr val="5B7FB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418320" y="4160520"/>
            <a:ext cx="1188720" cy="118872"/>
          </a:xfrm>
          <a:prstGeom prst="rect">
            <a:avLst/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1572768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마무리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084832"/>
            <a:ext cx="79552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6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이제 "왜 그렇게 했는지"를</a:t>
            </a:r>
            <a:endParaRPr lang="en-US" sz="3600" dirty="0"/>
          </a:p>
          <a:p>
            <a:pPr marL="0" indent="0">
              <a:lnSpc>
                <a:spcPts val="46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설명할 수 있게 되었습니다</a:t>
            </a:r>
            <a:endParaRPr lang="en-US" sz="36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3794760"/>
            <a:ext cx="7955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400" dirty="0">
                <a:solidFill>
                  <a:srgbClr val="9FB2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16차시 전, 여러분은 "RAG"라는 단어만 알고 있었습니다.</a:t>
            </a:r>
            <a:endParaRPr lang="en-US" sz="140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400" dirty="0">
                <a:solidFill>
                  <a:srgbClr val="9FB2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지금은 문서를 읽어 조각내고, 의미로 검색하고, 근거로 답하며, 실패를 진단하고, 측정하며 개선합니다.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4846320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 없이 값을 정하지 않고, 측정 없이 개선을 주장하지 않게 되었습니다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5266944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7F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2부에서는 이 RAG에 판단력을 붙입니다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589788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E92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1부 완주를 축하합니다. 17차시에서 만나요.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1542</Words>
  <Application>Microsoft Office PowerPoint</Application>
  <PresentationFormat>사용자 지정</PresentationFormat>
  <Paragraphs>362</Paragraphs>
  <Slides>16</Slides>
  <Notes>16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17" baseType="lpstr">
      <vt:lpstr>Office Theme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슬라이드 11</vt:lpstr>
      <vt:lpstr>슬라이드 12</vt:lpstr>
      <vt:lpstr>슬라이드 13</vt:lpstr>
      <vt:lpstr>슬라이드 14</vt:lpstr>
      <vt:lpstr>슬라이드 15</vt:lpstr>
      <vt:lpstr>슬라이드 16</vt:lpstr>
    </vt:vector>
  </TitlesOfParts>
  <Company>PptxGenJS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LangGraph 16차시 1부 종합정리</dc:title>
  <dc:subject>PptxGenJS Presentation</dc:subject>
  <dc:creator>이창현</dc:creator>
  <cp:lastModifiedBy>Lenovo</cp:lastModifiedBy>
  <cp:revision>1</cp:revision>
  <dcterms:created xsi:type="dcterms:W3CDTF">2026-09-15T06:06:37Z</dcterms:created>
  <dcterms:modified xsi:type="dcterms:W3CDTF">2026-09-15T08:07:44Z</dcterms:modified>
</cp:coreProperties>
</file>