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정답률(%)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v1  최소</c:v>
                </c:pt>
                <c:pt idx="1">
                  <c:v>v2  규칙 강화</c:v>
                </c:pt>
                <c:pt idx="2">
                  <c:v>v3  부분 답변 허용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70</c:v>
                </c:pt>
                <c:pt idx="2">
                  <c:v>85</c:v>
                </c:pt>
              </c:numCache>
            </c:numRef>
          </c:val>
        </c:ser>
        <c:dLbls>
          <c:showVal val="1"/>
        </c:dLbls>
        <c:axId val="103438976"/>
        <c:axId val="103448960"/>
      </c:barChart>
      <c:catAx>
        <c:axId val="10343897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103448960"/>
        <c:crosses val="autoZero"/>
        <c:auto val="1"/>
        <c:lblAlgn val="ctr"/>
        <c:lblOffset val="100"/>
        <c:noMultiLvlLbl val="1"/>
      </c:catAx>
      <c:valAx>
        <c:axId val="103448960"/>
        <c:scaling>
          <c:orientation val="minMax"/>
          <c:max val="100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103438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13차시입니다. 12차시에서 생성 문제로 분류한 실패들을 오늘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규칙 설계, 주황 카드는 균형 잡기입니다.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 하나로 오늘 차시의 필요성이 설명됩니다.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표현 강도만 바꿔도 결과가 달라집니다. 실습에서 확인시키세요.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과잉 거부가 오늘의 숨은 주인공입니다.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 자체가 규칙입니다. 다음 슬라이드에서 이유를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8차시 테스트에서 지어낸 답이 나왔을 때의 해결책 중 하나가 이것이었습니다.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부작용 칸이 중요합니다. 규칙은 공짜가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줄만 외우게 하세요. 나머지는 상황에 따라 붙이면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V2가 '더 엄격하니까 더 좋다'가 아니라는 점이 반전입니다.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과잉 거부는 환각만큼이나 실무에서 문제가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A/B 비교 설계 요령입니다. 14차시 실험 설계로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12차시의 검색/생성 구분이 여기서 실제로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26차시 Verifier Node로 이어지는 준비 작업입니다.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few-shot의 가장 실용적인 형태입니다.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줄이 오늘 새로 배운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만드는 반환 형태가 나중에 그대로 노드가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 기록까지 마쳐야 14차시에서 비교가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분류해두면 다음 차시 실험 대상이 자동으로 정해집니다.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질문 세트를 계속 쓰는 이유를 미리 알려주세요.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프롬프트의 힘과 한계를 함께 정리하고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13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최적화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근거, 다른 답변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모델도 근거도 같습니다. 다른 것은 세 줄뿐입니다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 구조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역할·규칙·자료·질문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이해한다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밖 차단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없는 말을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하게 막는다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번호 붙이기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문장마다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추적한다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모를 때 모른다고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지어내지 않게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거부 막기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답할 수 있는 것까지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거부하지 않게 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효과 측정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 질문 20개로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전후를 비교한다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SAME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근거, 두 개의 프롬프트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48132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[1] 상품 수령 후 7일 이내에 환불을 신청하실 수 있습니다.   [2] 고객센터 운영 시간은 평일 09:00~18:00 입니다.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 "환불 신청은 어떻게 하고 수수료는 얼마인가요?"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606040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26060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28216" y="26060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"자료를 참고해서 답해줘"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88136" y="3246120"/>
            <a:ext cx="44531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98448" y="3337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수령 후 7일 이내에 신청하시면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환불 수수료는 일반적으로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금액의 10% 정도이며…"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437083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"10% 수수료"는 자료 어디에도 없습니다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233172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60604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6060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87768" y="26060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"자료만 근거로. 없으면 없다고."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47688" y="3246120"/>
            <a:ext cx="44531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337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7일 이내에 신청하실 수 있습니다[1].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신청은 고객센터를 통해 가능합니다[2].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수수료는 자료에서 확인할 수 없습니다."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437083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것은 답하고, 모르는 것은 모른다고 했습니다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16636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303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모델도 근거도 질문도 같습니다. 다른 것은 프롬프트 세 줄뿐입니다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CONTRACT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프롬프트는 부탁이 아니라 계약서입니다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부탁하듯 쓰면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"이렇게 해주면 좋겠어"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참고 사항 정도로 받아들입니다.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계약서처럼 쓰면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0604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"이렇게 하십시오. 저것은 하지 마십시오."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해야 할 것과 하지 말아야 할 것이 분명합니다.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3434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표현의 강도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2020824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4828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~하면 좋겠습니다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무시됨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4663440"/>
            <a:ext cx="2020824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4952" y="4828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~해주세요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44952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4663440"/>
            <a:ext cx="2020824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9512" y="4828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~하십시오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9480" y="4663440"/>
            <a:ext cx="2020824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34072" y="4828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~하십시오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64040" y="4663440"/>
            <a:ext cx="2020824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28632" y="4828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~하지 마십시오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28632" y="5230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강함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 구조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→ 규칙 → 자료 → 질문 순서의 프롬프트 구성.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해서는 안 되는 것을 명시한 규칙.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Grounding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답변을 주어진 근거 안에 묶어두는 것.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문장에 [1] [2] 형태로 근거 번호를 표시하는 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거부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답할 수 있는 질문까지 "모른다"고 답해버리는 현상.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관리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파일로 분리해 실험·비교·롤백하는 것.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PARTS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프롬프트 4단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"당신은 ~를 담당하는 ~입니다"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037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모델에게 입장을 부여합니다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862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범위 · 모를 때 응답 · 출처 표기 · 길이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2826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해야 할 것과 말 것을 정합니다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39410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[1] … [2] … [3] …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43616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검색으로 찾아온 근거입니다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0200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실제 질문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5440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맨 마지막에 둡니다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76072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순서가 중요합니다. 이 순서를 지키면 대부분의 상황에서 안정적으로 동작합니다.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LAST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질문이 맨 마지막인가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시작 전에 안내하면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"오늘은 예산 얘기만 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주제는 다음에 다루겠습니다."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참석자들이 그 틀 안에서 발언합니다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끝에 안내하면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0604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다들 딴 얘기를 하고 난 뒤입니다.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규칙이 상대적으로 약하게 작용합니다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"환불 규정 알려줘. 아래 자료 참고해"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10817352" cy="1371600"/>
          </a:xfrm>
          <a:prstGeom prst="roundRect">
            <a:avLst>
              <a:gd name="adj" fmla="val 2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8006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뒤쪽 내용에 더 강하게 반응합니다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23036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맨 뒤에 두면 "규칙을 읽고 → 자료를 보고 → 질문에 답한다" 순서로 자연스럽게 흘러갑니다.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규칙마다 얻는 것과 잃는 것이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448056"/>
          </a:xfrm>
          <a:prstGeom prst="roundRect">
            <a:avLst>
              <a:gd name="adj" fmla="val 816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지시문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73736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173736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부작용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10817352" cy="448056"/>
          </a:xfrm>
          <a:prstGeom prst="roundRect">
            <a:avLst>
              <a:gd name="adj" fmla="val 816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4028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자료만 근거로 답하십시오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24028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크게 감소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24028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부실하면 답이 빈약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4320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없으면 "확인할 수 없습니다"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74320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거짓 답변 방지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74320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지나치게 자주 모른다고 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10817352" cy="448056"/>
          </a:xfrm>
          <a:prstGeom prst="roundRect">
            <a:avLst>
              <a:gd name="adj" fmla="val 816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4612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추측하거나 보충하지 마십시오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24612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과장·비약 감소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324612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요약까지 회피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74904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문장 끝에 [번호]를 표기하십시오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74904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추적 가능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374904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다소 딱딱해짐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251960"/>
            <a:ext cx="10817352" cy="448056"/>
          </a:xfrm>
          <a:prstGeom prst="roundRect">
            <a:avLst>
              <a:gd name="adj" fmla="val 816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25196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3~5문장으로 답하십시오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25196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간결하고 일관됨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25196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질문에 정보 누락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75488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형식으로 정리하십시오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4754880"/>
            <a:ext cx="2514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질문에 유리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75488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단답형 질문에 과함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34924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3949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용도에 맞게 고르세요 — 다 넣으면 오히려 나빠집니다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ESSENTIAL THREE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넣어야 할 세 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75688"/>
            <a:ext cx="566928" cy="56692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476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[자료]에 있는 내용만 근거로 답하십시오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423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밖으로 나가는 것을 막습니다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401568"/>
            <a:ext cx="566928" cy="5669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27355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없으면 '확인할 수 없습니다'라고 답하십시오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7490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환각을 막는 가장 강력한 한 줄입니다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4348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727448"/>
            <a:ext cx="566928" cy="566928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727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59943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문장 끝에 근거 번호를 [1] 형식으로 표기하십시오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0749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검증과 추적이 가능해집니다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71500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7150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상황에 따라 추가하세요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VERSIONS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 · V2 · V3 — 같은 근거로 비교하면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3246120"/>
          </a:xfrm>
          <a:prstGeom prst="roundRect">
            <a:avLst>
              <a:gd name="adj" fmla="val 1127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7744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버전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78408" y="2761488"/>
            <a:ext cx="281635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6424" y="27614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"자료를 참고해서 답해주세요"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5661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없으면 지어냅니다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43891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발생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01568" cy="3246120"/>
          </a:xfrm>
          <a:prstGeom prst="roundRect">
            <a:avLst>
              <a:gd name="adj" fmla="val 112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37744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강화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36008" y="2761488"/>
            <a:ext cx="281635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4024" y="27614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"없으면 확인할 수 없다고 하라"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35661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과하면 쓸모없어집니다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43891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거부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691640"/>
            <a:ext cx="3401568" cy="3246120"/>
          </a:xfrm>
          <a:prstGeom prst="roundRect">
            <a:avLst>
              <a:gd name="adj" fmla="val 112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36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93608" y="237744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답변 허용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93608" y="2761488"/>
            <a:ext cx="281635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21624" y="27614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"있는 부분은 답하고 없는 부분만 밝혀라"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35661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균형이 맞으면 실용적입니다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43891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권장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12064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2806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최적화는 제약을 세게 거는 것이 아니라 적절한 지점을 찾는 것입니다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OVER-REFUSAL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V2와 V3의 결정적 차이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: "환불 신청 방법과 수수료를 알려주세요"   ·   자료에 방법은 있고 수수료는 없음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— 전체를 거부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8136" y="256032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"자료에서 확인할 수 없습니다."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3246120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일부만 없어도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거부해버립니다.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 아무것도 얻지 못합니다.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20574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 — 있는 것은 답하고 없는 것만 밝힘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47688" y="256032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26151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7일 이내 신청 가능합니다[1].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신청은 고객센터로 하십시오[2].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수수료는 확인할 수 없습니다."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34747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부분적으로라도 도움이 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대개 V3가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만족도가 높습니다.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엄격한 규칙은 시스템을 쓸모없게 만듭니다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MEASURED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버전별 정답률 — 12차시 질문 20개로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737360"/>
          <a:ext cx="64008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4096512" cy="2788920"/>
          </a:xfrm>
          <a:prstGeom prst="roundRect">
            <a:avLst>
              <a:gd name="adj" fmla="val 131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1993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해석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487168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 → V2   (+10%p)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환각이 줄어 "없는 내용"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통과했습니다.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→ V3   (+15%p)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거부가 사라져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질문을 통과했습니다.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480060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한 번만 하고 프롬프트만 바꿔 비교하세요 — 비용도 아끼고 조건도 같아집니다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LIMIT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프롬프트로 고칠 수 없는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01952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V3의 남은 실패  —  "반품하고 싶은데 언제까지?"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5915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결과를 확인해보니 정답 조각이 아예 오지 않았습니다. 이건 검색 실패입니다.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8136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프롬프트로 고칠 수 있는 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4005072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근거가 있는데 지어내는 경우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답할 수 있는데 거부하는 경우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출처를 안 밝히는 경우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32918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프롬프트로 못 고치는 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4005072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정답 조각이 아예 안 온 경우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조각이 반쪽만 온 경우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7·11·30차시에서 다룹니다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257800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3492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프롬프트로 고칠 수 있는 한계가 여기까지입니다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CITATIONS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"[1]을 붙여라"고 시켰다고 항상 붙지는 않습니다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확인해야 합니다. 두 가지를 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057400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28216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번호가 하나라도 있는가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78892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전혀 없다면 규칙이 무시된 것입니다.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057400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번호를 인용하지 않았는가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278892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2개뿐인데 [3]이 나오면 명백한 환각 신호.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023360"/>
            <a:ext cx="10817352" cy="1965960"/>
          </a:xfrm>
          <a:prstGeom prst="roundRect">
            <a:avLst>
              <a:gd name="adj" fmla="val 186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2519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근거를 인용했다는 뜻입니다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70916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수동으로 확인하는 법만 익힙니다. 답변을 받은 뒤 번호를 뽑아 범위 안에 있는지 보면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26차시에서 만들 Verifier Node가 바로 이런 것을 자동으로 잡아냅니다.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반환값에 '인용 정상 여부' 플래그를 함께 담아두면 나중에 옮기기 쉽습니다.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SHOW AN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다섯 줄보다 예시 하나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규칙만으로 형식이 안 잡히면, 예시를 하나 보여주는 것이 훨씬 효과적입니다.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938528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[답변 형식 예시]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8600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휴가는 연 15일이 부여됩니다[1]. 신청은 인사팀을 통해 접수합니다[2].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이월 여부는 자료에서 확인할 수 없습니다.        → "위 형식을 따라 답하십시오"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474720"/>
            <a:ext cx="5257800" cy="1600200"/>
          </a:xfrm>
          <a:prstGeom prst="roundRect">
            <a:avLst>
              <a:gd name="adj" fmla="val 22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8136" y="36758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효과적인가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4133088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사람에게도 "이렇게 써주세요"보다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샘플을 보여주는 게 빠른 것과 같습니다.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3474720"/>
            <a:ext cx="5257800" cy="1600200"/>
          </a:xfrm>
          <a:prstGeom prst="roundRect">
            <a:avLst>
              <a:gd name="adj" fmla="val 228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7688" y="36758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비용이 늘어납니다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4133088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예시를 넣으면 프롬프트가 길어져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비용이 올라갑니다. 균형을 보세요.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3492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형식이 매번 달라진다면 이 방법을 먼저 써보세요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넣었는데 여전히 지어낸다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표현이 약합니다. "반드시" "절대"를 넣고 temperature=0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답할 수 있는 것까지 "모른다"고 한다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거부입니다. V3처럼 부분 답변을 허용하세요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번호가 안 붙는다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문자열에 [1] [2] 번호가 실제로 들어갔는지 확인하세요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번호를 인용한다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신호입니다. 인용 검증으로 감지하고 재생성하세요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너무 딱딱하고 기계적이다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과합니다. 형식 규칙을 하나씩 빼보세요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답변 형식이 달라진다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 확인 + 형식 예시를 프롬프트에 넣으세요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답변만 돌려주지 마세요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완성하는 함수는 세 가지를 함께 돌려줍니다.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01568" cy="2468880"/>
          </a:xfrm>
          <a:prstGeom prst="roundRect">
            <a:avLst>
              <a:gd name="adj" fmla="val 14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060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답변 텍스트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10896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보여줄 내용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01568" cy="2468880"/>
          </a:xfrm>
          <a:prstGeom prst="roundRect">
            <a:avLst>
              <a:gd name="adj" fmla="val 14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20574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6060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인용이 정상인가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10896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번호를 인용하지 않았는지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783080"/>
            <a:ext cx="3401568" cy="2468880"/>
          </a:xfrm>
          <a:prstGeom prst="roundRect">
            <a:avLst>
              <a:gd name="adj" fmla="val 14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0574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26060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부족한가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10896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"확인할 수 없습니다"가 포함됐는지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480560"/>
            <a:ext cx="10817352" cy="1508760"/>
          </a:xfrm>
          <a:prstGeom prst="roundRect">
            <a:avLst>
              <a:gd name="adj" fmla="val 242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68172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두 플래그가 25·26차시의 핵심이 됩니다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1206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 Node와 Verifier Node가 바로 이 값들을 보고 다음 행동을 결정합니다.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형태를 맞춰두면 나중에 그래프로 옮기기가 훨씬 쉽습니다.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4단 구조를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질문을 맨 마지막에 두는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필수 규칙 3종을 외운다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과잉 거부가 무엇이고 왜 문제인지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프롬프트로 고칠 수 없는 문제가 있음을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프롬프트를 파일로 분리했다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V1·V2·V3를 같은 근거로 비교했다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인용 번호 검증을 해봤다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12차시 질문 20개로 버전별 정답률을 쟀다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개선 전후 수치를 기록했다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V4 만들기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V3를 기반으로 내 문서 성격에 맞게 고치세요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문서라면 "조항 번호를 함께 밝히십시오"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버전별 성능표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· 환각 건수 · 과잉거부 건수를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버전별로 표에 채우세요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실패 분류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V4로도 실패한 질문을 12차시 진단표로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"프롬프트로 가능"/"검색 문제"로 나누세요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3번이 가장 중요합니다 — 14차시에서 무엇을 손볼지 명확해집니다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14차시 성능 비교 실습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chunk_size, k, 프롬프트를 각각 다뤘습니다. 이 셋을 함께 보면 어떨까요?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측정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출발점을 기록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바꾸기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· k · 프롬프트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+ 비용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놓고 판단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조합 확정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갖고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감이 아니라 숫자로 결정하는 법을 배웁니다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잰 버전별 정답률이 그 실험의 한 축이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 질문 20개는 그때도 그대로 씁니다 — 같은 자로 재야 비교가 되기 때문입니다.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제약을 세게 거는 것이 아니라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지점을 찾는 것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V1은 규칙이 없어 지어냈고, V2는 규칙이 과해 쓸모없어졌습니다. V3가 균형을 잡았습니다.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모델도 근거도 같은데 답이 달라졌습니다. 프롬프트 몇 줄이 만든 차이입니다.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프롬프트로 고칠 수 없는 문제도 확인했습니다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그건 검색 문제입니다 — 다음 차시에서 전체를 놓고 다시 봅니다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1778</Words>
  <Application>Microsoft Office PowerPoint</Application>
  <PresentationFormat>사용자 지정</PresentationFormat>
  <Paragraphs>367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13차시 프롬프트 최적화</dc:title>
  <dc:subject>PptxGenJS Presentation</dc:subject>
  <dc:creator>이창현</dc:creator>
  <cp:lastModifiedBy>Lenovo</cp:lastModifiedBy>
  <cp:revision>1</cp:revision>
  <dcterms:created xsi:type="dcterms:W3CDTF">2026-09-15T01:23:06Z</dcterms:created>
  <dcterms:modified xsi:type="dcterms:W3CDTF">2026-09-15T08:16:49Z</dcterms:modified>
</cp:coreProperties>
</file>